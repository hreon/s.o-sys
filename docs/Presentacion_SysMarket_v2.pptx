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80" y="3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84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02394" y="-192024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5697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kern="0" spc="-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Tech con Monitor de Recursos del SO en Tiempo Real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566160"/>
            <a:ext cx="13716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· Sistemas Operativos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Facultad de Ingeniería ·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Roncal Falconi  ·  Luz Rios Rios  ·  Piero Valencia Corilla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Eduardo Angel Vasquez Reyes</a:t>
            </a:r>
            <a:endParaRPr lang="en-US" sz="1200" dirty="0"/>
          </a:p>
        </p:txBody>
      </p:sp>
      <p:pic>
        <p:nvPicPr>
          <p:cNvPr id="1026" name="Picture 2" descr="SPU | Sistema de Progresión Universitaria">
            <a:extLst>
              <a:ext uri="{FF2B5EF4-FFF2-40B4-BE49-F238E27FC236}">
                <a16:creationId xmlns:a16="http://schemas.microsoft.com/office/drawing/2014/main" id="{FA52DB7F-873F-4FCD-9D7F-81FB445D4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74" y="63480"/>
            <a:ext cx="1559052" cy="155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49240" cy="3931920"/>
          </a:xfrm>
          <a:prstGeom prst="roundRect">
            <a:avLst>
              <a:gd name="adj" fmla="val 4186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online frágiles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e-commerce dependen del servidor que los aloja. Una saturación de CPU o RAM impacta directamente las ventas, pero la mayoría usa paneles opacos sin visibilidad real del SO.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349240" cy="3931920"/>
          </a:xfrm>
          <a:prstGeom prst="roundRect">
            <a:avLst>
              <a:gd name="adj" fmla="val 4186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37744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5236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teóricos sin caso real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29184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academia, los temas de procesos, hilos, mutex y syscalls suelen quedarse en ejercicios sintéticos. Falta un escenario donde se apliquen a un producto comercial con valor demostrable.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PROPUESTA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de hardware con monitor de servidor integrado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33756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37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2F6"/>
                </a:solidFill>
              </a:rPr>
              <a:t>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productos en 6 categorías: CPUs, GPUs, RAM, SSDs, motherboards y periféricos. Catálogo, carrito, checkout y mi-cuenta funcionales.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108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33756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337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2F6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SO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4709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hilos POSIX concurrentes, mutex, lectura directa de /proc del kernel Linux + syscall statvfs(). Dashboard en vivo cada 5 segundos.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310896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333756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3337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2F6"/>
                </a:solidFill>
              </a:rPr>
              <a:t>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41248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4709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negocio, gestión de usuarios, top productos vendidos, alertas configurables del SO con disparo automático.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ARQUITECTURA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contenedores Docker sobre AWS EC2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4023360"/>
          </a:xfrm>
          <a:prstGeom prst="roundRect">
            <a:avLst>
              <a:gd name="adj" fmla="val 3409"/>
            </a:avLst>
          </a:prstGeom>
          <a:solidFill>
            <a:srgbClr val="0B1224"/>
          </a:solidFill>
          <a:ln w="12700">
            <a:solidFill>
              <a:srgbClr val="3B82F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t2.micro · Ubuntu 22.04 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0607040" cy="3383280"/>
          </a:xfrm>
          <a:prstGeom prst="roundRect">
            <a:avLst>
              <a:gd name="adj" fmla="val 3243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network: sysmarket_net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0" y="2834640"/>
            <a:ext cx="3017520" cy="2651760"/>
          </a:xfrm>
          <a:prstGeom prst="roundRect">
            <a:avLst>
              <a:gd name="adj" fmla="val 5172"/>
            </a:avLst>
          </a:prstGeom>
          <a:solidFill>
            <a:srgbClr val="0B1224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3017520"/>
            <a:ext cx="457200" cy="45720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apache-php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+ Apache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Tienda, carrito,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monitor 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 → afuera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834640"/>
            <a:ext cx="3017520" cy="2651760"/>
          </a:xfrm>
          <a:prstGeom prst="roundRect">
            <a:avLst>
              <a:gd name="adj" fmla="val 5172"/>
            </a:avLst>
          </a:prstGeom>
          <a:solidFill>
            <a:srgbClr val="0B122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3017520"/>
            <a:ext cx="457200" cy="457200"/>
          </a:xfrm>
          <a:prstGeom prst="ellipse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tablas: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productos,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métricas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:3306 interno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95360" y="2834640"/>
            <a:ext cx="3017520" cy="2651760"/>
          </a:xfrm>
          <a:prstGeom prst="roundRect">
            <a:avLst>
              <a:gd name="adj" fmla="val 5172"/>
            </a:avLst>
          </a:prstGeom>
          <a:solidFill>
            <a:srgbClr val="0B1224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017520"/>
            <a:ext cx="457200" cy="45720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7824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0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hilos POSIX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mutex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/proc del kernel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puertos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 del host →  montado en read-only en el contenedor monitor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CONCEPTOS DEL CURSO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pide el syllabus, aplicado en código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e hilos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2677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threading.Thread → pthreads POSIX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hilo lee un tipo de métrica (CPU, RAM, disco, carga, procesos).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828800"/>
            <a:ext cx="73152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2677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threading.Lock() como mutex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606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secciones críticas marcadas en monitor.py. Sin race conditions.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46120"/>
            <a:ext cx="73152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19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al kernel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685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 + syscall statvfs()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directa del kernel sin herramientas externas.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2461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246120"/>
            <a:ext cx="73152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319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recursos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3685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managers + connection pool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descriptors y conexiones MySQL liberados automáticamente.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663440"/>
            <a:ext cx="73152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36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5102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 + PDO + HttpOnly + CSRF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5440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contraseñas, prepared statements, sesiones protegidas.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66344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4663440"/>
            <a:ext cx="73152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736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controlada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5080" y="5102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 con timeout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5440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a todos los hilos antes de persistir snapshot consistente.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CÓDIGO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de monitoreo — monitor.py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6858000" cy="4572000"/>
          </a:xfrm>
          <a:prstGeom prst="roundRect">
            <a:avLst>
              <a:gd name="adj" fmla="val 2000"/>
            </a:avLst>
          </a:prstGeom>
          <a:solidFill>
            <a:srgbClr val="01060F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6858000" cy="320040"/>
          </a:xfrm>
          <a:prstGeom prst="rect">
            <a:avLst/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2024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9202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92024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2402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Estado compartido protegido por mutex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4688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metrics_lock = threading.Lock()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6974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shared_metrics = {"cpu":0.0, "ram_pct":0.0, ...}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9260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1546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Hilo 1: CPU desde /proc/stat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read_cpu():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open(f"{PROC_PATH}/stat") as f: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404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f.readline().split()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0690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cpu_pct = compute_delta(fields)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2976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metrics_lock:        # ── MUTEX ──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shared_metrics["cpu"] = cpu_pct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7548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9834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Ciclo principal: 5 hilos en paralelo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52120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collect_cycle(pool):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54406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threads = [Thread(target=fn) for fn in targets]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56692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threads: t.start()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58978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threads: t.join(timeout=4)  # sincro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6126480"/>
            <a:ext cx="6583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save_to_db(pool)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hilos POSIX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8952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hilo lee una métrica distinta: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589520" y="301752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/proc/stat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589520" y="352044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3520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/proc/meminfo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89520" y="402336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4023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statvfs("/")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89520" y="452628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4526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/proc/loadavg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589520" y="502920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5029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/proc/[pid]/status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31C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86000"/>
            <a:ext cx="502920" cy="50292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 22.04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31C3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286000"/>
            <a:ext cx="502920" cy="50292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2.4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0116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31C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286000"/>
            <a:ext cx="502920" cy="502920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0" y="20116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31C33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2286000"/>
            <a:ext cx="502920" cy="50292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897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31C3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114800"/>
            <a:ext cx="502920" cy="502920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114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38404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31C33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0440" y="4114800"/>
            <a:ext cx="502920" cy="50292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114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52044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38404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31C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114800"/>
            <a:ext cx="502920" cy="50292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4114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5508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t2.micro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61120" y="38404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31C33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89720" y="4114800"/>
            <a:ext cx="502920" cy="50292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0" y="4114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8972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 + Chart.js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5778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31C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hilos · 10 tablas · 24 productos · 6 métricas · 19 endpoints PHP · 3 contenedores Docker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al cliente final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B1224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40680" cy="320040"/>
          </a:xfrm>
          <a:prstGeom prst="rect">
            <a:avLst/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sysmarket.com/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PC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alto rendimiento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de hardware con monitor de servidor en vivo. Lectura del kernel Linux con hilos POSIX y mutex.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114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catálogo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4846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11680" y="5212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monitor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1840" y="4846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91840" y="5212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5212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B1224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828800"/>
            <a:ext cx="5440680" cy="320040"/>
          </a:xfrm>
          <a:prstGeom prst="rect">
            <a:avLst/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sysmarket.com/productos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23317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131C33"/>
          </a:solidFill>
          <a:ln w="6350">
            <a:solidFill>
              <a:srgbClr val="2331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2423160"/>
            <a:ext cx="1371600" cy="822960"/>
          </a:xfrm>
          <a:prstGeom prst="rect">
            <a:avLst/>
          </a:prstGeom>
          <a:solidFill>
            <a:srgbClr val="060914"/>
          </a:solidFill>
          <a:ln w="3810">
            <a:solidFill>
              <a:srgbClr val="233156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28" name="Text 26"/>
          <p:cNvSpPr/>
          <p:nvPr/>
        </p:nvSpPr>
        <p:spPr>
          <a:xfrm>
            <a:off x="6583680" y="3291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58368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4090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8,999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23317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131C33"/>
          </a:solidFill>
          <a:ln w="6350">
            <a:solidFill>
              <a:srgbClr val="2331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66760" y="2423160"/>
            <a:ext cx="1371600" cy="822960"/>
          </a:xfrm>
          <a:prstGeom prst="rect">
            <a:avLst/>
          </a:prstGeom>
          <a:solidFill>
            <a:srgbClr val="060914"/>
          </a:solidFill>
          <a:ln w="3810">
            <a:solidFill>
              <a:srgbClr val="2331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3291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36676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i7-14700K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6676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1,799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12680" y="23317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131C33"/>
          </a:solidFill>
          <a:ln w="6350">
            <a:solidFill>
              <a:srgbClr val="2331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49840" y="2423160"/>
            <a:ext cx="1371600" cy="822960"/>
          </a:xfrm>
          <a:prstGeom prst="rect">
            <a:avLst/>
          </a:prstGeom>
          <a:solidFill>
            <a:srgbClr val="060914"/>
          </a:solidFill>
          <a:ln w="3810">
            <a:solidFill>
              <a:srgbClr val="2331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3291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14984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Ryzen 7 X3D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14984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1,899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46520" y="411480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131C33"/>
          </a:solidFill>
          <a:ln w="6350">
            <a:solidFill>
              <a:srgbClr val="2331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0" y="4206240"/>
            <a:ext cx="1371600" cy="822960"/>
          </a:xfrm>
          <a:prstGeom prst="rect">
            <a:avLst/>
          </a:prstGeom>
          <a:solidFill>
            <a:srgbClr val="060914"/>
          </a:solidFill>
          <a:ln w="3810">
            <a:solidFill>
              <a:srgbClr val="233156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43" name="Text 41"/>
          <p:cNvSpPr/>
          <p:nvPr/>
        </p:nvSpPr>
        <p:spPr>
          <a:xfrm>
            <a:off x="6583680" y="5074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Kingston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583680" y="5230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Fury 32GB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0" y="5486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589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29600" y="411480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131C33"/>
          </a:solidFill>
          <a:ln w="6350">
            <a:solidFill>
              <a:srgbClr val="2331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66760" y="4206240"/>
            <a:ext cx="1371600" cy="822960"/>
          </a:xfrm>
          <a:prstGeom prst="rect">
            <a:avLst/>
          </a:prstGeom>
          <a:solidFill>
            <a:srgbClr val="060914"/>
          </a:solidFill>
          <a:ln w="3810">
            <a:solidFill>
              <a:srgbClr val="2331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66760" y="5074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366760" y="5230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Pro 1TB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366760" y="5486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499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012680" y="411480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131C33"/>
          </a:solidFill>
          <a:ln w="6350">
            <a:solidFill>
              <a:srgbClr val="23315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9840" y="4206240"/>
            <a:ext cx="1371600" cy="822960"/>
          </a:xfrm>
          <a:prstGeom prst="rect">
            <a:avLst/>
          </a:prstGeom>
          <a:solidFill>
            <a:srgbClr val="060914"/>
          </a:solidFill>
          <a:ln w="3810">
            <a:solidFill>
              <a:srgbClr val="23315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49840" y="5074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Logitech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0149840" y="5230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Pro X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149840" y="5486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 599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del SO en vivo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62885" y="911235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1531" y="810651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 · actualiza cada 5s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31C33"/>
          </a:solidFill>
          <a:ln w="19050">
            <a:solidFill>
              <a:srgbClr val="2331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7452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774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47.2%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4360" y="3063240"/>
            <a:ext cx="1554480" cy="91440"/>
          </a:xfrm>
          <a:prstGeom prst="rect">
            <a:avLst/>
          </a:prstGeom>
          <a:solidFill>
            <a:srgbClr val="060914"/>
          </a:solidFill>
          <a:ln w="12700">
            <a:solidFill>
              <a:srgbClr val="0609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063240"/>
            <a:ext cx="730606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173736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31C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42032" y="187452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3774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42032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68.5%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542032" y="3063240"/>
            <a:ext cx="1554480" cy="91440"/>
          </a:xfrm>
          <a:prstGeom prst="rect">
            <a:avLst/>
          </a:prstGeom>
          <a:solidFill>
            <a:srgbClr val="060914"/>
          </a:solidFill>
          <a:ln w="12700">
            <a:solidFill>
              <a:srgbClr val="0609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42032" y="3063240"/>
            <a:ext cx="105704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2544" y="173736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31C33"/>
          </a:solidFill>
          <a:ln w="19050">
            <a:solidFill>
              <a:srgbClr val="2331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9704" y="187452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22C55E">
              <a:alpha val="2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9704" y="23774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9704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18.4%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489704" y="3063240"/>
            <a:ext cx="1554480" cy="91440"/>
          </a:xfrm>
          <a:prstGeom prst="rect">
            <a:avLst/>
          </a:prstGeom>
          <a:solidFill>
            <a:srgbClr val="060914"/>
          </a:solidFill>
          <a:ln w="12700">
            <a:solidFill>
              <a:srgbClr val="0609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9704" y="3063240"/>
            <a:ext cx="279806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0216" y="173736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31C33"/>
          </a:solidFill>
          <a:ln w="19050">
            <a:solidFill>
              <a:srgbClr val="2331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7376" y="187452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6B6D4">
              <a:alpha val="2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23774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37376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37376" y="3063240"/>
            <a:ext cx="1554480" cy="91440"/>
          </a:xfrm>
          <a:prstGeom prst="rect">
            <a:avLst/>
          </a:prstGeom>
          <a:solidFill>
            <a:srgbClr val="060914"/>
          </a:solidFill>
          <a:ln w="12700">
            <a:solidFill>
              <a:srgbClr val="0609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7376" y="3063240"/>
            <a:ext cx="7772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173736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31C33"/>
          </a:solidFill>
          <a:ln w="19050">
            <a:solidFill>
              <a:srgbClr val="2331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85048" y="187452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23774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AVG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85048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8385048" y="3063240"/>
            <a:ext cx="1554480" cy="91440"/>
          </a:xfrm>
          <a:prstGeom prst="rect">
            <a:avLst/>
          </a:prstGeom>
          <a:solidFill>
            <a:srgbClr val="060914"/>
          </a:solidFill>
          <a:ln w="12700">
            <a:solidFill>
              <a:srgbClr val="0609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85048" y="3063240"/>
            <a:ext cx="186538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95560" y="173736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31C3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2720" y="187452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23774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332720" y="2606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92.0%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10332720" y="3063240"/>
            <a:ext cx="1554480" cy="91440"/>
          </a:xfrm>
          <a:prstGeom prst="rect">
            <a:avLst/>
          </a:prstGeom>
          <a:solidFill>
            <a:srgbClr val="060914"/>
          </a:solidFill>
          <a:ln w="12700">
            <a:solidFill>
              <a:srgbClr val="0609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32720" y="3063240"/>
            <a:ext cx="1430122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520440"/>
            <a:ext cx="7589520" cy="2468880"/>
          </a:xfrm>
          <a:prstGeom prst="roundRect">
            <a:avLst>
              <a:gd name="adj" fmla="val 3704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— Historial (últimos 30 puntos)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66560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/proc/stat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1520" y="5506517"/>
            <a:ext cx="192024" cy="208483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9264" y="5402275"/>
            <a:ext cx="192024" cy="312725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07008" y="5471770"/>
            <a:ext cx="192024" cy="24323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44752" y="5332781"/>
            <a:ext cx="192024" cy="382219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82496" y="5228539"/>
            <a:ext cx="192024" cy="486461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5106924"/>
            <a:ext cx="192024" cy="608076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57984" y="5020056"/>
            <a:ext cx="192024" cy="694944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95728" y="5159045"/>
            <a:ext cx="192024" cy="555955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33472" y="5228539"/>
            <a:ext cx="192024" cy="486461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71216" y="5332781"/>
            <a:ext cx="192024" cy="382219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08960" y="5402275"/>
            <a:ext cx="192024" cy="312725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46704" y="5280660"/>
            <a:ext cx="192024" cy="43434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84448" y="5054803"/>
            <a:ext cx="192024" cy="660197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822192" y="4933188"/>
            <a:ext cx="192024" cy="781812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59936" y="4811573"/>
            <a:ext cx="192024" cy="903427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97680" y="4881067"/>
            <a:ext cx="192024" cy="833933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35424" y="4985309"/>
            <a:ext cx="192024" cy="729691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73168" y="5106924"/>
            <a:ext cx="192024" cy="608076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10912" y="5193792"/>
            <a:ext cx="192024" cy="521208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248656" y="5089550"/>
            <a:ext cx="192024" cy="62545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0" y="4985309"/>
            <a:ext cx="192024" cy="729691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24144" y="4846320"/>
            <a:ext cx="192024" cy="86868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61888" y="4707331"/>
            <a:ext cx="192024" cy="1007669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99632" y="4585716"/>
            <a:ext cx="192024" cy="1129284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437376" y="4464101"/>
            <a:ext cx="192024" cy="1250899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75120" y="4533595"/>
            <a:ext cx="192024" cy="1181405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12864" y="4759452"/>
            <a:ext cx="192024" cy="955548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50608" y="4881067"/>
            <a:ext cx="192024" cy="833933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388352" y="4985309"/>
            <a:ext cx="192024" cy="729691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626096" y="4898441"/>
            <a:ext cx="192024" cy="816559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83880" y="352044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131C33"/>
          </a:solidFill>
          <a:ln w="12700">
            <a:solidFill>
              <a:srgbClr val="23315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6676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procesos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836676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0058400" y="3977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 MB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36676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apache2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0058400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 MB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8366760" y="4709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0058400" y="4709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MB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366760" y="5074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10058400" y="5074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MB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366760" y="5440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0058400" y="5440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MB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RESULTADOS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conseguimos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31C33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-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en catálogo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31C33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659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-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42900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POSIX concurrentes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31C33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9659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-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26364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MySQL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8288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31C33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9659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-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909828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detectadas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Sistema desplegado en AWS EC2 con elastic 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Daemon ejecuta 5 hilos concurrentes cada 5s sin bloquear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Mutex serializa el acceso a shared_metrics — sin race conditions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Histórico completo de las 6 métricas persistido en MySQL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Alertas configurables con disparo automático verificadas con stress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Diseño visual moderno con mockups de Google Stitch + Bootstrap + Chart.js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19 endpoints PHP funcionales + 4 endpoints JSON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CONCLUSIONES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36576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920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teóricos sí se aplican a productos reales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fue necesario inventar un ejercicio sintético: un e-commerce real depende efectivamente de la salud del SO que lo aloja.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371600" y="3063240"/>
            <a:ext cx="36576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971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es la mejor fuente de datos del kernel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overhead, sin herramientas externas, sin permisos especiales. Una interfaz textual del kernel siempre actualizada.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371600" y="4114800"/>
            <a:ext cx="36576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threads + mutex de Python son suficientes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necesitamos C ni semáforos complejos. threading.Lock() y with metrics_lock: bastan para serializar accesos.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1371600" y="5166360"/>
            <a:ext cx="36576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5074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hace la diferencia para el despliegue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532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"docker compose up" levanta el sistema completo en local y en AWS de forma idéntica.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SysMarket v2 · Grupo 1 · USIL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kern="0" spc="-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5029200" y="3566160"/>
            <a:ext cx="21031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</a:t>
            </a:r>
            <a:r>
              <a:rPr lang="en-US" sz="130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Repositorio:  github.com/&lt;</a:t>
            </a:r>
            <a:r>
              <a:rPr lang="en-US" sz="130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Hreon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&gt;/sysmarket-v2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Roncal  ·  Luz Rios  ·  Piero Valencia  ·  Grupo 1  ·  USIL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1210</Words>
  <Application>Microsoft Office PowerPoint</Application>
  <PresentationFormat>Panorámica</PresentationFormat>
  <Paragraphs>247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San Ignacio de Loyola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SysMarket v2 — Trabajo Final SO</dc:title>
  <dc:subject>PptxGenJS Presentation</dc:subject>
  <dc:creator>Grupo 1 — USIL 2026</dc:creator>
  <cp:lastModifiedBy>FABIAN</cp:lastModifiedBy>
  <cp:revision>6</cp:revision>
  <dcterms:created xsi:type="dcterms:W3CDTF">2026-05-23T07:42:29Z</dcterms:created>
  <dcterms:modified xsi:type="dcterms:W3CDTF">2026-05-23T20:55:36Z</dcterms:modified>
</cp:coreProperties>
</file>