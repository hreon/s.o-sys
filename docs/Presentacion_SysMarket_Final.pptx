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UNIVERSIDAD SAN IGNACIO DE LOYOLA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Facultad de Ingeniería · Sistemas Operativos · 2026-I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10972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7200" b="1" i="0">
                <a:solidFill>
                  <a:srgbClr val="F1F5F9"/>
                </a:solidFill>
                <a:latin typeface="Calibri"/>
              </a:rPr>
              <a:t>SysMarket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972800" cy="914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2000" b="0" i="1">
                <a:solidFill>
                  <a:srgbClr val="8B5CF6"/>
                </a:solidFill>
                <a:latin typeface="Calibri"/>
              </a:rPr>
              <a:t>E-commerce de hardware con monitoreo del sistema operativo
y módulo de social commerce desplegado en AWS EC2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572000"/>
            <a:ext cx="6858000" cy="1463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6400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GRUPO 01 — TRABAJO FINAL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6400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Fabian Roncal Falconi (líder) · Luz Rios Rios · Piero Valencia Corilla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40680"/>
            <a:ext cx="6400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Profesor: Eduardo Vásquez Reyes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15000"/>
            <a:ext cx="6400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Presentación: 27 de junio de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4663440"/>
            <a:ext cx="155448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Apache + PHP 8.2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21240" y="4663440"/>
            <a:ext cx="155448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MySQL 8.0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5074920"/>
            <a:ext cx="155448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Docker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21240" y="5074920"/>
            <a:ext cx="155448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AWS EC2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5486400"/>
            <a:ext cx="155448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Python POSIX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21240" y="5486400"/>
            <a:ext cx="1554480" cy="3200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Social 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Problemática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Lo que motivó 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1208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1. Visibilidad limitada del servidor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46320" cy="3200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Las tiendas online pequeñas no tienen herramientas integradas para monitorear los recursos del SO donde corre su aplicación. Esto obliga al admin a usar SSH, htop o servicios externos pagados.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28800"/>
            <a:ext cx="521208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11680"/>
            <a:ext cx="484632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EC4899"/>
                </a:solidFill>
                <a:latin typeface="Calibri"/>
              </a:rPr>
              <a:t>2. Comercio social como expectativa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846320" cy="3200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Los consumidores modernos esperan interacciones sociales en las tiendas online (likes, reseñas, posts, compartir). La mayoría de e-commerce open-source no integran de forma nativa estas funcionalidades.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Objetivos del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728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058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🎯 OBJETIVO GENERAL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058400" cy="8686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Implementar SysMarket v2, una plataforma e-commerce de hardware integrada con monitoreo en tiempo real del SO, social commerce y desplegada en AWS EC2, aplicando los conceptos centrales del curso de Sistemas Operativos.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Calibri"/>
              </a:rPr>
              <a:t>📋 OBJETIVOS ESPECÍFICOS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Arquitectura de 3 capas (presentación, aplicación, datos) orquestada con Docker Compose.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Daemon Python con 5 hilos POSIX + mutex para muestreo concurrente del SO.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Lectura del kernel Linux vía sistema /proc + syscall statvfs() para administración de recursos.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E-commerce funcional: catálogo, carrito, checkout transaccional con bloqueo pesimista.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Social commerce: likes, reseñas con rating, publicaciones con Shop the Post.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Despliegue en AWS EC2 sobre Ubuntu Server 22.04 LTS (Free Tier).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1F5F9"/>
                </a:solidFill>
                <a:latin typeface="Calibri"/>
              </a:rPr>
              <a:t>▸ Seguridad integral: bcrypt, PDO prepared statements, HttpOnly cookies, UFW firewall.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200" b="1" i="0">
                <a:solidFill>
                  <a:srgbClr val="3B82F6"/>
                </a:solidFill>
                <a:latin typeface="Calibri"/>
              </a:rPr>
              <a:t>Arquitectura del proyecto (3-Tier + Cloud)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Cumplimiento de criterio 1 de la rúbrica · Arquitectura en capas + integración cloud + contenerización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728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☁  AWS EC2 — Ubuntu Server 22.04 LTS (t3.micro · us-east-1)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286000"/>
            <a:ext cx="1051560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🐳  Docker Compose · red sysmarket_net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834640"/>
            <a:ext cx="3200400" cy="246888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926080"/>
            <a:ext cx="301752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337560"/>
            <a:ext cx="3017520" cy="2743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Apache 2.4 + PHP 8.2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611880"/>
            <a:ext cx="3017520" cy="2743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Puerto 80 expuesto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931920"/>
            <a:ext cx="3017520" cy="11887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• E-commerce
• Social commerce
• Admin panel
• PDO + bcrypt + Sessions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834640"/>
            <a:ext cx="3200400" cy="246888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926080"/>
            <a:ext cx="301752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337560"/>
            <a:ext cx="3017520" cy="2743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MySQL 8.0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611880"/>
            <a:ext cx="3017520" cy="2743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Puerto 3306 interno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31920"/>
            <a:ext cx="3017520" cy="11887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• 13 tablas
• Transacciones
• FK + InnoDB
• SELECT FOR UPDATE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2834640"/>
            <a:ext cx="3383280" cy="2468880"/>
          </a:xfrm>
          <a:prstGeom prst="roundRect">
            <a:avLst/>
          </a:prstGeom>
          <a:solidFill>
            <a:srgbClr val="059669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926080"/>
            <a:ext cx="3200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337560"/>
            <a:ext cx="3200400" cy="2743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Python 3.11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611880"/>
            <a:ext cx="3200400" cy="2743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Daemon cada 5s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931920"/>
            <a:ext cx="3200400" cy="11887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• 5 hilos POSIX
• threading.Lock() mutex
• /host/proc:ro
• CPU·RAM·Disco·Procs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577840"/>
            <a:ext cx="10515600" cy="5486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📂  /proc — Kernel virtual filesystem · accedido en modo solo lectura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Stack tecnológico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2004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508760"/>
            <a:ext cx="9144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  <a:latin typeface="Calibri"/>
              </a:rPr>
              <a:t>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5448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Ubuntu 22.04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011680"/>
            <a:ext cx="1920240" cy="8229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Sistema operativo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71600"/>
            <a:ext cx="32004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508760"/>
            <a:ext cx="9144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  <a:latin typeface="Calibri"/>
              </a:rPr>
              <a:t>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155448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Docker + Compose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59" y="2011680"/>
            <a:ext cx="1920240" cy="8229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Containerización y orquestación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371600"/>
            <a:ext cx="32004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508760"/>
            <a:ext cx="9144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  <a:latin typeface="Calibri"/>
              </a:rPr>
              <a:t>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55448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Apache 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011680"/>
            <a:ext cx="1920240" cy="8229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Servidor web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0400"/>
            <a:ext cx="32004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337560"/>
            <a:ext cx="9144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  <a:latin typeface="Calibri"/>
              </a:rPr>
              <a:t>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38328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PHP 8.2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1920240" cy="8229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Backend e-commerce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200400"/>
            <a:ext cx="32004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337560"/>
            <a:ext cx="9144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  <a:latin typeface="Calibri"/>
              </a:rPr>
              <a:t>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338328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MySQL 8.0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59" y="3840480"/>
            <a:ext cx="1920240" cy="8229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Base de datos persistente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3200400"/>
            <a:ext cx="32004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3337560"/>
            <a:ext cx="9144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  <a:latin typeface="Calibri"/>
              </a:rPr>
              <a:t>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338328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Python 3.11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840480"/>
            <a:ext cx="1920240" cy="8229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Daemon multihilo POSIX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029200"/>
            <a:ext cx="32004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5166360"/>
            <a:ext cx="9144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  <a:latin typeface="Calibri"/>
              </a:rPr>
              <a:t>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21208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Bootstrap 5.3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669280"/>
            <a:ext cx="1920240" cy="8229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Frontend responsive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5029200"/>
            <a:ext cx="32004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5166360"/>
            <a:ext cx="9144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  <a:latin typeface="Calibri"/>
              </a:rPr>
              <a:t>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59" y="521208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AWS EC2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59" y="5669280"/>
            <a:ext cx="1920240" cy="8229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Cloud hosting (Free Tier)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5029200"/>
            <a:ext cx="32004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5166360"/>
            <a:ext cx="9144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000" b="0" i="0">
                <a:solidFill>
                  <a:srgbClr val="F1F5F9"/>
                </a:solidFill>
                <a:latin typeface="Calibri"/>
              </a:rPr>
              <a:t>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521208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5669280"/>
            <a:ext cx="1920240" cy="8229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Versionado público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Conceptos de SO aplicados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  <a:latin typeface="Calibri"/>
              </a:rPr>
              <a:t>Cumplimiento de aspectos técnicos del Anexo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83080"/>
            <a:ext cx="4937760" cy="4114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  <a:latin typeface="Calibri"/>
              </a:rPr>
              <a:t>Procesos y Hilos POSIX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86000"/>
            <a:ext cx="493776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5 hilos en monitor.py con threading.Thread()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493776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pthread_create() vía NPTL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0352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4114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EC4899"/>
                </a:solidFill>
                <a:latin typeface="Calibri"/>
              </a:rPr>
              <a:t>Sincronización (mutex)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86000"/>
            <a:ext cx="493776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threading.Lock() en sección crítica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834640"/>
            <a:ext cx="493776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Evita race conditions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57600"/>
            <a:ext cx="530352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794760"/>
            <a:ext cx="4937760" cy="4114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F59E0B"/>
                </a:solidFill>
                <a:latin typeface="Calibri"/>
              </a:rPr>
              <a:t>/proc — kernel virtual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297680"/>
            <a:ext cx="493776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/proc/stat, /proc/meminfo, /proc/[pid]/status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846320"/>
            <a:ext cx="493776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Sin penalización I/O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657600"/>
            <a:ext cx="530352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794760"/>
            <a:ext cx="4937760" cy="4114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3B82F6"/>
                </a:solidFill>
                <a:latin typeface="Calibri"/>
              </a:rPr>
              <a:t>Syscall statvfs()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297680"/>
            <a:ext cx="493776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os.statvfs('/') para uso de disco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846320"/>
            <a:ext cx="493776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Modo kernel ↔ usuario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200" b="1" i="0">
                <a:solidFill>
                  <a:srgbClr val="3B82F6"/>
                </a:solidFill>
                <a:latin typeface="Calibri"/>
              </a:rPr>
              <a:t>Implementación del Monitor 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  <a:latin typeface="Calibri"/>
              </a:rPr>
              <a:t>Núcleo de monitor.py con hilos POSIX y mutex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72800" cy="4572000"/>
          </a:xfrm>
          <a:prstGeom prst="roundRect">
            <a:avLst/>
          </a:prstGeom>
          <a:solidFill>
            <a:srgbClr val="050812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607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5F3FC"/>
                </a:solidFill>
                <a:latin typeface="Consolas"/>
              </a:rPr>
              <a:t>import threading, time, os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metrics = {}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metrics_lock = threading.Lock()      # ⚙ MUTEX POSIX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def read_cpu():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with open('/host/proc/stat') as f:    # 📂 /proc del kernel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    ... cálculo de %CPU ...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with metrics_lock:                # 🔒 SECCIÓN CRÍTICA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    metrics['cpu'] = cpu_pct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def read_disk():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st = os.statvfs('/')              # ⚡ SYSCALL statvfs()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with metrics_lock: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    metrics['disk'] = (st.f_blocks - st.f_bfree) * 100 / st.f_blocks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/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def collect_cycle():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# 🧵 5 HILOS POSIX CONCURRENTES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threads = [threading.Thread(target=fn)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           for fn in [read_cpu, read_memory, read_disk,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                      read_loadavg, read_processes]]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for t in threads: t.start()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for t in threads: t.join(timeout=4)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>    save_to_db(metrics)               # 💾 Persistencia</a:t>
            </a:r>
          </a:p>
          <a:p>
            <a:r>
              <a:rPr sz="1100">
                <a:solidFill>
                  <a:srgbClr val="A5F3FC"/>
                </a:solidFill>
                <a:latin typeface="Consola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200" b="1" i="0">
                <a:solidFill>
                  <a:srgbClr val="3B82F6"/>
                </a:solidFill>
                <a:latin typeface="Calibri"/>
              </a:rPr>
              <a:t>Implementación funcional del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Cumplimiento de criterio 2 de la rúbrica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2024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6596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Usuarios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Registro, login, roles cliente/admin
bcrypt + sesiones HttpOnly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37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59" y="196596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Catálogo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74320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24 productos · 6 categorías
Búsqueda + filtros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737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2024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6596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Carrito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4320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Persistente con AJAX
Update, remove sin recargar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23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20624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5196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Checkout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502920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Transaccional con BEGIN/COMMIT
SELECT FOR UPDATE pesimista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023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20624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59" y="425196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Panel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02920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10 KPIs · 4 tabs
Usuarios, pedidos, top productos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023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420624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425196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Monitor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502920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CPU·RAM·Disco·Procesos
Gráficas en tiempo real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457200"/>
            <a:ext cx="1645920" cy="36576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🆕 NUEVO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365760"/>
            <a:ext cx="91440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200" b="1" i="0">
                <a:solidFill>
                  <a:srgbClr val="EC4899"/>
                </a:solidFill>
                <a:latin typeface="Calibri"/>
              </a:rPr>
              <a:t>Módulo de Social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Cumplimiento explícito de "redes sociales" + Shop the Post de la rúbrica nueva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19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Likes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5176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Toggle con transacción anti-race
Contador en tiempo real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4592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82880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59" y="1874519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Reseñas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5176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Rating 1-5 estrellas
Validación de longitud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64592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1874519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Publicaciones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65176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Posts con título + contenido
Usuario autenticado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23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20624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25196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Shop the Post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02920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Etiquetar producto en post
Compra directa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4023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20624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59" y="425196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Productos populares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02920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Top 6 por likes
Sección en landing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023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4206240"/>
            <a:ext cx="914400" cy="64008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0" i="0">
                <a:solidFill>
                  <a:srgbClr val="F1F5F9"/>
                </a:solidFill>
                <a:latin typeface="Calibri"/>
              </a:rPr>
              <a:t>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4251960"/>
            <a:ext cx="19202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800" b="1" i="0">
                <a:solidFill>
                  <a:srgbClr val="F1F5F9"/>
                </a:solidFill>
                <a:latin typeface="Calibri"/>
              </a:rPr>
              <a:t>KPIs sociales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029200"/>
            <a:ext cx="2834640" cy="10058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Métricas en admin panel
Likes·reseñas·posts·rating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Modelo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  <a:latin typeface="Calibri"/>
              </a:rPr>
              <a:t>13 tablas en 4 bloques · MySQL 8.0 InnoDB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743200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246888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BLOQUE A · Usuarios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59" y="251460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usuarios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737360"/>
            <a:ext cx="2743200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920240"/>
            <a:ext cx="246888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Calibri"/>
              </a:rPr>
              <a:t>BLOQUE B · E-commerce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51460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categorias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301752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productos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352044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carrito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402336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pedidos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452628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pedidos_detalle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737360"/>
            <a:ext cx="2743200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920240"/>
            <a:ext cx="246888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BLOQUE C · Monitor SO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251460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metricas_catalogo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01752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lecturas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52044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alertas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402336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notificaciones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737360"/>
            <a:ext cx="2743200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920240"/>
            <a:ext cx="246888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EC4899"/>
                </a:solidFill>
                <a:latin typeface="Calibri"/>
              </a:rPr>
              <a:t>BLOQUE D · Social Commerce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251460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producto_likes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301752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comentarios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64040" y="3520440"/>
            <a:ext cx="237744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1F5F9"/>
                </a:solidFill>
                <a:latin typeface="Consolas"/>
              </a:rPr>
              <a:t>publicaciones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Seguridad implementada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Defensa en profundidad · validación + prepared statements + hashing + transacciones + firewall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20240"/>
            <a:ext cx="28346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EC4899"/>
                </a:solidFill>
                <a:latin typeface="Calibri"/>
              </a:rPr>
              <a:t>🔐 Bcrypt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60320"/>
            <a:ext cx="2834640" cy="11887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alibri"/>
              </a:rPr>
              <a:t>Hash factor 12 para passwords
password_hash + password_verify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920240"/>
            <a:ext cx="28346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3B82F6"/>
                </a:solidFill>
                <a:latin typeface="Calibri"/>
              </a:rPr>
              <a:t>🛡 PDO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560320"/>
            <a:ext cx="2834640" cy="11887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alibri"/>
              </a:rPr>
              <a:t>Prepared statements anti-SQLi
ATTR_EMULATE_PREPARES = false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920240"/>
            <a:ext cx="28346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8B5CF6"/>
                </a:solidFill>
                <a:latin typeface="Calibri"/>
              </a:rPr>
              <a:t>🍪 Cookies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560320"/>
            <a:ext cx="2834640" cy="11887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alibri"/>
              </a:rPr>
              <a:t>HttpOnly + SameSite=Lax
Protección XSS y CSRF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23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206240"/>
            <a:ext cx="28346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  <a:latin typeface="Calibri"/>
              </a:rPr>
              <a:t>🔒 Sesiones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846320"/>
            <a:ext cx="2834640" cy="11887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alibri"/>
              </a:rPr>
              <a:t>session_set_cookie_params
requireLogin / requireAdmin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4023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206240"/>
            <a:ext cx="28346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F59E0B"/>
                </a:solidFill>
                <a:latin typeface="Calibri"/>
              </a:rPr>
              <a:t>💳 Transacciones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46320"/>
            <a:ext cx="2834640" cy="11887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alibri"/>
              </a:rPr>
              <a:t>BEGIN + SELECT FOR UPDATE
ROLLBACK ante error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023360"/>
            <a:ext cx="3200400" cy="2103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4206240"/>
            <a:ext cx="283464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700" b="1" i="0">
                <a:solidFill>
                  <a:srgbClr val="EC4899"/>
                </a:solidFill>
                <a:latin typeface="Calibri"/>
              </a:rPr>
              <a:t>🔥 Firewall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846320"/>
            <a:ext cx="2834640" cy="118872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alibri"/>
              </a:rPr>
              <a:t>UFW: solo 22, 80, 443
Defensa en profundidad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Despliegue en AWS EC2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Cumplimiento de criterio 3 de la rúbrica · Uso de tecnologías cloud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4864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12064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Calibri"/>
              </a:rPr>
              <a:t>☁  Instancia EC2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201168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Tipo: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331720"/>
            <a:ext cx="3200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t3.micro (Free Tier)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201168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vCPU: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43200"/>
            <a:ext cx="3200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1 vCPU compartido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79"/>
            <a:ext cx="201168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RAM: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154679"/>
            <a:ext cx="3200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1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01168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Almacenamiento: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66160"/>
            <a:ext cx="3200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20 GiB EBS gp3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977639"/>
            <a:ext cx="201168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Sistema operativo: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977639"/>
            <a:ext cx="3200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Ubuntu Server 22.04 LTS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89120"/>
            <a:ext cx="201168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AMI propietario: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89120"/>
            <a:ext cx="3200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099720109477 (Canonical)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00600"/>
            <a:ext cx="201168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Región: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800600"/>
            <a:ext cx="3200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us-east-1 (N. Virginia)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212079"/>
            <a:ext cx="201168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Auto-restart: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212079"/>
            <a:ext cx="3200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onsolas"/>
              </a:rPr>
              <a:t>unless-stopped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37360"/>
            <a:ext cx="530352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28800"/>
            <a:ext cx="493776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🔥  Security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331720"/>
            <a:ext cx="493776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SSH (22)  → Mi 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697480"/>
            <a:ext cx="493776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HTTP (80) → 0.0.0.0/0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063240"/>
            <a:ext cx="493776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HTTPS (443) → 0.0.0.0/0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520440"/>
            <a:ext cx="493776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+ UFW interno como 2da capa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069080"/>
            <a:ext cx="5303520" cy="2240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160520"/>
            <a:ext cx="493776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🌐  URL pública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572000"/>
            <a:ext cx="493776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onsolas"/>
              </a:rPr>
              <a:t>http://3.238.70.143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074920"/>
            <a:ext cx="493776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✅ IP de produccion activa el dia de la exposicion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532120"/>
            <a:ext cx="493776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0">
                <a:solidFill>
                  <a:srgbClr val="F1F5F9"/>
                </a:solidFill>
                <a:latin typeface="Consolas"/>
              </a:rPr>
              <a:t>📦  Repo: github.com/Hreon/S.O-SYS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897880"/>
            <a:ext cx="493776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⚙  deploy_aws.sh automatiza Docker + UFW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Cumplimiento de la rúbrica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Mapeo explícito de SysMarket v2 a los 4 criterios (20 puntos totales)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72800" cy="960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59436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19"/>
            <a:ext cx="68580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Arquitectura del Proyecto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74519"/>
            <a:ext cx="2743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Puntos: 0-5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86000"/>
            <a:ext cx="960120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✅ 3 capas · Docker · AWS EC2 · contenerización por instancia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10972800" cy="960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108960"/>
            <a:ext cx="594360" cy="59436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017520"/>
            <a:ext cx="68580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Implementación Funcional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017520"/>
            <a:ext cx="2743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Puntos: 0-5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29000"/>
            <a:ext cx="960120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✅ Usuarios · catálogo · carrito · pedidos · admin · redes sociales · Shop the Post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69080"/>
            <a:ext cx="10972800" cy="960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251960"/>
            <a:ext cx="59436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60520"/>
            <a:ext cx="68580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Uso de Tecnologías Cloud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160520"/>
            <a:ext cx="2743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Puntos: 0-5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72000"/>
            <a:ext cx="960120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✅ AWS EC2 Ubuntu 22.04 · Security Group · acceso operativo · script automatizado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12080"/>
            <a:ext cx="10972800" cy="960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394960"/>
            <a:ext cx="59436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68580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Presentación y Demostración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5303520"/>
            <a:ext cx="2743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Puntos: 0-5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15000"/>
            <a:ext cx="9601200" cy="4572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✅ PPT estructurado · doc completa · sistema en vivo · demo 18 min ensayada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Pruebas realizadas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21 casos en 3 categorías · 100% aprobados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6576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329184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E-commerce (7 casos)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Registro de usuario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Login válido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AJAX carrito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Modificar cantidad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Checkout con stock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Checkout sin stock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Acceso admin denegado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737360"/>
            <a:ext cx="36576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28800"/>
            <a:ext cx="329184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Monitor SO (5 casos)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3774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5 hilos activos en LWP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Stress CPU &gt; 80%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Lectura vs htop ±2%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Persistencia tras reinicio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1000 ciclos sin race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365760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828800"/>
            <a:ext cx="329184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Calibri"/>
              </a:rPr>
              <a:t>Social Commerce (9 casos)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3774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Like logueado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Toggle de like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Like sin sesión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Reseña con rating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Reseña inválida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Publicación etiquetada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Shop the Post redirect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Productos populares</a:t>
            </a:r>
          </a:p>
          <a:p>
            <a:pPr algn="l">
              <a:spcAft>
                <a:spcPts val="800"/>
              </a:spcAft>
            </a:pPr>
            <a:r>
              <a:rPr sz="1100">
                <a:solidFill>
                  <a:srgbClr val="F1F5F9"/>
                </a:solidFill>
                <a:latin typeface="Calibri"/>
              </a:rPr>
              <a:t>▸ KPIs en admin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Resultados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651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19" y="1737360"/>
            <a:ext cx="2468880" cy="914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4800" b="1" i="0">
                <a:solidFill>
                  <a:srgbClr val="3B82F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2743200"/>
            <a:ext cx="246888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tablas en BD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39" y="1554480"/>
            <a:ext cx="2651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79" y="1737360"/>
            <a:ext cx="2468880" cy="914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4800" b="1" i="0">
                <a:solidFill>
                  <a:srgbClr val="8B5CF6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79" y="2743200"/>
            <a:ext cx="246888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contenedores Docker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651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2468880" cy="914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4800" b="1" i="0">
                <a:solidFill>
                  <a:srgbClr val="10B981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246888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hilos POSIX activos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59" y="1554480"/>
            <a:ext cx="2651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599" y="1737360"/>
            <a:ext cx="2468880" cy="914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4800" b="1" i="0">
                <a:solidFill>
                  <a:srgbClr val="F59E0B"/>
                </a:solidFill>
                <a:latin typeface="Calibri"/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599" y="2743200"/>
            <a:ext cx="246888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productos en catálogo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2651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" y="3931920"/>
            <a:ext cx="2468880" cy="914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4800" b="1" i="0">
                <a:solidFill>
                  <a:srgbClr val="EC4899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937759"/>
            <a:ext cx="246888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casos de prueba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39" y="3749039"/>
            <a:ext cx="2651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79" y="3931920"/>
            <a:ext cx="2468880" cy="914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4800" b="1" i="0">
                <a:solidFill>
                  <a:srgbClr val="3B82F6"/>
                </a:solidFill>
                <a:latin typeface="Calibri"/>
              </a:rPr>
              <a:t>~5s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4937759"/>
            <a:ext cx="246888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intervalo de muestreo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749039"/>
            <a:ext cx="2651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931920"/>
            <a:ext cx="2468880" cy="914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4800" b="1" i="0">
                <a:solidFill>
                  <a:srgbClr val="10B981"/>
                </a:solidFill>
                <a:latin typeface="Calibri"/>
              </a:rPr>
              <a:t>99%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937759"/>
            <a:ext cx="246888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uptime objetivo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1159" y="3749039"/>
            <a:ext cx="265176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599" y="3931920"/>
            <a:ext cx="2468880" cy="9144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4800" b="1" i="0">
                <a:solidFill>
                  <a:srgbClr val="F59E0B"/>
                </a:solidFill>
                <a:latin typeface="Calibri"/>
              </a:rPr>
              <a:t>$0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4937759"/>
            <a:ext cx="246888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costo (Free Tier)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Plan de demostración (18 min)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029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00200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Apertura del sitio en AWS · catálogo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1600200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1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20824"/>
            <a:ext cx="50292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66543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Registro de usuario en vivo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2066543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1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5029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32887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Carrito · checkout exitoso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532887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2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53512"/>
            <a:ext cx="502920" cy="36576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999232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Like + reseña con estrellas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999232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2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19856"/>
            <a:ext cx="50292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465576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Publicación con Shop the 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465576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2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86200"/>
            <a:ext cx="5029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931920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Panel admin · KPIs sociales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931920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1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52544"/>
            <a:ext cx="50292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398264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Monitor SO · gráficas en tiempo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4398264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2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18888"/>
            <a:ext cx="502920" cy="36576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864608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SSH · docker ps · 5 hilos · /proc/stat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4864608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3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285232"/>
            <a:ext cx="50292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330952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Stress CPU · monitor reacciona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5330952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2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751576"/>
            <a:ext cx="502920" cy="36576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797296"/>
            <a:ext cx="86868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Recorrido del repo GitHub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5797296"/>
            <a:ext cx="1371600" cy="3200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0" i="0">
                <a:solidFill>
                  <a:srgbClr val="94A3B8"/>
                </a:solidFill>
                <a:latin typeface="Calibri"/>
              </a:rPr>
              <a:t>2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3600" b="1" i="0">
                <a:solidFill>
                  <a:srgbClr val="3B82F6"/>
                </a:solidFill>
                <a:latin typeface="Calibri"/>
              </a:rP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972800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45720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91639"/>
            <a:ext cx="9784080" cy="5943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Conceptos del curso materializados en código verificable: 5 hilos POSIX, mutex, /proc, syscall statvfs().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10972800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697480"/>
            <a:ext cx="45720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9784080" cy="5943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Arquitectura de 3 capas desplegable con un solo comando docker compose up — portable a cualquier servidor.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74720"/>
            <a:ext cx="10972800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3657600"/>
            <a:ext cx="45720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11879"/>
            <a:ext cx="9784080" cy="5943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Seguridad incorporada desde el diseño: bcrypt, PDO, sesiones HttpOnly, transacciones, UFW firewall.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10972800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4617720"/>
            <a:ext cx="45720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72000"/>
            <a:ext cx="9784080" cy="5943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Social commerce completo agregado sin romper funcionalidades previas, cumpliendo la rúbrica actualizada.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72800" cy="777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5577840"/>
            <a:ext cx="45720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532120"/>
            <a:ext cx="9784080" cy="5943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400" b="0" i="0">
                <a:solidFill>
                  <a:srgbClr val="F1F5F9"/>
                </a:solidFill>
                <a:latin typeface="Calibri"/>
              </a:rPr>
              <a:t>Sistema en producción en AWS EC2 con repositorio público GitHub: deploy real, no solo prototipo académico.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73152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SysMarket v2 · Sistemas Operativos USIL · Grupo 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000" b="0" i="0">
                <a:solidFill>
                  <a:srgbClr val="94A3B8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9600" b="1" i="0">
                <a:solidFill>
                  <a:srgbClr val="F1F5F9"/>
                </a:solidFill>
                <a:latin typeface="Calibri"/>
              </a:rPr>
              <a:t>Gracias.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72800" cy="54864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400" b="0" i="1">
                <a:solidFill>
                  <a:srgbClr val="8B5CF6"/>
                </a:solidFill>
                <a:latin typeface="Calibri"/>
              </a:rPr>
              <a:t>Preguntas y respuestas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4572000"/>
            <a:ext cx="576072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4709160"/>
            <a:ext cx="5486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Grupo 01 · Sistemas Operativos USIL 2026-I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5074920"/>
            <a:ext cx="5486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200" b="0" i="0">
                <a:solidFill>
                  <a:srgbClr val="F1F5F9"/>
                </a:solidFill>
                <a:latin typeface="Calibri"/>
              </a:rPr>
              <a:t>Fabian Roncal · Luz Rios · Piero Valencia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5440680"/>
            <a:ext cx="5486400" cy="36576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onsolas"/>
              </a:rPr>
              <a:t>github.com/Hreon/S.O-SYS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