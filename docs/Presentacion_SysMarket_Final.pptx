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x="18288000" cy="10287000"/>
  <p:notesSz cx="6858000" cy="9144000"/>
  <p:embeddedFontLst>
    <p:embeddedFont>
      <p:font typeface="Calibri (MS) Bold" charset="1" panose="020F0702030404030204"/>
      <p:regular r:id="rId24"/>
    </p:embeddedFont>
    <p:embeddedFont>
      <p:font typeface="Calibri (MS)" charset="1" panose="020F0502020204030204"/>
      <p:regular r:id="rId25"/>
    </p:embeddedFont>
    <p:embeddedFont>
      <p:font typeface="Calibri (MS) Italics" charset="1" panose="020F05020202040A0204"/>
      <p:regular r:id="rId26"/>
    </p:embeddedFont>
    <p:embeddedFont>
      <p:font typeface="Consolas" charset="1" panose="020B0609020204030204"/>
      <p:regular r:id="rId27"/>
    </p:embeddedFont>
    <p:embeddedFont>
      <p:font typeface="Consolas Bold" charset="1" panose="020B0709020204030204"/>
      <p:regular r:id="rId2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font" Target="fonts/font24.fntdata"/><Relationship Id="rId25" Type="http://schemas.openxmlformats.org/officeDocument/2006/relationships/font" Target="fonts/font25.fntdata"/><Relationship Id="rId26" Type="http://schemas.openxmlformats.org/officeDocument/2006/relationships/font" Target="fonts/font26.fntdata"/><Relationship Id="rId27" Type="http://schemas.openxmlformats.org/officeDocument/2006/relationships/font" Target="fonts/font27.fntdata"/><Relationship Id="rId28" Type="http://schemas.openxmlformats.org/officeDocument/2006/relationships/font" Target="fonts/font28.fntdata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97725" cy="10295039"/>
            <a:chOff x="0" y="0"/>
            <a:chExt cx="24396967" cy="1372671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96954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24396954">
                  <a:moveTo>
                    <a:pt x="0" y="0"/>
                  </a:moveTo>
                  <a:lnTo>
                    <a:pt x="24396954" y="0"/>
                  </a:lnTo>
                  <a:lnTo>
                    <a:pt x="2439695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0F172A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0"/>
            <a:ext cx="18297725" cy="205902"/>
            <a:chOff x="0" y="0"/>
            <a:chExt cx="24396967" cy="27453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396954" cy="274574"/>
            </a:xfrm>
            <a:custGeom>
              <a:avLst/>
              <a:gdLst/>
              <a:ahLst/>
              <a:cxnLst/>
              <a:rect r="r" b="b" t="t" l="l"/>
              <a:pathLst>
                <a:path h="274574" w="24396954">
                  <a:moveTo>
                    <a:pt x="0" y="0"/>
                  </a:moveTo>
                  <a:lnTo>
                    <a:pt x="24396954" y="0"/>
                  </a:lnTo>
                  <a:lnTo>
                    <a:pt x="24396954" y="274574"/>
                  </a:lnTo>
                  <a:lnTo>
                    <a:pt x="0" y="274574"/>
                  </a:lnTo>
                  <a:close/>
                </a:path>
              </a:pathLst>
            </a:custGeom>
            <a:solidFill>
              <a:srgbClr val="3B82F6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951338" y="6853828"/>
            <a:ext cx="6078259" cy="2215344"/>
            <a:chOff x="0" y="0"/>
            <a:chExt cx="8104345" cy="2953791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8104300" cy="2953766"/>
            </a:xfrm>
            <a:custGeom>
              <a:avLst/>
              <a:gdLst/>
              <a:ahLst/>
              <a:cxnLst/>
              <a:rect r="r" b="b" t="t" l="l"/>
              <a:pathLst>
                <a:path h="2953766" w="8104300">
                  <a:moveTo>
                    <a:pt x="0" y="492252"/>
                  </a:moveTo>
                  <a:cubicBezTo>
                    <a:pt x="0" y="220472"/>
                    <a:pt x="129927" y="0"/>
                    <a:pt x="290091" y="0"/>
                  </a:cubicBezTo>
                  <a:lnTo>
                    <a:pt x="7814208" y="0"/>
                  </a:lnTo>
                  <a:cubicBezTo>
                    <a:pt x="7974448" y="0"/>
                    <a:pt x="8104300" y="220472"/>
                    <a:pt x="8104300" y="492252"/>
                  </a:cubicBezTo>
                  <a:lnTo>
                    <a:pt x="8104300" y="2461514"/>
                  </a:lnTo>
                  <a:cubicBezTo>
                    <a:pt x="8104300" y="2733421"/>
                    <a:pt x="7974373" y="2953766"/>
                    <a:pt x="7814208" y="2953766"/>
                  </a:cubicBezTo>
                  <a:lnTo>
                    <a:pt x="290091" y="2953766"/>
                  </a:lnTo>
                  <a:cubicBezTo>
                    <a:pt x="129927" y="2953766"/>
                    <a:pt x="0" y="2733421"/>
                    <a:pt x="0" y="2461514"/>
                  </a:cubicBezTo>
                  <a:close/>
                </a:path>
              </a:pathLst>
            </a:custGeom>
            <a:solidFill>
              <a:srgbClr val="1E293B"/>
            </a:solidFill>
            <a:ln w="19065" cap="sq">
              <a:solidFill>
                <a:srgbClr val="334455"/>
              </a:solidFill>
              <a:prstDash val="solid"/>
              <a:miter/>
            </a:ln>
          </p:spPr>
        </p:sp>
      </p:grpSp>
      <p:grpSp>
        <p:nvGrpSpPr>
          <p:cNvPr name="Group 8" id="8"/>
          <p:cNvGrpSpPr/>
          <p:nvPr/>
        </p:nvGrpSpPr>
        <p:grpSpPr>
          <a:xfrm rot="0">
            <a:off x="12354049" y="7000627"/>
            <a:ext cx="2333539" cy="480431"/>
            <a:chOff x="0" y="0"/>
            <a:chExt cx="3111386" cy="640575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3111373" cy="640588"/>
            </a:xfrm>
            <a:custGeom>
              <a:avLst/>
              <a:gdLst/>
              <a:ahLst/>
              <a:cxnLst/>
              <a:rect r="r" b="b" t="t" l="l"/>
              <a:pathLst>
                <a:path h="640588" w="3111373">
                  <a:moveTo>
                    <a:pt x="0" y="106807"/>
                  </a:moveTo>
                  <a:cubicBezTo>
                    <a:pt x="0" y="47752"/>
                    <a:pt x="47752" y="0"/>
                    <a:pt x="106807" y="0"/>
                  </a:cubicBezTo>
                  <a:lnTo>
                    <a:pt x="3004566" y="0"/>
                  </a:lnTo>
                  <a:cubicBezTo>
                    <a:pt x="3063494" y="0"/>
                    <a:pt x="3111373" y="47752"/>
                    <a:pt x="3111373" y="106807"/>
                  </a:cubicBezTo>
                  <a:lnTo>
                    <a:pt x="3111373" y="533781"/>
                  </a:lnTo>
                  <a:cubicBezTo>
                    <a:pt x="3111373" y="592709"/>
                    <a:pt x="3063621" y="640588"/>
                    <a:pt x="3004566" y="640588"/>
                  </a:cubicBezTo>
                  <a:lnTo>
                    <a:pt x="106807" y="640588"/>
                  </a:lnTo>
                  <a:cubicBezTo>
                    <a:pt x="47752" y="640588"/>
                    <a:pt x="0" y="592836"/>
                    <a:pt x="0" y="533781"/>
                  </a:cubicBezTo>
                  <a:close/>
                </a:path>
              </a:pathLst>
            </a:custGeom>
            <a:solidFill>
              <a:srgbClr val="3B82F6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28575"/>
              <a:ext cx="3111386" cy="6691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81"/>
                </a:lnSpc>
              </a:pPr>
              <a:r>
                <a:rPr lang="en-US" sz="1651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Apache + PHP 8.2</a:t>
              </a: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14893500" y="7000627"/>
            <a:ext cx="2333539" cy="480431"/>
            <a:chOff x="0" y="0"/>
            <a:chExt cx="3111386" cy="640575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3111373" cy="640588"/>
            </a:xfrm>
            <a:custGeom>
              <a:avLst/>
              <a:gdLst/>
              <a:ahLst/>
              <a:cxnLst/>
              <a:rect r="r" b="b" t="t" l="l"/>
              <a:pathLst>
                <a:path h="640588" w="3111373">
                  <a:moveTo>
                    <a:pt x="0" y="106807"/>
                  </a:moveTo>
                  <a:cubicBezTo>
                    <a:pt x="0" y="47752"/>
                    <a:pt x="47752" y="0"/>
                    <a:pt x="106807" y="0"/>
                  </a:cubicBezTo>
                  <a:lnTo>
                    <a:pt x="3004566" y="0"/>
                  </a:lnTo>
                  <a:cubicBezTo>
                    <a:pt x="3063494" y="0"/>
                    <a:pt x="3111373" y="47752"/>
                    <a:pt x="3111373" y="106807"/>
                  </a:cubicBezTo>
                  <a:lnTo>
                    <a:pt x="3111373" y="533781"/>
                  </a:lnTo>
                  <a:cubicBezTo>
                    <a:pt x="3111373" y="592709"/>
                    <a:pt x="3063621" y="640588"/>
                    <a:pt x="3004566" y="640588"/>
                  </a:cubicBezTo>
                  <a:lnTo>
                    <a:pt x="106807" y="640588"/>
                  </a:lnTo>
                  <a:cubicBezTo>
                    <a:pt x="47752" y="640588"/>
                    <a:pt x="0" y="592836"/>
                    <a:pt x="0" y="533781"/>
                  </a:cubicBezTo>
                  <a:close/>
                </a:path>
              </a:pathLst>
            </a:custGeom>
            <a:solidFill>
              <a:srgbClr val="8B5CF6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28575"/>
              <a:ext cx="3111386" cy="6691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81"/>
                </a:lnSpc>
              </a:pPr>
              <a:r>
                <a:rPr lang="en-US" sz="1651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MySQL 8.0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12354049" y="7618333"/>
            <a:ext cx="2333539" cy="480431"/>
            <a:chOff x="0" y="0"/>
            <a:chExt cx="3111386" cy="640575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3111373" cy="640588"/>
            </a:xfrm>
            <a:custGeom>
              <a:avLst/>
              <a:gdLst/>
              <a:ahLst/>
              <a:cxnLst/>
              <a:rect r="r" b="b" t="t" l="l"/>
              <a:pathLst>
                <a:path h="640588" w="3111373">
                  <a:moveTo>
                    <a:pt x="0" y="106807"/>
                  </a:moveTo>
                  <a:cubicBezTo>
                    <a:pt x="0" y="47752"/>
                    <a:pt x="47752" y="0"/>
                    <a:pt x="106807" y="0"/>
                  </a:cubicBezTo>
                  <a:lnTo>
                    <a:pt x="3004566" y="0"/>
                  </a:lnTo>
                  <a:cubicBezTo>
                    <a:pt x="3063494" y="0"/>
                    <a:pt x="3111373" y="47752"/>
                    <a:pt x="3111373" y="106807"/>
                  </a:cubicBezTo>
                  <a:lnTo>
                    <a:pt x="3111373" y="533781"/>
                  </a:lnTo>
                  <a:cubicBezTo>
                    <a:pt x="3111373" y="592709"/>
                    <a:pt x="3063621" y="640588"/>
                    <a:pt x="3004566" y="640588"/>
                  </a:cubicBezTo>
                  <a:lnTo>
                    <a:pt x="106807" y="640588"/>
                  </a:lnTo>
                  <a:cubicBezTo>
                    <a:pt x="47752" y="640588"/>
                    <a:pt x="0" y="592836"/>
                    <a:pt x="0" y="533781"/>
                  </a:cubicBezTo>
                  <a:close/>
                </a:path>
              </a:pathLst>
            </a:custGeom>
            <a:solidFill>
              <a:srgbClr val="3B82F6"/>
            </a:solid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28575"/>
              <a:ext cx="3111386" cy="6691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81"/>
                </a:lnSpc>
              </a:pPr>
              <a:r>
                <a:rPr lang="en-US" sz="1651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Docker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14893500" y="7618333"/>
            <a:ext cx="2333539" cy="480431"/>
            <a:chOff x="0" y="0"/>
            <a:chExt cx="3111386" cy="640575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3111373" cy="640588"/>
            </a:xfrm>
            <a:custGeom>
              <a:avLst/>
              <a:gdLst/>
              <a:ahLst/>
              <a:cxnLst/>
              <a:rect r="r" b="b" t="t" l="l"/>
              <a:pathLst>
                <a:path h="640588" w="3111373">
                  <a:moveTo>
                    <a:pt x="0" y="106807"/>
                  </a:moveTo>
                  <a:cubicBezTo>
                    <a:pt x="0" y="47752"/>
                    <a:pt x="47752" y="0"/>
                    <a:pt x="106807" y="0"/>
                  </a:cubicBezTo>
                  <a:lnTo>
                    <a:pt x="3004566" y="0"/>
                  </a:lnTo>
                  <a:cubicBezTo>
                    <a:pt x="3063494" y="0"/>
                    <a:pt x="3111373" y="47752"/>
                    <a:pt x="3111373" y="106807"/>
                  </a:cubicBezTo>
                  <a:lnTo>
                    <a:pt x="3111373" y="533781"/>
                  </a:lnTo>
                  <a:cubicBezTo>
                    <a:pt x="3111373" y="592709"/>
                    <a:pt x="3063621" y="640588"/>
                    <a:pt x="3004566" y="640588"/>
                  </a:cubicBezTo>
                  <a:lnTo>
                    <a:pt x="106807" y="640588"/>
                  </a:lnTo>
                  <a:cubicBezTo>
                    <a:pt x="47752" y="640588"/>
                    <a:pt x="0" y="592836"/>
                    <a:pt x="0" y="533781"/>
                  </a:cubicBezTo>
                  <a:close/>
                </a:path>
              </a:pathLst>
            </a:custGeom>
            <a:solidFill>
              <a:srgbClr val="F59E0B"/>
            </a:solid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28575"/>
              <a:ext cx="3111386" cy="6691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81"/>
                </a:lnSpc>
              </a:pPr>
              <a:r>
                <a:rPr lang="en-US" sz="1651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AWS EC2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12354049" y="8236039"/>
            <a:ext cx="2333539" cy="480431"/>
            <a:chOff x="0" y="0"/>
            <a:chExt cx="3111386" cy="640575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3111373" cy="640588"/>
            </a:xfrm>
            <a:custGeom>
              <a:avLst/>
              <a:gdLst/>
              <a:ahLst/>
              <a:cxnLst/>
              <a:rect r="r" b="b" t="t" l="l"/>
              <a:pathLst>
                <a:path h="640588" w="3111373">
                  <a:moveTo>
                    <a:pt x="0" y="106807"/>
                  </a:moveTo>
                  <a:cubicBezTo>
                    <a:pt x="0" y="47752"/>
                    <a:pt x="47752" y="0"/>
                    <a:pt x="106807" y="0"/>
                  </a:cubicBezTo>
                  <a:lnTo>
                    <a:pt x="3004566" y="0"/>
                  </a:lnTo>
                  <a:cubicBezTo>
                    <a:pt x="3063494" y="0"/>
                    <a:pt x="3111373" y="47752"/>
                    <a:pt x="3111373" y="106807"/>
                  </a:cubicBezTo>
                  <a:lnTo>
                    <a:pt x="3111373" y="533781"/>
                  </a:lnTo>
                  <a:cubicBezTo>
                    <a:pt x="3111373" y="592709"/>
                    <a:pt x="3063621" y="640588"/>
                    <a:pt x="3004566" y="640588"/>
                  </a:cubicBezTo>
                  <a:lnTo>
                    <a:pt x="106807" y="640588"/>
                  </a:lnTo>
                  <a:cubicBezTo>
                    <a:pt x="47752" y="640588"/>
                    <a:pt x="0" y="592836"/>
                    <a:pt x="0" y="533781"/>
                  </a:cubicBezTo>
                  <a:close/>
                </a:path>
              </a:pathLst>
            </a:custGeom>
            <a:solidFill>
              <a:srgbClr val="10B981"/>
            </a:solidFill>
          </p:spPr>
        </p:sp>
        <p:sp>
          <p:nvSpPr>
            <p:cNvPr name="TextBox 22" id="22"/>
            <p:cNvSpPr txBox="true"/>
            <p:nvPr/>
          </p:nvSpPr>
          <p:spPr>
            <a:xfrm>
              <a:off x="0" y="-28575"/>
              <a:ext cx="3111386" cy="6691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81"/>
                </a:lnSpc>
              </a:pPr>
              <a:r>
                <a:rPr lang="en-US" sz="1651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Python POSIX</a:t>
              </a:r>
            </a:p>
          </p:txBody>
        </p:sp>
      </p:grpSp>
      <p:grpSp>
        <p:nvGrpSpPr>
          <p:cNvPr name="Group 23" id="23"/>
          <p:cNvGrpSpPr/>
          <p:nvPr/>
        </p:nvGrpSpPr>
        <p:grpSpPr>
          <a:xfrm rot="0">
            <a:off x="14893500" y="8236039"/>
            <a:ext cx="2333539" cy="480431"/>
            <a:chOff x="0" y="0"/>
            <a:chExt cx="3111386" cy="640575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3111373" cy="640588"/>
            </a:xfrm>
            <a:custGeom>
              <a:avLst/>
              <a:gdLst/>
              <a:ahLst/>
              <a:cxnLst/>
              <a:rect r="r" b="b" t="t" l="l"/>
              <a:pathLst>
                <a:path h="640588" w="3111373">
                  <a:moveTo>
                    <a:pt x="0" y="106807"/>
                  </a:moveTo>
                  <a:cubicBezTo>
                    <a:pt x="0" y="47752"/>
                    <a:pt x="47752" y="0"/>
                    <a:pt x="106807" y="0"/>
                  </a:cubicBezTo>
                  <a:lnTo>
                    <a:pt x="3004566" y="0"/>
                  </a:lnTo>
                  <a:cubicBezTo>
                    <a:pt x="3063494" y="0"/>
                    <a:pt x="3111373" y="47752"/>
                    <a:pt x="3111373" y="106807"/>
                  </a:cubicBezTo>
                  <a:lnTo>
                    <a:pt x="3111373" y="533781"/>
                  </a:lnTo>
                  <a:cubicBezTo>
                    <a:pt x="3111373" y="592709"/>
                    <a:pt x="3063621" y="640588"/>
                    <a:pt x="3004566" y="640588"/>
                  </a:cubicBezTo>
                  <a:lnTo>
                    <a:pt x="106807" y="640588"/>
                  </a:lnTo>
                  <a:cubicBezTo>
                    <a:pt x="47752" y="640588"/>
                    <a:pt x="0" y="592836"/>
                    <a:pt x="0" y="533781"/>
                  </a:cubicBezTo>
                  <a:close/>
                </a:path>
              </a:pathLst>
            </a:custGeom>
            <a:solidFill>
              <a:srgbClr val="EC4899"/>
            </a:solidFill>
          </p:spPr>
        </p:sp>
        <p:sp>
          <p:nvSpPr>
            <p:cNvPr name="TextBox 25" id="25"/>
            <p:cNvSpPr txBox="true"/>
            <p:nvPr/>
          </p:nvSpPr>
          <p:spPr>
            <a:xfrm>
              <a:off x="0" y="-28575"/>
              <a:ext cx="3111386" cy="6691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81"/>
                </a:lnSpc>
              </a:pPr>
              <a:r>
                <a:rPr lang="en-US" sz="1651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Social Commerce</a:t>
              </a:r>
            </a:p>
          </p:txBody>
        </p:sp>
      </p:grpSp>
      <p:sp>
        <p:nvSpPr>
          <p:cNvPr name="Freeform 26" id="26"/>
          <p:cNvSpPr/>
          <p:nvPr/>
        </p:nvSpPr>
        <p:spPr>
          <a:xfrm flipH="false" flipV="false" rot="0">
            <a:off x="1028700" y="205902"/>
            <a:ext cx="2003214" cy="2003214"/>
          </a:xfrm>
          <a:custGeom>
            <a:avLst/>
            <a:gdLst/>
            <a:ahLst/>
            <a:cxnLst/>
            <a:rect r="r" b="b" t="t" l="l"/>
            <a:pathLst>
              <a:path h="2003214" w="2003214">
                <a:moveTo>
                  <a:pt x="0" y="0"/>
                </a:moveTo>
                <a:lnTo>
                  <a:pt x="2003214" y="0"/>
                </a:lnTo>
                <a:lnTo>
                  <a:pt x="2003214" y="2003214"/>
                </a:lnTo>
                <a:lnTo>
                  <a:pt x="0" y="200321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27" id="27"/>
          <p:cNvSpPr txBox="true"/>
          <p:nvPr/>
        </p:nvSpPr>
        <p:spPr>
          <a:xfrm rot="0">
            <a:off x="1028700" y="2115626"/>
            <a:ext cx="16372065" cy="55669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1"/>
              </a:lnSpc>
            </a:pPr>
            <a:r>
              <a:rPr lang="en-US" sz="195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Facultad de Ingeniería · Sistemas Operativos · 2026-I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1010869" y="3173973"/>
            <a:ext cx="16372065" cy="18262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2970"/>
              </a:lnSpc>
            </a:pPr>
            <a:r>
              <a:rPr lang="en-US" sz="10808" b="true">
                <a:solidFill>
                  <a:srgbClr val="F1F5F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SysMarket v2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962830" y="4949657"/>
            <a:ext cx="16372065" cy="139934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02"/>
              </a:lnSpc>
            </a:pPr>
            <a:r>
              <a:rPr lang="en-US" sz="3002" i="true">
                <a:solidFill>
                  <a:srgbClr val="8B5CF6"/>
                </a:solidFill>
                <a:latin typeface="Calibri (MS) Italics"/>
                <a:ea typeface="Calibri (MS) Italics"/>
                <a:cs typeface="Calibri (MS) Italics"/>
                <a:sym typeface="Calibri (MS) Italics"/>
              </a:rPr>
              <a:t>E-commerce de hardware con monitoreo del sistema operativo</a:t>
            </a:r>
          </a:p>
          <a:p>
            <a:pPr algn="l">
              <a:lnSpc>
                <a:spcPts val="3602"/>
              </a:lnSpc>
            </a:pPr>
            <a:r>
              <a:rPr lang="en-US" sz="3002" i="true">
                <a:solidFill>
                  <a:srgbClr val="8B5CF6"/>
                </a:solidFill>
                <a:latin typeface="Calibri (MS) Italics"/>
                <a:ea typeface="Calibri (MS) Italics"/>
                <a:cs typeface="Calibri (MS) Italics"/>
                <a:sym typeface="Calibri (MS) Italics"/>
              </a:rPr>
              <a:t>y módulo de social commerce desplegado en AWS EC2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1285408" y="6992055"/>
            <a:ext cx="9508703" cy="4690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 b="true">
                <a:solidFill>
                  <a:srgbClr val="3B82F6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GRUPO 01 — TRABAJO FINAL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1285408" y="7522073"/>
            <a:ext cx="9508703" cy="342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1"/>
              </a:lnSpc>
            </a:pPr>
            <a:r>
              <a:rPr lang="en-US" sz="1951">
                <a:solidFill>
                  <a:srgbClr val="F1F5F9"/>
                </a:solidFill>
                <a:latin typeface="Calibri (MS)"/>
                <a:ea typeface="Calibri (MS)"/>
                <a:cs typeface="Calibri (MS)"/>
                <a:sym typeface="Calibri (MS)"/>
              </a:rPr>
              <a:t>Fabian Roncal Falconi · Luz Rios Rios 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1285408" y="8149304"/>
            <a:ext cx="9508703" cy="4785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Profesor: Eduardo Vásquez Reyes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1285408" y="8561099"/>
            <a:ext cx="9508703" cy="4785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Presentación: 27 de junio de 2026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97725" cy="10295039"/>
            <a:chOff x="0" y="0"/>
            <a:chExt cx="24396967" cy="1372671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96954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24396954">
                  <a:moveTo>
                    <a:pt x="0" y="0"/>
                  </a:moveTo>
                  <a:lnTo>
                    <a:pt x="24396954" y="0"/>
                  </a:lnTo>
                  <a:lnTo>
                    <a:pt x="2439695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0F172A"/>
            </a:solidFill>
          </p:spPr>
        </p:sp>
      </p:grpSp>
      <p:sp>
        <p:nvSpPr>
          <p:cNvPr name="TextBox 4" id="4"/>
          <p:cNvSpPr txBox="true"/>
          <p:nvPr/>
        </p:nvSpPr>
        <p:spPr>
          <a:xfrm rot="0">
            <a:off x="1010869" y="592036"/>
            <a:ext cx="16372065" cy="8979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485"/>
              </a:lnSpc>
            </a:pPr>
            <a:r>
              <a:rPr lang="en-US" sz="5404" b="true">
                <a:solidFill>
                  <a:srgbClr val="3B82F6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Problemática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10869" y="1619583"/>
            <a:ext cx="16372065" cy="55669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1"/>
              </a:lnSpc>
            </a:pPr>
            <a:r>
              <a:rPr lang="en-US" sz="2101" i="true">
                <a:solidFill>
                  <a:srgbClr val="94A3B8"/>
                </a:solidFill>
                <a:latin typeface="Calibri (MS) Italics"/>
                <a:ea typeface="Calibri (MS) Italics"/>
                <a:cs typeface="Calibri (MS) Italics"/>
                <a:sym typeface="Calibri (MS) Italics"/>
              </a:rPr>
              <a:t>Lo que motivó el proyecto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951338" y="2735809"/>
            <a:ext cx="7843295" cy="6196089"/>
            <a:chOff x="0" y="0"/>
            <a:chExt cx="10457726" cy="8261452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0457688" cy="8261477"/>
            </a:xfrm>
            <a:custGeom>
              <a:avLst/>
              <a:gdLst/>
              <a:ahLst/>
              <a:cxnLst/>
              <a:rect r="r" b="b" t="t" l="l"/>
              <a:pathLst>
                <a:path h="8261477" w="10457688">
                  <a:moveTo>
                    <a:pt x="0" y="1376934"/>
                  </a:moveTo>
                  <a:cubicBezTo>
                    <a:pt x="0" y="616458"/>
                    <a:pt x="616458" y="0"/>
                    <a:pt x="1376934" y="0"/>
                  </a:cubicBezTo>
                  <a:lnTo>
                    <a:pt x="9080753" y="0"/>
                  </a:lnTo>
                  <a:cubicBezTo>
                    <a:pt x="9841230" y="0"/>
                    <a:pt x="10457688" y="616458"/>
                    <a:pt x="10457688" y="1376934"/>
                  </a:cubicBezTo>
                  <a:lnTo>
                    <a:pt x="10457688" y="6884543"/>
                  </a:lnTo>
                  <a:cubicBezTo>
                    <a:pt x="10457688" y="7645019"/>
                    <a:pt x="9841230" y="8261477"/>
                    <a:pt x="9080754" y="8261477"/>
                  </a:cubicBezTo>
                  <a:lnTo>
                    <a:pt x="1376934" y="8261477"/>
                  </a:lnTo>
                  <a:cubicBezTo>
                    <a:pt x="616458" y="8261477"/>
                    <a:pt x="0" y="7645019"/>
                    <a:pt x="0" y="6884543"/>
                  </a:cubicBezTo>
                  <a:close/>
                </a:path>
              </a:pathLst>
            </a:custGeom>
            <a:solidFill>
              <a:srgbClr val="1E293B"/>
            </a:solidFill>
            <a:ln w="19065" cap="sq">
              <a:solidFill>
                <a:srgbClr val="334455"/>
              </a:solidFill>
              <a:prstDash val="solid"/>
              <a:miter/>
            </a:ln>
          </p:spPr>
        </p:sp>
      </p:grpSp>
      <p:sp>
        <p:nvSpPr>
          <p:cNvPr name="TextBox 8" id="8"/>
          <p:cNvSpPr txBox="true"/>
          <p:nvPr/>
        </p:nvSpPr>
        <p:spPr>
          <a:xfrm rot="0">
            <a:off x="1285408" y="2982725"/>
            <a:ext cx="7175163" cy="7034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42"/>
              </a:lnSpc>
            </a:pPr>
            <a:r>
              <a:rPr lang="en-US" sz="2702" b="true">
                <a:solidFill>
                  <a:srgbClr val="3B82F6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1. Visibilidad limitada del servidor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285408" y="3815858"/>
            <a:ext cx="7175163" cy="48119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1"/>
              </a:lnSpc>
            </a:pPr>
            <a:r>
              <a:rPr lang="en-US" sz="2101">
                <a:solidFill>
                  <a:srgbClr val="F1F5F9"/>
                </a:solidFill>
                <a:latin typeface="Calibri (MS)"/>
                <a:ea typeface="Calibri (MS)"/>
                <a:cs typeface="Calibri (MS)"/>
                <a:sym typeface="Calibri (MS)"/>
              </a:rPr>
              <a:t>Las tiendas online pequeñas no tienen herramientas integradas para monitorear los recursos del SO donde corre su aplicación. Esto obliga al admin a usar SSH, htop o servicios externos pagados.</a:t>
            </a:r>
          </a:p>
        </p:txBody>
      </p:sp>
      <p:grpSp>
        <p:nvGrpSpPr>
          <p:cNvPr name="Group 10" id="10"/>
          <p:cNvGrpSpPr/>
          <p:nvPr/>
        </p:nvGrpSpPr>
        <p:grpSpPr>
          <a:xfrm rot="0">
            <a:off x="9393269" y="2735809"/>
            <a:ext cx="7843295" cy="6196089"/>
            <a:chOff x="0" y="0"/>
            <a:chExt cx="10457726" cy="8261452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0457688" cy="8261477"/>
            </a:xfrm>
            <a:custGeom>
              <a:avLst/>
              <a:gdLst/>
              <a:ahLst/>
              <a:cxnLst/>
              <a:rect r="r" b="b" t="t" l="l"/>
              <a:pathLst>
                <a:path h="8261477" w="10457688">
                  <a:moveTo>
                    <a:pt x="0" y="1376934"/>
                  </a:moveTo>
                  <a:cubicBezTo>
                    <a:pt x="0" y="616458"/>
                    <a:pt x="616458" y="0"/>
                    <a:pt x="1376934" y="0"/>
                  </a:cubicBezTo>
                  <a:lnTo>
                    <a:pt x="9080753" y="0"/>
                  </a:lnTo>
                  <a:cubicBezTo>
                    <a:pt x="9841230" y="0"/>
                    <a:pt x="10457688" y="616458"/>
                    <a:pt x="10457688" y="1376934"/>
                  </a:cubicBezTo>
                  <a:lnTo>
                    <a:pt x="10457688" y="6884543"/>
                  </a:lnTo>
                  <a:cubicBezTo>
                    <a:pt x="10457688" y="7645019"/>
                    <a:pt x="9841230" y="8261477"/>
                    <a:pt x="9080754" y="8261477"/>
                  </a:cubicBezTo>
                  <a:lnTo>
                    <a:pt x="1376934" y="8261477"/>
                  </a:lnTo>
                  <a:cubicBezTo>
                    <a:pt x="616458" y="8261477"/>
                    <a:pt x="0" y="7645019"/>
                    <a:pt x="0" y="6884543"/>
                  </a:cubicBezTo>
                  <a:close/>
                </a:path>
              </a:pathLst>
            </a:custGeom>
            <a:solidFill>
              <a:srgbClr val="1E293B"/>
            </a:solidFill>
            <a:ln w="19065" cap="sq">
              <a:solidFill>
                <a:srgbClr val="334455"/>
              </a:solidFill>
              <a:prstDash val="solid"/>
              <a:miter/>
            </a:ln>
          </p:spPr>
        </p:sp>
      </p:grpSp>
      <p:sp>
        <p:nvSpPr>
          <p:cNvPr name="TextBox 12" id="12"/>
          <p:cNvSpPr txBox="true"/>
          <p:nvPr/>
        </p:nvSpPr>
        <p:spPr>
          <a:xfrm rot="0">
            <a:off x="9727340" y="2982725"/>
            <a:ext cx="7175163" cy="7034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42"/>
              </a:lnSpc>
            </a:pPr>
            <a:r>
              <a:rPr lang="en-US" sz="2702" b="true">
                <a:solidFill>
                  <a:srgbClr val="EC489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2. Comercio social como expectativa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9727340" y="3815858"/>
            <a:ext cx="7175163" cy="48119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1"/>
              </a:lnSpc>
            </a:pPr>
            <a:r>
              <a:rPr lang="en-US" sz="2101">
                <a:solidFill>
                  <a:srgbClr val="F1F5F9"/>
                </a:solidFill>
                <a:latin typeface="Calibri (MS)"/>
                <a:ea typeface="Calibri (MS)"/>
                <a:cs typeface="Calibri (MS)"/>
                <a:sym typeface="Calibri (MS)"/>
              </a:rPr>
              <a:t>Los consumidores modernos esperan interacciones sociales en las tiendas online (likes, reseñas, posts, compartir). La mayoría de e-commerce open-source no integran de forma nativa estas funcionalidades.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599065" y="9659236"/>
            <a:ext cx="10881379" cy="5471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1"/>
              </a:lnSpc>
            </a:pPr>
            <a:r>
              <a:rPr lang="en-US" sz="150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SysMarket v2 · Sistemas Operativos USIL · Grupo 01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6522065" y="9659236"/>
            <a:ext cx="1272673" cy="5471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01"/>
              </a:lnSpc>
            </a:pPr>
            <a:r>
              <a:rPr lang="en-US" sz="150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2/18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97725" cy="10295039"/>
            <a:chOff x="0" y="0"/>
            <a:chExt cx="24396967" cy="1372671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96954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24396954">
                  <a:moveTo>
                    <a:pt x="0" y="0"/>
                  </a:moveTo>
                  <a:lnTo>
                    <a:pt x="24396954" y="0"/>
                  </a:lnTo>
                  <a:lnTo>
                    <a:pt x="2439695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0F172A"/>
            </a:solidFill>
          </p:spPr>
        </p:sp>
      </p:grpSp>
      <p:sp>
        <p:nvSpPr>
          <p:cNvPr name="TextBox 4" id="4"/>
          <p:cNvSpPr txBox="true"/>
          <p:nvPr/>
        </p:nvSpPr>
        <p:spPr>
          <a:xfrm rot="0">
            <a:off x="1010869" y="592036"/>
            <a:ext cx="16372065" cy="8979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485"/>
              </a:lnSpc>
            </a:pPr>
            <a:r>
              <a:rPr lang="en-US" sz="5404" b="true">
                <a:solidFill>
                  <a:srgbClr val="3B82F6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Objetivos del proyecto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951338" y="2049475"/>
            <a:ext cx="16491137" cy="2078069"/>
            <a:chOff x="0" y="0"/>
            <a:chExt cx="21988183" cy="2770759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1988145" cy="2770759"/>
            </a:xfrm>
            <a:custGeom>
              <a:avLst/>
              <a:gdLst/>
              <a:ahLst/>
              <a:cxnLst/>
              <a:rect r="r" b="b" t="t" l="l"/>
              <a:pathLst>
                <a:path h="2770759" w="21988145">
                  <a:moveTo>
                    <a:pt x="0" y="461772"/>
                  </a:moveTo>
                  <a:cubicBezTo>
                    <a:pt x="0" y="206756"/>
                    <a:pt x="206756" y="0"/>
                    <a:pt x="461772" y="0"/>
                  </a:cubicBezTo>
                  <a:lnTo>
                    <a:pt x="21526373" y="0"/>
                  </a:lnTo>
                  <a:cubicBezTo>
                    <a:pt x="21781388" y="0"/>
                    <a:pt x="21988145" y="206756"/>
                    <a:pt x="21988145" y="461772"/>
                  </a:cubicBezTo>
                  <a:lnTo>
                    <a:pt x="21988145" y="2308987"/>
                  </a:lnTo>
                  <a:cubicBezTo>
                    <a:pt x="21988145" y="2564003"/>
                    <a:pt x="21781388" y="2770759"/>
                    <a:pt x="21526373" y="2770759"/>
                  </a:cubicBezTo>
                  <a:lnTo>
                    <a:pt x="461772" y="2770759"/>
                  </a:lnTo>
                  <a:cubicBezTo>
                    <a:pt x="206756" y="2770759"/>
                    <a:pt x="0" y="2564003"/>
                    <a:pt x="0" y="2308987"/>
                  </a:cubicBezTo>
                  <a:close/>
                </a:path>
              </a:pathLst>
            </a:custGeom>
            <a:solidFill>
              <a:srgbClr val="1E293B"/>
            </a:solidFill>
            <a:ln w="19065" cap="sq">
              <a:solidFill>
                <a:srgbClr val="334455"/>
              </a:solidFill>
              <a:prstDash val="solid"/>
              <a:miter/>
            </a:ln>
          </p:spPr>
        </p:sp>
      </p:grpSp>
      <p:sp>
        <p:nvSpPr>
          <p:cNvPr name="TextBox 7" id="7"/>
          <p:cNvSpPr txBox="true"/>
          <p:nvPr/>
        </p:nvSpPr>
        <p:spPr>
          <a:xfrm rot="0">
            <a:off x="1285408" y="2237289"/>
            <a:ext cx="14999398" cy="55669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1"/>
              </a:lnSpc>
            </a:pPr>
            <a:r>
              <a:rPr lang="en-US" sz="1951" b="true">
                <a:solidFill>
                  <a:srgbClr val="8B5CF6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🎯 OBJETIVO GENERAL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285408" y="2786348"/>
            <a:ext cx="14999398" cy="13116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1"/>
              </a:lnSpc>
            </a:pPr>
            <a:r>
              <a:rPr lang="en-US" sz="2101">
                <a:solidFill>
                  <a:srgbClr val="F1F5F9"/>
                </a:solidFill>
                <a:latin typeface="Calibri (MS)"/>
                <a:ea typeface="Calibri (MS)"/>
                <a:cs typeface="Calibri (MS)"/>
                <a:sym typeface="Calibri (MS)"/>
              </a:rPr>
              <a:t>Implementar SysMarket v2, una plataforma e-commerce de hardware integrada con monitoreo en tiempo real del SO, social commerce y desplegada en AWS EC2, aplicando los conceptos centrales del curso de Sistemas Operativos.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010869" y="4502191"/>
            <a:ext cx="16372065" cy="55669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1"/>
              </a:lnSpc>
            </a:pPr>
            <a:r>
              <a:rPr lang="en-US" sz="1951" b="true">
                <a:solidFill>
                  <a:srgbClr val="8B5CF6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📋 OBJETIVOS ESPECÍFICOS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052312" y="5076987"/>
            <a:ext cx="16289188" cy="47605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1"/>
              </a:lnSpc>
            </a:pPr>
            <a:r>
              <a:rPr lang="en-US" sz="2101">
                <a:solidFill>
                  <a:srgbClr val="F1F5F9"/>
                </a:solidFill>
                <a:latin typeface="Calibri (MS)"/>
                <a:ea typeface="Calibri (MS)"/>
                <a:cs typeface="Calibri (MS)"/>
                <a:sym typeface="Calibri (MS)"/>
              </a:rPr>
              <a:t>▸ Arquitectura de 3 capas (presentación, aplicación, datos) orquestada con Docker Compose.</a:t>
            </a:r>
          </a:p>
          <a:p>
            <a:pPr algn="l">
              <a:lnSpc>
                <a:spcPts val="2521"/>
              </a:lnSpc>
            </a:pPr>
            <a:r>
              <a:rPr lang="en-US" sz="2101">
                <a:solidFill>
                  <a:srgbClr val="F1F5F9"/>
                </a:solidFill>
                <a:latin typeface="Calibri (MS)"/>
                <a:ea typeface="Calibri (MS)"/>
                <a:cs typeface="Calibri (MS)"/>
                <a:sym typeface="Calibri (MS)"/>
              </a:rPr>
              <a:t>▸ Daemon Python con 5 hilos POSIX + mutex para muestreo concurrente del SO.</a:t>
            </a:r>
          </a:p>
          <a:p>
            <a:pPr algn="l">
              <a:lnSpc>
                <a:spcPts val="2521"/>
              </a:lnSpc>
            </a:pPr>
            <a:r>
              <a:rPr lang="en-US" sz="2101">
                <a:solidFill>
                  <a:srgbClr val="F1F5F9"/>
                </a:solidFill>
                <a:latin typeface="Calibri (MS)"/>
                <a:ea typeface="Calibri (MS)"/>
                <a:cs typeface="Calibri (MS)"/>
                <a:sym typeface="Calibri (MS)"/>
              </a:rPr>
              <a:t>▸ Lectura del kernel Linux vía sistema /proc + syscall statvfs() para administración de recursos.</a:t>
            </a:r>
          </a:p>
          <a:p>
            <a:pPr algn="l">
              <a:lnSpc>
                <a:spcPts val="2521"/>
              </a:lnSpc>
            </a:pPr>
            <a:r>
              <a:rPr lang="en-US" sz="2101">
                <a:solidFill>
                  <a:srgbClr val="F1F5F9"/>
                </a:solidFill>
                <a:latin typeface="Calibri (MS)"/>
                <a:ea typeface="Calibri (MS)"/>
                <a:cs typeface="Calibri (MS)"/>
                <a:sym typeface="Calibri (MS)"/>
              </a:rPr>
              <a:t>▸ E-commerce funcional: catálogo, carrito, checkout transaccional con bloqueo pesimista.</a:t>
            </a:r>
          </a:p>
          <a:p>
            <a:pPr algn="l">
              <a:lnSpc>
                <a:spcPts val="2521"/>
              </a:lnSpc>
            </a:pPr>
            <a:r>
              <a:rPr lang="en-US" sz="2101">
                <a:solidFill>
                  <a:srgbClr val="F1F5F9"/>
                </a:solidFill>
                <a:latin typeface="Calibri (MS)"/>
                <a:ea typeface="Calibri (MS)"/>
                <a:cs typeface="Calibri (MS)"/>
                <a:sym typeface="Calibri (MS)"/>
              </a:rPr>
              <a:t>▸ Social commerce: likes, reseñas con rating, publicaciones con Shop the Post.</a:t>
            </a:r>
          </a:p>
          <a:p>
            <a:pPr algn="l">
              <a:lnSpc>
                <a:spcPts val="2521"/>
              </a:lnSpc>
            </a:pPr>
            <a:r>
              <a:rPr lang="en-US" sz="2101">
                <a:solidFill>
                  <a:srgbClr val="F1F5F9"/>
                </a:solidFill>
                <a:latin typeface="Calibri (MS)"/>
                <a:ea typeface="Calibri (MS)"/>
                <a:cs typeface="Calibri (MS)"/>
                <a:sym typeface="Calibri (MS)"/>
              </a:rPr>
              <a:t>▸ Despliegue en AWS EC2 sobre Ubuntu Server 22.04 LTS (Free Tier).</a:t>
            </a:r>
          </a:p>
          <a:p>
            <a:pPr algn="l">
              <a:lnSpc>
                <a:spcPts val="2521"/>
              </a:lnSpc>
            </a:pPr>
            <a:r>
              <a:rPr lang="en-US" sz="2101">
                <a:solidFill>
                  <a:srgbClr val="F1F5F9"/>
                </a:solidFill>
                <a:latin typeface="Calibri (MS)"/>
                <a:ea typeface="Calibri (MS)"/>
                <a:cs typeface="Calibri (MS)"/>
                <a:sym typeface="Calibri (MS)"/>
              </a:rPr>
              <a:t>▸ Seguridad integral: bcrypt, PDO prepared statements, HttpOnly cookies, UFW firewall.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599065" y="9659236"/>
            <a:ext cx="10881379" cy="5471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1"/>
              </a:lnSpc>
            </a:pPr>
            <a:r>
              <a:rPr lang="en-US" sz="150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SysMarket v2 · Sistemas Operativos USIL · Grupo 01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6522065" y="9659236"/>
            <a:ext cx="1272673" cy="5471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01"/>
              </a:lnSpc>
            </a:pPr>
            <a:r>
              <a:rPr lang="en-US" sz="150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3/18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97725" cy="10295039"/>
            <a:chOff x="0" y="0"/>
            <a:chExt cx="24396967" cy="1372671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96954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24396954">
                  <a:moveTo>
                    <a:pt x="0" y="0"/>
                  </a:moveTo>
                  <a:lnTo>
                    <a:pt x="24396954" y="0"/>
                  </a:lnTo>
                  <a:lnTo>
                    <a:pt x="2439695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0F172A"/>
            </a:solidFill>
          </p:spPr>
        </p:sp>
      </p:grpSp>
      <p:sp>
        <p:nvSpPr>
          <p:cNvPr name="TextBox 4" id="4"/>
          <p:cNvSpPr txBox="true"/>
          <p:nvPr/>
        </p:nvSpPr>
        <p:spPr>
          <a:xfrm rot="0">
            <a:off x="1010869" y="483346"/>
            <a:ext cx="16372065" cy="8693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764"/>
              </a:lnSpc>
            </a:pPr>
            <a:r>
              <a:rPr lang="en-US" sz="4803" b="true">
                <a:solidFill>
                  <a:srgbClr val="3B82F6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Arquitectura del proyecto (3-Tier + Cloud)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10869" y="1354569"/>
            <a:ext cx="16372065" cy="5471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 i="true">
                <a:solidFill>
                  <a:srgbClr val="94A3B8"/>
                </a:solidFill>
                <a:latin typeface="Calibri (MS) Italics"/>
                <a:ea typeface="Calibri (MS) Italics"/>
                <a:cs typeface="Calibri (MS) Italics"/>
                <a:sym typeface="Calibri (MS) Italics"/>
              </a:rPr>
              <a:t>Cumplimiento de criterio 1 de la rúbrica · Arquitectura en capas + integración cloud + contenerización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667703" y="2211307"/>
            <a:ext cx="17195673" cy="7309813"/>
            <a:chOff x="0" y="0"/>
            <a:chExt cx="21988183" cy="9347091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1988146" cy="9347026"/>
            </a:xfrm>
            <a:custGeom>
              <a:avLst/>
              <a:gdLst/>
              <a:ahLst/>
              <a:cxnLst/>
              <a:rect r="r" b="b" t="t" l="l"/>
              <a:pathLst>
                <a:path h="9347026" w="21988146">
                  <a:moveTo>
                    <a:pt x="0" y="1557881"/>
                  </a:moveTo>
                  <a:cubicBezTo>
                    <a:pt x="0" y="697508"/>
                    <a:pt x="684784" y="0"/>
                    <a:pt x="1529461" y="0"/>
                  </a:cubicBezTo>
                  <a:lnTo>
                    <a:pt x="20458685" y="0"/>
                  </a:lnTo>
                  <a:cubicBezTo>
                    <a:pt x="21303362" y="0"/>
                    <a:pt x="21988146" y="697508"/>
                    <a:pt x="21988146" y="1557881"/>
                  </a:cubicBezTo>
                  <a:lnTo>
                    <a:pt x="21988146" y="7789145"/>
                  </a:lnTo>
                  <a:cubicBezTo>
                    <a:pt x="21988146" y="8649518"/>
                    <a:pt x="21303362" y="9347026"/>
                    <a:pt x="20458685" y="9347026"/>
                  </a:cubicBezTo>
                  <a:lnTo>
                    <a:pt x="1529461" y="9347026"/>
                  </a:lnTo>
                  <a:cubicBezTo>
                    <a:pt x="684784" y="9347026"/>
                    <a:pt x="0" y="8649647"/>
                    <a:pt x="0" y="7789145"/>
                  </a:cubicBezTo>
                  <a:close/>
                </a:path>
              </a:pathLst>
            </a:custGeom>
            <a:solidFill>
              <a:srgbClr val="0F172A"/>
            </a:solidFill>
            <a:ln w="19065" cap="sq">
              <a:solidFill>
                <a:srgbClr val="F59E0B"/>
              </a:solidFill>
              <a:prstDash val="solid"/>
              <a:miter/>
            </a:ln>
          </p:spPr>
        </p:sp>
      </p:grpSp>
      <p:sp>
        <p:nvSpPr>
          <p:cNvPr name="TextBox 8" id="8"/>
          <p:cNvSpPr txBox="true"/>
          <p:nvPr/>
        </p:nvSpPr>
        <p:spPr>
          <a:xfrm rot="0">
            <a:off x="1285408" y="2443182"/>
            <a:ext cx="14999398" cy="55669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1"/>
              </a:lnSpc>
            </a:pPr>
            <a:r>
              <a:rPr lang="en-US" sz="2101" b="true">
                <a:solidFill>
                  <a:srgbClr val="F59E0B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☁  AWS EC2 — Ubuntu Server 22.04 LTS (t3.micro · us-east-1)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1363142" y="3422152"/>
            <a:ext cx="15804794" cy="4823422"/>
            <a:chOff x="0" y="0"/>
            <a:chExt cx="21073059" cy="6431229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21073111" cy="6431153"/>
            </a:xfrm>
            <a:custGeom>
              <a:avLst/>
              <a:gdLst/>
              <a:ahLst/>
              <a:cxnLst/>
              <a:rect r="r" b="b" t="t" l="l"/>
              <a:pathLst>
                <a:path h="6431153" w="21073111">
                  <a:moveTo>
                    <a:pt x="0" y="1071880"/>
                  </a:moveTo>
                  <a:cubicBezTo>
                    <a:pt x="0" y="479933"/>
                    <a:pt x="479933" y="0"/>
                    <a:pt x="1071880" y="0"/>
                  </a:cubicBezTo>
                  <a:lnTo>
                    <a:pt x="20001230" y="0"/>
                  </a:lnTo>
                  <a:cubicBezTo>
                    <a:pt x="20593177" y="0"/>
                    <a:pt x="21073111" y="479933"/>
                    <a:pt x="21073111" y="1071880"/>
                  </a:cubicBezTo>
                  <a:lnTo>
                    <a:pt x="21073111" y="5359273"/>
                  </a:lnTo>
                  <a:cubicBezTo>
                    <a:pt x="21073111" y="5951220"/>
                    <a:pt x="20593177" y="6431153"/>
                    <a:pt x="20001230" y="6431153"/>
                  </a:cubicBezTo>
                  <a:lnTo>
                    <a:pt x="1071880" y="6431153"/>
                  </a:lnTo>
                  <a:cubicBezTo>
                    <a:pt x="479933" y="6431280"/>
                    <a:pt x="0" y="5951347"/>
                    <a:pt x="0" y="5359273"/>
                  </a:cubicBezTo>
                  <a:close/>
                </a:path>
              </a:pathLst>
            </a:custGeom>
            <a:solidFill>
              <a:srgbClr val="1E293B"/>
            </a:solidFill>
            <a:ln w="19065" cap="sq">
              <a:solidFill>
                <a:srgbClr val="3B82F6"/>
              </a:solidFill>
              <a:prstDash val="solid"/>
              <a:miter/>
            </a:ln>
          </p:spPr>
        </p:sp>
      </p:grpSp>
      <p:sp>
        <p:nvSpPr>
          <p:cNvPr name="TextBox 11" id="11"/>
          <p:cNvSpPr txBox="true"/>
          <p:nvPr/>
        </p:nvSpPr>
        <p:spPr>
          <a:xfrm rot="0">
            <a:off x="1697203" y="3550844"/>
            <a:ext cx="14999398" cy="4785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 b="true">
                <a:solidFill>
                  <a:srgbClr val="3B82F6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🐳  Docker Compose · red sysmarket_net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1637671" y="4245750"/>
            <a:ext cx="4823422" cy="3725285"/>
            <a:chOff x="0" y="0"/>
            <a:chExt cx="6431229" cy="4967046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6431280" cy="4967097"/>
            </a:xfrm>
            <a:custGeom>
              <a:avLst/>
              <a:gdLst/>
              <a:ahLst/>
              <a:cxnLst/>
              <a:rect r="r" b="b" t="t" l="l"/>
              <a:pathLst>
                <a:path h="4967097" w="6431280">
                  <a:moveTo>
                    <a:pt x="0" y="827913"/>
                  </a:moveTo>
                  <a:cubicBezTo>
                    <a:pt x="0" y="370586"/>
                    <a:pt x="370586" y="0"/>
                    <a:pt x="827913" y="0"/>
                  </a:cubicBezTo>
                  <a:lnTo>
                    <a:pt x="5603367" y="0"/>
                  </a:lnTo>
                  <a:cubicBezTo>
                    <a:pt x="6060567" y="0"/>
                    <a:pt x="6431280" y="370586"/>
                    <a:pt x="6431280" y="827913"/>
                  </a:cubicBezTo>
                  <a:lnTo>
                    <a:pt x="6431280" y="4139184"/>
                  </a:lnTo>
                  <a:cubicBezTo>
                    <a:pt x="6431280" y="4596384"/>
                    <a:pt x="6060694" y="4967097"/>
                    <a:pt x="5603367" y="4967097"/>
                  </a:cubicBezTo>
                  <a:lnTo>
                    <a:pt x="827913" y="4967097"/>
                  </a:lnTo>
                  <a:cubicBezTo>
                    <a:pt x="370713" y="4967097"/>
                    <a:pt x="0" y="4596511"/>
                    <a:pt x="0" y="4139184"/>
                  </a:cubicBezTo>
                  <a:close/>
                </a:path>
              </a:pathLst>
            </a:custGeom>
            <a:solidFill>
              <a:srgbClr val="1E40AF"/>
            </a:solidFill>
            <a:ln w="19065" cap="sq">
              <a:solidFill>
                <a:srgbClr val="3B82F6"/>
              </a:solidFill>
              <a:prstDash val="solid"/>
              <a:miter/>
            </a:ln>
          </p:spPr>
        </p:sp>
      </p:grpSp>
      <p:sp>
        <p:nvSpPr>
          <p:cNvPr name="TextBox 14" id="14"/>
          <p:cNvSpPr txBox="true"/>
          <p:nvPr/>
        </p:nvSpPr>
        <p:spPr>
          <a:xfrm rot="0">
            <a:off x="1834477" y="4355402"/>
            <a:ext cx="4429820" cy="5662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42"/>
              </a:lnSpc>
            </a:pPr>
            <a:r>
              <a:rPr lang="en-US" sz="2702" b="true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web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834477" y="5001682"/>
            <a:ext cx="4429820" cy="4003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81"/>
              </a:lnSpc>
            </a:pPr>
            <a:r>
              <a:rPr lang="en-US" sz="1651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Apache 2.4 + PHP 8.2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834477" y="5413477"/>
            <a:ext cx="4429820" cy="4003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81"/>
              </a:lnSpc>
            </a:pPr>
            <a:r>
              <a:rPr lang="en-US" sz="1651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Puerto 80 expuesto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834477" y="5893918"/>
            <a:ext cx="4429820" cy="1773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81"/>
              </a:lnSpc>
            </a:pPr>
            <a:r>
              <a:rPr lang="en-US" sz="1651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• E-commerce</a:t>
            </a:r>
          </a:p>
          <a:p>
            <a:pPr algn="ctr">
              <a:lnSpc>
                <a:spcPts val="1981"/>
              </a:lnSpc>
            </a:pPr>
            <a:r>
              <a:rPr lang="en-US" sz="1651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• Social commerce</a:t>
            </a:r>
          </a:p>
          <a:p>
            <a:pPr algn="ctr">
              <a:lnSpc>
                <a:spcPts val="1981"/>
              </a:lnSpc>
            </a:pPr>
            <a:r>
              <a:rPr lang="en-US" sz="1651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• Admin panel</a:t>
            </a:r>
          </a:p>
          <a:p>
            <a:pPr algn="ctr">
              <a:lnSpc>
                <a:spcPts val="1981"/>
              </a:lnSpc>
            </a:pPr>
            <a:r>
              <a:rPr lang="en-US" sz="1651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• PDO + bcrypt + Sessions</a:t>
            </a:r>
          </a:p>
        </p:txBody>
      </p:sp>
      <p:grpSp>
        <p:nvGrpSpPr>
          <p:cNvPr name="Group 18" id="18"/>
          <p:cNvGrpSpPr/>
          <p:nvPr/>
        </p:nvGrpSpPr>
        <p:grpSpPr>
          <a:xfrm rot="0">
            <a:off x="6785200" y="4245750"/>
            <a:ext cx="4823422" cy="3725285"/>
            <a:chOff x="0" y="0"/>
            <a:chExt cx="6431229" cy="4967046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6431280" cy="4967097"/>
            </a:xfrm>
            <a:custGeom>
              <a:avLst/>
              <a:gdLst/>
              <a:ahLst/>
              <a:cxnLst/>
              <a:rect r="r" b="b" t="t" l="l"/>
              <a:pathLst>
                <a:path h="4967097" w="6431280">
                  <a:moveTo>
                    <a:pt x="0" y="827913"/>
                  </a:moveTo>
                  <a:cubicBezTo>
                    <a:pt x="0" y="370586"/>
                    <a:pt x="370586" y="0"/>
                    <a:pt x="827913" y="0"/>
                  </a:cubicBezTo>
                  <a:lnTo>
                    <a:pt x="5603367" y="0"/>
                  </a:lnTo>
                  <a:cubicBezTo>
                    <a:pt x="6060567" y="0"/>
                    <a:pt x="6431280" y="370586"/>
                    <a:pt x="6431280" y="827913"/>
                  </a:cubicBezTo>
                  <a:lnTo>
                    <a:pt x="6431280" y="4139184"/>
                  </a:lnTo>
                  <a:cubicBezTo>
                    <a:pt x="6431280" y="4596384"/>
                    <a:pt x="6060694" y="4967097"/>
                    <a:pt x="5603367" y="4967097"/>
                  </a:cubicBezTo>
                  <a:lnTo>
                    <a:pt x="827913" y="4967097"/>
                  </a:lnTo>
                  <a:cubicBezTo>
                    <a:pt x="370713" y="4967097"/>
                    <a:pt x="0" y="4596511"/>
                    <a:pt x="0" y="4139184"/>
                  </a:cubicBezTo>
                  <a:close/>
                </a:path>
              </a:pathLst>
            </a:custGeom>
            <a:solidFill>
              <a:srgbClr val="7C3AED"/>
            </a:solidFill>
            <a:ln w="19065" cap="sq">
              <a:solidFill>
                <a:srgbClr val="8B5CF6"/>
              </a:solidFill>
              <a:prstDash val="solid"/>
              <a:miter/>
            </a:ln>
          </p:spPr>
        </p:sp>
      </p:grpSp>
      <p:sp>
        <p:nvSpPr>
          <p:cNvPr name="TextBox 20" id="20"/>
          <p:cNvSpPr txBox="true"/>
          <p:nvPr/>
        </p:nvSpPr>
        <p:spPr>
          <a:xfrm rot="0">
            <a:off x="6981996" y="4355402"/>
            <a:ext cx="4429820" cy="5662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42"/>
              </a:lnSpc>
            </a:pPr>
            <a:r>
              <a:rPr lang="en-US" sz="2702" b="true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db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6981996" y="5001682"/>
            <a:ext cx="4429820" cy="4003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81"/>
              </a:lnSpc>
            </a:pPr>
            <a:r>
              <a:rPr lang="en-US" sz="1651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MySQL 8.0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6981996" y="5413477"/>
            <a:ext cx="4429820" cy="4003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81"/>
              </a:lnSpc>
            </a:pPr>
            <a:r>
              <a:rPr lang="en-US" sz="1651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Puerto 3306 interno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6981996" y="5893918"/>
            <a:ext cx="4429820" cy="1773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81"/>
              </a:lnSpc>
            </a:pPr>
            <a:r>
              <a:rPr lang="en-US" sz="1651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• 13 tablas</a:t>
            </a:r>
          </a:p>
          <a:p>
            <a:pPr algn="ctr">
              <a:lnSpc>
                <a:spcPts val="1981"/>
              </a:lnSpc>
            </a:pPr>
            <a:r>
              <a:rPr lang="en-US" sz="1651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• Transacciones</a:t>
            </a:r>
          </a:p>
          <a:p>
            <a:pPr algn="ctr">
              <a:lnSpc>
                <a:spcPts val="1981"/>
              </a:lnSpc>
            </a:pPr>
            <a:r>
              <a:rPr lang="en-US" sz="1651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• FK + InnoDB</a:t>
            </a:r>
          </a:p>
          <a:p>
            <a:pPr algn="ctr">
              <a:lnSpc>
                <a:spcPts val="1981"/>
              </a:lnSpc>
            </a:pPr>
            <a:r>
              <a:rPr lang="en-US" sz="1651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• SELECT FOR UPDATE</a:t>
            </a:r>
          </a:p>
        </p:txBody>
      </p:sp>
      <p:grpSp>
        <p:nvGrpSpPr>
          <p:cNvPr name="Group 24" id="24"/>
          <p:cNvGrpSpPr/>
          <p:nvPr/>
        </p:nvGrpSpPr>
        <p:grpSpPr>
          <a:xfrm rot="0">
            <a:off x="11932720" y="4245750"/>
            <a:ext cx="5097951" cy="3725285"/>
            <a:chOff x="0" y="0"/>
            <a:chExt cx="6797269" cy="4967046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6797294" cy="4967097"/>
            </a:xfrm>
            <a:custGeom>
              <a:avLst/>
              <a:gdLst/>
              <a:ahLst/>
              <a:cxnLst/>
              <a:rect r="r" b="b" t="t" l="l"/>
              <a:pathLst>
                <a:path h="4967097" w="6797294">
                  <a:moveTo>
                    <a:pt x="0" y="827913"/>
                  </a:moveTo>
                  <a:cubicBezTo>
                    <a:pt x="0" y="370586"/>
                    <a:pt x="370586" y="0"/>
                    <a:pt x="827913" y="0"/>
                  </a:cubicBezTo>
                  <a:lnTo>
                    <a:pt x="5969381" y="0"/>
                  </a:lnTo>
                  <a:cubicBezTo>
                    <a:pt x="6426581" y="0"/>
                    <a:pt x="6797294" y="370586"/>
                    <a:pt x="6797294" y="827913"/>
                  </a:cubicBezTo>
                  <a:lnTo>
                    <a:pt x="6797294" y="4139184"/>
                  </a:lnTo>
                  <a:cubicBezTo>
                    <a:pt x="6797294" y="4596384"/>
                    <a:pt x="6426708" y="4967097"/>
                    <a:pt x="5969381" y="4967097"/>
                  </a:cubicBezTo>
                  <a:lnTo>
                    <a:pt x="827913" y="4967097"/>
                  </a:lnTo>
                  <a:cubicBezTo>
                    <a:pt x="370713" y="4967097"/>
                    <a:pt x="0" y="4596511"/>
                    <a:pt x="0" y="4139184"/>
                  </a:cubicBezTo>
                  <a:close/>
                </a:path>
              </a:pathLst>
            </a:custGeom>
            <a:solidFill>
              <a:srgbClr val="059669"/>
            </a:solidFill>
            <a:ln w="19065" cap="sq">
              <a:solidFill>
                <a:srgbClr val="10B981"/>
              </a:solidFill>
              <a:prstDash val="solid"/>
              <a:miter/>
            </a:ln>
          </p:spPr>
        </p:sp>
      </p:grpSp>
      <p:sp>
        <p:nvSpPr>
          <p:cNvPr name="TextBox 26" id="26"/>
          <p:cNvSpPr txBox="true"/>
          <p:nvPr/>
        </p:nvSpPr>
        <p:spPr>
          <a:xfrm rot="0">
            <a:off x="12129516" y="4355402"/>
            <a:ext cx="4704350" cy="5662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42"/>
              </a:lnSpc>
            </a:pPr>
            <a:r>
              <a:rPr lang="en-US" sz="2702" b="true">
                <a:solidFill>
                  <a:srgbClr val="FFFFFF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monitor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12129516" y="5001682"/>
            <a:ext cx="4704350" cy="4003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81"/>
              </a:lnSpc>
            </a:pPr>
            <a:r>
              <a:rPr lang="en-US" sz="1651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Python 3.11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12129516" y="5413477"/>
            <a:ext cx="4704350" cy="4003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81"/>
              </a:lnSpc>
            </a:pPr>
            <a:r>
              <a:rPr lang="en-US" sz="1651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Daemon cada 5s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12129516" y="5893918"/>
            <a:ext cx="4704350" cy="1773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81"/>
              </a:lnSpc>
            </a:pPr>
            <a:r>
              <a:rPr lang="en-US" sz="1651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• 5 hilos POSIX</a:t>
            </a:r>
          </a:p>
          <a:p>
            <a:pPr algn="ctr">
              <a:lnSpc>
                <a:spcPts val="1981"/>
              </a:lnSpc>
            </a:pPr>
            <a:r>
              <a:rPr lang="en-US" sz="1651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• threading.Lock() mutex</a:t>
            </a:r>
          </a:p>
          <a:p>
            <a:pPr algn="ctr">
              <a:lnSpc>
                <a:spcPts val="1981"/>
              </a:lnSpc>
            </a:pPr>
            <a:r>
              <a:rPr lang="en-US" sz="1651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• /host/proc:ro</a:t>
            </a:r>
          </a:p>
          <a:p>
            <a:pPr algn="ctr">
              <a:lnSpc>
                <a:spcPts val="1981"/>
              </a:lnSpc>
            </a:pPr>
            <a:r>
              <a:rPr lang="en-US" sz="1651">
                <a:solidFill>
                  <a:srgbClr val="FFFFFF"/>
                </a:solidFill>
                <a:latin typeface="Calibri (MS)"/>
                <a:ea typeface="Calibri (MS)"/>
                <a:cs typeface="Calibri (MS)"/>
                <a:sym typeface="Calibri (MS)"/>
              </a:rPr>
              <a:t>• CPU·RAM·Disco·Procs</a:t>
            </a:r>
          </a:p>
        </p:txBody>
      </p:sp>
      <p:grpSp>
        <p:nvGrpSpPr>
          <p:cNvPr name="Group 30" id="30"/>
          <p:cNvGrpSpPr/>
          <p:nvPr/>
        </p:nvGrpSpPr>
        <p:grpSpPr>
          <a:xfrm rot="0">
            <a:off x="1363142" y="8363769"/>
            <a:ext cx="15333459" cy="842667"/>
            <a:chOff x="0" y="0"/>
            <a:chExt cx="20444612" cy="1123556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20444664" cy="1123569"/>
            </a:xfrm>
            <a:custGeom>
              <a:avLst/>
              <a:gdLst/>
              <a:ahLst/>
              <a:cxnLst/>
              <a:rect r="r" b="b" t="t" l="l"/>
              <a:pathLst>
                <a:path h="1123569" w="20444664">
                  <a:moveTo>
                    <a:pt x="0" y="187325"/>
                  </a:moveTo>
                  <a:cubicBezTo>
                    <a:pt x="0" y="83820"/>
                    <a:pt x="81320" y="0"/>
                    <a:pt x="181739" y="0"/>
                  </a:cubicBezTo>
                  <a:lnTo>
                    <a:pt x="20262924" y="0"/>
                  </a:lnTo>
                  <a:cubicBezTo>
                    <a:pt x="20363219" y="0"/>
                    <a:pt x="20444664" y="83820"/>
                    <a:pt x="20444664" y="187325"/>
                  </a:cubicBezTo>
                  <a:lnTo>
                    <a:pt x="20444664" y="936244"/>
                  </a:lnTo>
                  <a:cubicBezTo>
                    <a:pt x="20444664" y="1039622"/>
                    <a:pt x="20363342" y="1123569"/>
                    <a:pt x="20262924" y="1123569"/>
                  </a:cubicBezTo>
                  <a:lnTo>
                    <a:pt x="181739" y="1123569"/>
                  </a:lnTo>
                  <a:cubicBezTo>
                    <a:pt x="81320" y="1123569"/>
                    <a:pt x="0" y="1039749"/>
                    <a:pt x="0" y="936244"/>
                  </a:cubicBezTo>
                  <a:close/>
                </a:path>
              </a:pathLst>
            </a:custGeom>
            <a:solidFill>
              <a:srgbClr val="1E293B"/>
            </a:solidFill>
            <a:ln w="19065" cap="sq">
              <a:solidFill>
                <a:srgbClr val="F59E0B"/>
              </a:solidFill>
              <a:prstDash val="solid"/>
              <a:miter/>
            </a:ln>
          </p:spPr>
        </p:sp>
      </p:grpSp>
      <p:sp>
        <p:nvSpPr>
          <p:cNvPr name="TextBox 32" id="32"/>
          <p:cNvSpPr txBox="true"/>
          <p:nvPr/>
        </p:nvSpPr>
        <p:spPr>
          <a:xfrm rot="0">
            <a:off x="1697203" y="8492471"/>
            <a:ext cx="14999398" cy="5471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 b="true">
                <a:solidFill>
                  <a:srgbClr val="F59E0B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📂  /proc — Kernel virtual filesystem · accedido en modo solo lectura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599065" y="9659236"/>
            <a:ext cx="10881379" cy="5471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1"/>
              </a:lnSpc>
            </a:pPr>
            <a:r>
              <a:rPr lang="en-US" sz="150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SysMarket v2 · Sistemas Operativos USIL · Grupo 01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16522065" y="9659236"/>
            <a:ext cx="1272673" cy="5471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01"/>
              </a:lnSpc>
            </a:pPr>
            <a:r>
              <a:rPr lang="en-US" sz="150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4/18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97725" cy="10295039"/>
            <a:chOff x="0" y="0"/>
            <a:chExt cx="24396967" cy="1372671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96954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24396954">
                  <a:moveTo>
                    <a:pt x="0" y="0"/>
                  </a:moveTo>
                  <a:lnTo>
                    <a:pt x="24396954" y="0"/>
                  </a:lnTo>
                  <a:lnTo>
                    <a:pt x="2439695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0F172A"/>
            </a:solidFill>
          </p:spPr>
        </p:sp>
      </p:grpSp>
      <p:sp>
        <p:nvSpPr>
          <p:cNvPr name="TextBox 4" id="4"/>
          <p:cNvSpPr txBox="true"/>
          <p:nvPr/>
        </p:nvSpPr>
        <p:spPr>
          <a:xfrm rot="0">
            <a:off x="1010869" y="592036"/>
            <a:ext cx="16372065" cy="8979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485"/>
              </a:lnSpc>
            </a:pPr>
            <a:r>
              <a:rPr lang="en-US" sz="5404" b="true">
                <a:solidFill>
                  <a:srgbClr val="3B82F6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Stack tecnológico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951338" y="2049475"/>
            <a:ext cx="4823422" cy="2352608"/>
            <a:chOff x="0" y="0"/>
            <a:chExt cx="6431229" cy="3136811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6431280" cy="3136900"/>
            </a:xfrm>
            <a:custGeom>
              <a:avLst/>
              <a:gdLst/>
              <a:ahLst/>
              <a:cxnLst/>
              <a:rect r="r" b="b" t="t" l="l"/>
              <a:pathLst>
                <a:path h="3136900" w="6431280">
                  <a:moveTo>
                    <a:pt x="0" y="522859"/>
                  </a:moveTo>
                  <a:cubicBezTo>
                    <a:pt x="0" y="234061"/>
                    <a:pt x="234061" y="0"/>
                    <a:pt x="522859" y="0"/>
                  </a:cubicBezTo>
                  <a:lnTo>
                    <a:pt x="5908421" y="0"/>
                  </a:lnTo>
                  <a:cubicBezTo>
                    <a:pt x="6197219" y="0"/>
                    <a:pt x="6431280" y="234061"/>
                    <a:pt x="6431280" y="522859"/>
                  </a:cubicBezTo>
                  <a:lnTo>
                    <a:pt x="6431280" y="2614041"/>
                  </a:lnTo>
                  <a:cubicBezTo>
                    <a:pt x="6431280" y="2902839"/>
                    <a:pt x="6197219" y="3136900"/>
                    <a:pt x="5908421" y="3136900"/>
                  </a:cubicBezTo>
                  <a:lnTo>
                    <a:pt x="522859" y="3136900"/>
                  </a:lnTo>
                  <a:cubicBezTo>
                    <a:pt x="234061" y="3136773"/>
                    <a:pt x="0" y="2902712"/>
                    <a:pt x="0" y="2614041"/>
                  </a:cubicBezTo>
                  <a:close/>
                </a:path>
              </a:pathLst>
            </a:custGeom>
            <a:solidFill>
              <a:srgbClr val="1E293B"/>
            </a:solidFill>
            <a:ln w="19065" cap="sq">
              <a:solidFill>
                <a:srgbClr val="3B82F6"/>
              </a:solidFill>
              <a:prstDash val="solid"/>
              <a:miter/>
            </a:ln>
          </p:spPr>
        </p:sp>
      </p:grpSp>
      <p:sp>
        <p:nvSpPr>
          <p:cNvPr name="TextBox 7" id="7"/>
          <p:cNvSpPr txBox="true"/>
          <p:nvPr/>
        </p:nvSpPr>
        <p:spPr>
          <a:xfrm rot="0">
            <a:off x="1285408" y="2189664"/>
            <a:ext cx="1272673" cy="8788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404"/>
              </a:lnSpc>
            </a:pPr>
            <a:r>
              <a:rPr lang="en-US" sz="4503">
                <a:solidFill>
                  <a:srgbClr val="F1F5F9"/>
                </a:solidFill>
                <a:latin typeface="Calibri (MS)"/>
                <a:ea typeface="Calibri (MS)"/>
                <a:cs typeface="Calibri (MS)"/>
                <a:sym typeface="Calibri (MS)"/>
              </a:rPr>
              <a:t>🐧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795349" y="2296392"/>
            <a:ext cx="2782614" cy="7034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2"/>
              </a:lnSpc>
            </a:pPr>
            <a:r>
              <a:rPr lang="en-US" sz="2251" b="true">
                <a:solidFill>
                  <a:srgbClr val="F1F5F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Ubuntu 22.04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2795349" y="3011300"/>
            <a:ext cx="2782614" cy="12239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Sistema operativo base</a:t>
            </a:r>
          </a:p>
        </p:txBody>
      </p:sp>
      <p:grpSp>
        <p:nvGrpSpPr>
          <p:cNvPr name="Group 10" id="10"/>
          <p:cNvGrpSpPr/>
          <p:nvPr/>
        </p:nvGrpSpPr>
        <p:grpSpPr>
          <a:xfrm rot="0">
            <a:off x="6647926" y="2049475"/>
            <a:ext cx="4823422" cy="2352608"/>
            <a:chOff x="0" y="0"/>
            <a:chExt cx="6431229" cy="3136811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6431280" cy="3136900"/>
            </a:xfrm>
            <a:custGeom>
              <a:avLst/>
              <a:gdLst/>
              <a:ahLst/>
              <a:cxnLst/>
              <a:rect r="r" b="b" t="t" l="l"/>
              <a:pathLst>
                <a:path h="3136900" w="6431280">
                  <a:moveTo>
                    <a:pt x="0" y="522859"/>
                  </a:moveTo>
                  <a:cubicBezTo>
                    <a:pt x="0" y="234061"/>
                    <a:pt x="234061" y="0"/>
                    <a:pt x="522859" y="0"/>
                  </a:cubicBezTo>
                  <a:lnTo>
                    <a:pt x="5908421" y="0"/>
                  </a:lnTo>
                  <a:cubicBezTo>
                    <a:pt x="6197219" y="0"/>
                    <a:pt x="6431280" y="234061"/>
                    <a:pt x="6431280" y="522859"/>
                  </a:cubicBezTo>
                  <a:lnTo>
                    <a:pt x="6431280" y="2614041"/>
                  </a:lnTo>
                  <a:cubicBezTo>
                    <a:pt x="6431280" y="2902839"/>
                    <a:pt x="6197219" y="3136900"/>
                    <a:pt x="5908421" y="3136900"/>
                  </a:cubicBezTo>
                  <a:lnTo>
                    <a:pt x="522859" y="3136900"/>
                  </a:lnTo>
                  <a:cubicBezTo>
                    <a:pt x="234061" y="3136773"/>
                    <a:pt x="0" y="2902712"/>
                    <a:pt x="0" y="2614041"/>
                  </a:cubicBezTo>
                  <a:close/>
                </a:path>
              </a:pathLst>
            </a:custGeom>
            <a:solidFill>
              <a:srgbClr val="1E293B"/>
            </a:solidFill>
            <a:ln w="19065" cap="sq">
              <a:solidFill>
                <a:srgbClr val="3B82F6"/>
              </a:solidFill>
              <a:prstDash val="solid"/>
              <a:miter/>
            </a:ln>
          </p:spPr>
        </p:sp>
      </p:grpSp>
      <p:sp>
        <p:nvSpPr>
          <p:cNvPr name="TextBox 12" id="12"/>
          <p:cNvSpPr txBox="true"/>
          <p:nvPr/>
        </p:nvSpPr>
        <p:spPr>
          <a:xfrm rot="0">
            <a:off x="6981996" y="2189664"/>
            <a:ext cx="1272673" cy="8788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404"/>
              </a:lnSpc>
            </a:pPr>
            <a:r>
              <a:rPr lang="en-US" sz="4503">
                <a:solidFill>
                  <a:srgbClr val="F1F5F9"/>
                </a:solidFill>
                <a:latin typeface="Calibri (MS)"/>
                <a:ea typeface="Calibri (MS)"/>
                <a:cs typeface="Calibri (MS)"/>
                <a:sym typeface="Calibri (MS)"/>
              </a:rPr>
              <a:t>🐳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8491938" y="2296392"/>
            <a:ext cx="2782614" cy="7034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2"/>
              </a:lnSpc>
            </a:pPr>
            <a:r>
              <a:rPr lang="en-US" sz="2251" b="true">
                <a:solidFill>
                  <a:srgbClr val="F1F5F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Docker + Compose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8491938" y="3011300"/>
            <a:ext cx="2782614" cy="12239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Containerización y orquestación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12344524" y="2049475"/>
            <a:ext cx="4823422" cy="2352608"/>
            <a:chOff x="0" y="0"/>
            <a:chExt cx="6431229" cy="3136811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6431280" cy="3136900"/>
            </a:xfrm>
            <a:custGeom>
              <a:avLst/>
              <a:gdLst/>
              <a:ahLst/>
              <a:cxnLst/>
              <a:rect r="r" b="b" t="t" l="l"/>
              <a:pathLst>
                <a:path h="3136900" w="6431280">
                  <a:moveTo>
                    <a:pt x="0" y="522859"/>
                  </a:moveTo>
                  <a:cubicBezTo>
                    <a:pt x="0" y="234061"/>
                    <a:pt x="234061" y="0"/>
                    <a:pt x="522859" y="0"/>
                  </a:cubicBezTo>
                  <a:lnTo>
                    <a:pt x="5908421" y="0"/>
                  </a:lnTo>
                  <a:cubicBezTo>
                    <a:pt x="6197219" y="0"/>
                    <a:pt x="6431280" y="234061"/>
                    <a:pt x="6431280" y="522859"/>
                  </a:cubicBezTo>
                  <a:lnTo>
                    <a:pt x="6431280" y="2614041"/>
                  </a:lnTo>
                  <a:cubicBezTo>
                    <a:pt x="6431280" y="2902839"/>
                    <a:pt x="6197219" y="3136900"/>
                    <a:pt x="5908421" y="3136900"/>
                  </a:cubicBezTo>
                  <a:lnTo>
                    <a:pt x="522859" y="3136900"/>
                  </a:lnTo>
                  <a:cubicBezTo>
                    <a:pt x="234061" y="3136773"/>
                    <a:pt x="0" y="2902712"/>
                    <a:pt x="0" y="2614041"/>
                  </a:cubicBezTo>
                  <a:close/>
                </a:path>
              </a:pathLst>
            </a:custGeom>
            <a:solidFill>
              <a:srgbClr val="1E293B"/>
            </a:solidFill>
            <a:ln w="19065" cap="sq">
              <a:solidFill>
                <a:srgbClr val="EC4899"/>
              </a:solidFill>
              <a:prstDash val="solid"/>
              <a:miter/>
            </a:ln>
          </p:spPr>
        </p:sp>
      </p:grpSp>
      <p:sp>
        <p:nvSpPr>
          <p:cNvPr name="TextBox 17" id="17"/>
          <p:cNvSpPr txBox="true"/>
          <p:nvPr/>
        </p:nvSpPr>
        <p:spPr>
          <a:xfrm rot="0">
            <a:off x="12678585" y="2189664"/>
            <a:ext cx="1272673" cy="8788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404"/>
              </a:lnSpc>
            </a:pPr>
            <a:r>
              <a:rPr lang="en-US" sz="4503">
                <a:solidFill>
                  <a:srgbClr val="F1F5F9"/>
                </a:solidFill>
                <a:latin typeface="Calibri (MS)"/>
                <a:ea typeface="Calibri (MS)"/>
                <a:cs typeface="Calibri (MS)"/>
                <a:sym typeface="Calibri (MS)"/>
              </a:rPr>
              <a:t>🪶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4188526" y="2296392"/>
            <a:ext cx="2782614" cy="7034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2"/>
              </a:lnSpc>
            </a:pPr>
            <a:r>
              <a:rPr lang="en-US" sz="2251" b="true">
                <a:solidFill>
                  <a:srgbClr val="F1F5F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Apache 2.4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4188526" y="3011300"/>
            <a:ext cx="2782614" cy="12239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Servidor web</a:t>
            </a:r>
          </a:p>
        </p:txBody>
      </p:sp>
      <p:grpSp>
        <p:nvGrpSpPr>
          <p:cNvPr name="Group 20" id="20"/>
          <p:cNvGrpSpPr/>
          <p:nvPr/>
        </p:nvGrpSpPr>
        <p:grpSpPr>
          <a:xfrm rot="0">
            <a:off x="951338" y="4794818"/>
            <a:ext cx="4823422" cy="2352608"/>
            <a:chOff x="0" y="0"/>
            <a:chExt cx="6431229" cy="3136811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6431280" cy="3136900"/>
            </a:xfrm>
            <a:custGeom>
              <a:avLst/>
              <a:gdLst/>
              <a:ahLst/>
              <a:cxnLst/>
              <a:rect r="r" b="b" t="t" l="l"/>
              <a:pathLst>
                <a:path h="3136900" w="6431280">
                  <a:moveTo>
                    <a:pt x="0" y="522859"/>
                  </a:moveTo>
                  <a:cubicBezTo>
                    <a:pt x="0" y="234061"/>
                    <a:pt x="234061" y="0"/>
                    <a:pt x="522859" y="0"/>
                  </a:cubicBezTo>
                  <a:lnTo>
                    <a:pt x="5908421" y="0"/>
                  </a:lnTo>
                  <a:cubicBezTo>
                    <a:pt x="6197219" y="0"/>
                    <a:pt x="6431280" y="234061"/>
                    <a:pt x="6431280" y="522859"/>
                  </a:cubicBezTo>
                  <a:lnTo>
                    <a:pt x="6431280" y="2614041"/>
                  </a:lnTo>
                  <a:cubicBezTo>
                    <a:pt x="6431280" y="2902839"/>
                    <a:pt x="6197219" y="3136900"/>
                    <a:pt x="5908421" y="3136900"/>
                  </a:cubicBezTo>
                  <a:lnTo>
                    <a:pt x="522859" y="3136900"/>
                  </a:lnTo>
                  <a:cubicBezTo>
                    <a:pt x="234061" y="3136773"/>
                    <a:pt x="0" y="2902712"/>
                    <a:pt x="0" y="2614041"/>
                  </a:cubicBezTo>
                  <a:close/>
                </a:path>
              </a:pathLst>
            </a:custGeom>
            <a:solidFill>
              <a:srgbClr val="1E293B"/>
            </a:solidFill>
            <a:ln w="19065" cap="sq">
              <a:solidFill>
                <a:srgbClr val="8B5CF6"/>
              </a:solidFill>
              <a:prstDash val="solid"/>
              <a:miter/>
            </a:ln>
          </p:spPr>
        </p:sp>
      </p:grpSp>
      <p:sp>
        <p:nvSpPr>
          <p:cNvPr name="TextBox 22" id="22"/>
          <p:cNvSpPr txBox="true"/>
          <p:nvPr/>
        </p:nvSpPr>
        <p:spPr>
          <a:xfrm rot="0">
            <a:off x="1285408" y="4935007"/>
            <a:ext cx="1272673" cy="8788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404"/>
              </a:lnSpc>
            </a:pPr>
            <a:r>
              <a:rPr lang="en-US" sz="4503">
                <a:solidFill>
                  <a:srgbClr val="F1F5F9"/>
                </a:solidFill>
                <a:latin typeface="Calibri (MS)"/>
                <a:ea typeface="Calibri (MS)"/>
                <a:cs typeface="Calibri (MS)"/>
                <a:sym typeface="Calibri (MS)"/>
              </a:rPr>
              <a:t>🐘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2795349" y="5041735"/>
            <a:ext cx="2782614" cy="7034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2"/>
              </a:lnSpc>
            </a:pPr>
            <a:r>
              <a:rPr lang="en-US" sz="2251" b="true">
                <a:solidFill>
                  <a:srgbClr val="F1F5F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PHP 8.2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2795349" y="5756653"/>
            <a:ext cx="2782614" cy="12239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Backend e-commerce</a:t>
            </a:r>
          </a:p>
        </p:txBody>
      </p:sp>
      <p:grpSp>
        <p:nvGrpSpPr>
          <p:cNvPr name="Group 25" id="25"/>
          <p:cNvGrpSpPr/>
          <p:nvPr/>
        </p:nvGrpSpPr>
        <p:grpSpPr>
          <a:xfrm rot="0">
            <a:off x="6647926" y="4794818"/>
            <a:ext cx="4823422" cy="2352608"/>
            <a:chOff x="0" y="0"/>
            <a:chExt cx="6431229" cy="3136811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6431280" cy="3136900"/>
            </a:xfrm>
            <a:custGeom>
              <a:avLst/>
              <a:gdLst/>
              <a:ahLst/>
              <a:cxnLst/>
              <a:rect r="r" b="b" t="t" l="l"/>
              <a:pathLst>
                <a:path h="3136900" w="6431280">
                  <a:moveTo>
                    <a:pt x="0" y="522859"/>
                  </a:moveTo>
                  <a:cubicBezTo>
                    <a:pt x="0" y="234061"/>
                    <a:pt x="234061" y="0"/>
                    <a:pt x="522859" y="0"/>
                  </a:cubicBezTo>
                  <a:lnTo>
                    <a:pt x="5908421" y="0"/>
                  </a:lnTo>
                  <a:cubicBezTo>
                    <a:pt x="6197219" y="0"/>
                    <a:pt x="6431280" y="234061"/>
                    <a:pt x="6431280" y="522859"/>
                  </a:cubicBezTo>
                  <a:lnTo>
                    <a:pt x="6431280" y="2614041"/>
                  </a:lnTo>
                  <a:cubicBezTo>
                    <a:pt x="6431280" y="2902839"/>
                    <a:pt x="6197219" y="3136900"/>
                    <a:pt x="5908421" y="3136900"/>
                  </a:cubicBezTo>
                  <a:lnTo>
                    <a:pt x="522859" y="3136900"/>
                  </a:lnTo>
                  <a:cubicBezTo>
                    <a:pt x="234061" y="3136773"/>
                    <a:pt x="0" y="2902712"/>
                    <a:pt x="0" y="2614041"/>
                  </a:cubicBezTo>
                  <a:close/>
                </a:path>
              </a:pathLst>
            </a:custGeom>
            <a:solidFill>
              <a:srgbClr val="1E293B"/>
            </a:solidFill>
            <a:ln w="19065" cap="sq">
              <a:solidFill>
                <a:srgbClr val="8B5CF6"/>
              </a:solidFill>
              <a:prstDash val="solid"/>
              <a:miter/>
            </a:ln>
          </p:spPr>
        </p:sp>
      </p:grpSp>
      <p:sp>
        <p:nvSpPr>
          <p:cNvPr name="TextBox 27" id="27"/>
          <p:cNvSpPr txBox="true"/>
          <p:nvPr/>
        </p:nvSpPr>
        <p:spPr>
          <a:xfrm rot="0">
            <a:off x="6981996" y="4935007"/>
            <a:ext cx="1272673" cy="8788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404"/>
              </a:lnSpc>
            </a:pPr>
            <a:r>
              <a:rPr lang="en-US" sz="4503">
                <a:solidFill>
                  <a:srgbClr val="F1F5F9"/>
                </a:solidFill>
                <a:latin typeface="Calibri (MS)"/>
                <a:ea typeface="Calibri (MS)"/>
                <a:cs typeface="Calibri (MS)"/>
                <a:sym typeface="Calibri (MS)"/>
              </a:rPr>
              <a:t>🗄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8491938" y="5041735"/>
            <a:ext cx="2782614" cy="7034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2"/>
              </a:lnSpc>
            </a:pPr>
            <a:r>
              <a:rPr lang="en-US" sz="2251" b="true">
                <a:solidFill>
                  <a:srgbClr val="F1F5F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MySQL 8.0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8491938" y="5756653"/>
            <a:ext cx="2782614" cy="12239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Base de datos persistente</a:t>
            </a:r>
          </a:p>
        </p:txBody>
      </p:sp>
      <p:grpSp>
        <p:nvGrpSpPr>
          <p:cNvPr name="Group 30" id="30"/>
          <p:cNvGrpSpPr/>
          <p:nvPr/>
        </p:nvGrpSpPr>
        <p:grpSpPr>
          <a:xfrm rot="0">
            <a:off x="12344524" y="4794818"/>
            <a:ext cx="4823422" cy="2352608"/>
            <a:chOff x="0" y="0"/>
            <a:chExt cx="6431229" cy="3136811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6431280" cy="3136900"/>
            </a:xfrm>
            <a:custGeom>
              <a:avLst/>
              <a:gdLst/>
              <a:ahLst/>
              <a:cxnLst/>
              <a:rect r="r" b="b" t="t" l="l"/>
              <a:pathLst>
                <a:path h="3136900" w="6431280">
                  <a:moveTo>
                    <a:pt x="0" y="522859"/>
                  </a:moveTo>
                  <a:cubicBezTo>
                    <a:pt x="0" y="234061"/>
                    <a:pt x="234061" y="0"/>
                    <a:pt x="522859" y="0"/>
                  </a:cubicBezTo>
                  <a:lnTo>
                    <a:pt x="5908421" y="0"/>
                  </a:lnTo>
                  <a:cubicBezTo>
                    <a:pt x="6197219" y="0"/>
                    <a:pt x="6431280" y="234061"/>
                    <a:pt x="6431280" y="522859"/>
                  </a:cubicBezTo>
                  <a:lnTo>
                    <a:pt x="6431280" y="2614041"/>
                  </a:lnTo>
                  <a:cubicBezTo>
                    <a:pt x="6431280" y="2902839"/>
                    <a:pt x="6197219" y="3136900"/>
                    <a:pt x="5908421" y="3136900"/>
                  </a:cubicBezTo>
                  <a:lnTo>
                    <a:pt x="522859" y="3136900"/>
                  </a:lnTo>
                  <a:cubicBezTo>
                    <a:pt x="234061" y="3136773"/>
                    <a:pt x="0" y="2902712"/>
                    <a:pt x="0" y="2614041"/>
                  </a:cubicBezTo>
                  <a:close/>
                </a:path>
              </a:pathLst>
            </a:custGeom>
            <a:solidFill>
              <a:srgbClr val="1E293B"/>
            </a:solidFill>
            <a:ln w="19065" cap="sq">
              <a:solidFill>
                <a:srgbClr val="10B981"/>
              </a:solidFill>
              <a:prstDash val="solid"/>
              <a:miter/>
            </a:ln>
          </p:spPr>
        </p:sp>
      </p:grpSp>
      <p:sp>
        <p:nvSpPr>
          <p:cNvPr name="TextBox 32" id="32"/>
          <p:cNvSpPr txBox="true"/>
          <p:nvPr/>
        </p:nvSpPr>
        <p:spPr>
          <a:xfrm rot="0">
            <a:off x="12678585" y="4935007"/>
            <a:ext cx="1272673" cy="8788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404"/>
              </a:lnSpc>
            </a:pPr>
            <a:r>
              <a:rPr lang="en-US" sz="4503">
                <a:solidFill>
                  <a:srgbClr val="F1F5F9"/>
                </a:solidFill>
                <a:latin typeface="Calibri (MS)"/>
                <a:ea typeface="Calibri (MS)"/>
                <a:cs typeface="Calibri (MS)"/>
                <a:sym typeface="Calibri (MS)"/>
              </a:rPr>
              <a:t>🐍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14188526" y="5041735"/>
            <a:ext cx="2782614" cy="7034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2"/>
              </a:lnSpc>
            </a:pPr>
            <a:r>
              <a:rPr lang="en-US" sz="2251" b="true">
                <a:solidFill>
                  <a:srgbClr val="F1F5F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Python 3.11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14188526" y="5756653"/>
            <a:ext cx="2782614" cy="12239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Daemon multihilo POSIX</a:t>
            </a:r>
          </a:p>
        </p:txBody>
      </p:sp>
      <p:grpSp>
        <p:nvGrpSpPr>
          <p:cNvPr name="Group 35" id="35"/>
          <p:cNvGrpSpPr/>
          <p:nvPr/>
        </p:nvGrpSpPr>
        <p:grpSpPr>
          <a:xfrm rot="0">
            <a:off x="951338" y="7540161"/>
            <a:ext cx="4823422" cy="2352608"/>
            <a:chOff x="0" y="0"/>
            <a:chExt cx="6431229" cy="3136811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6431280" cy="3136900"/>
            </a:xfrm>
            <a:custGeom>
              <a:avLst/>
              <a:gdLst/>
              <a:ahLst/>
              <a:cxnLst/>
              <a:rect r="r" b="b" t="t" l="l"/>
              <a:pathLst>
                <a:path h="3136900" w="6431280">
                  <a:moveTo>
                    <a:pt x="0" y="522859"/>
                  </a:moveTo>
                  <a:cubicBezTo>
                    <a:pt x="0" y="234061"/>
                    <a:pt x="234061" y="0"/>
                    <a:pt x="522859" y="0"/>
                  </a:cubicBezTo>
                  <a:lnTo>
                    <a:pt x="5908421" y="0"/>
                  </a:lnTo>
                  <a:cubicBezTo>
                    <a:pt x="6197219" y="0"/>
                    <a:pt x="6431280" y="234061"/>
                    <a:pt x="6431280" y="522859"/>
                  </a:cubicBezTo>
                  <a:lnTo>
                    <a:pt x="6431280" y="2614041"/>
                  </a:lnTo>
                  <a:cubicBezTo>
                    <a:pt x="6431280" y="2902839"/>
                    <a:pt x="6197219" y="3136900"/>
                    <a:pt x="5908421" y="3136900"/>
                  </a:cubicBezTo>
                  <a:lnTo>
                    <a:pt x="522859" y="3136900"/>
                  </a:lnTo>
                  <a:cubicBezTo>
                    <a:pt x="234061" y="3136773"/>
                    <a:pt x="0" y="2902712"/>
                    <a:pt x="0" y="2614041"/>
                  </a:cubicBezTo>
                  <a:close/>
                </a:path>
              </a:pathLst>
            </a:custGeom>
            <a:solidFill>
              <a:srgbClr val="1E293B"/>
            </a:solidFill>
            <a:ln w="19065" cap="sq">
              <a:solidFill>
                <a:srgbClr val="3B82F6"/>
              </a:solidFill>
              <a:prstDash val="solid"/>
              <a:miter/>
            </a:ln>
          </p:spPr>
        </p:sp>
      </p:grpSp>
      <p:sp>
        <p:nvSpPr>
          <p:cNvPr name="TextBox 37" id="37"/>
          <p:cNvSpPr txBox="true"/>
          <p:nvPr/>
        </p:nvSpPr>
        <p:spPr>
          <a:xfrm rot="0">
            <a:off x="1285408" y="7680350"/>
            <a:ext cx="1272673" cy="8788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404"/>
              </a:lnSpc>
            </a:pPr>
            <a:r>
              <a:rPr lang="en-US" sz="4503">
                <a:solidFill>
                  <a:srgbClr val="F1F5F9"/>
                </a:solidFill>
                <a:latin typeface="Calibri (MS)"/>
                <a:ea typeface="Calibri (MS)"/>
                <a:cs typeface="Calibri (MS)"/>
                <a:sym typeface="Calibri (MS)"/>
              </a:rPr>
              <a:t>🎨</a:t>
            </a:r>
          </a:p>
        </p:txBody>
      </p:sp>
      <p:sp>
        <p:nvSpPr>
          <p:cNvPr name="TextBox 38" id="38"/>
          <p:cNvSpPr txBox="true"/>
          <p:nvPr/>
        </p:nvSpPr>
        <p:spPr>
          <a:xfrm rot="0">
            <a:off x="2795349" y="7787078"/>
            <a:ext cx="2782614" cy="7034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2"/>
              </a:lnSpc>
            </a:pPr>
            <a:r>
              <a:rPr lang="en-US" sz="2251" b="true">
                <a:solidFill>
                  <a:srgbClr val="F1F5F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Bootstrap 5.3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2795349" y="8501996"/>
            <a:ext cx="2782614" cy="12239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Frontend responsive</a:t>
            </a:r>
          </a:p>
        </p:txBody>
      </p:sp>
      <p:grpSp>
        <p:nvGrpSpPr>
          <p:cNvPr name="Group 40" id="40"/>
          <p:cNvGrpSpPr/>
          <p:nvPr/>
        </p:nvGrpSpPr>
        <p:grpSpPr>
          <a:xfrm rot="0">
            <a:off x="6647926" y="7540161"/>
            <a:ext cx="4823422" cy="2352608"/>
            <a:chOff x="0" y="0"/>
            <a:chExt cx="6431229" cy="3136811"/>
          </a:xfrm>
        </p:grpSpPr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6431280" cy="3136900"/>
            </a:xfrm>
            <a:custGeom>
              <a:avLst/>
              <a:gdLst/>
              <a:ahLst/>
              <a:cxnLst/>
              <a:rect r="r" b="b" t="t" l="l"/>
              <a:pathLst>
                <a:path h="3136900" w="6431280">
                  <a:moveTo>
                    <a:pt x="0" y="522859"/>
                  </a:moveTo>
                  <a:cubicBezTo>
                    <a:pt x="0" y="234061"/>
                    <a:pt x="234061" y="0"/>
                    <a:pt x="522859" y="0"/>
                  </a:cubicBezTo>
                  <a:lnTo>
                    <a:pt x="5908421" y="0"/>
                  </a:lnTo>
                  <a:cubicBezTo>
                    <a:pt x="6197219" y="0"/>
                    <a:pt x="6431280" y="234061"/>
                    <a:pt x="6431280" y="522859"/>
                  </a:cubicBezTo>
                  <a:lnTo>
                    <a:pt x="6431280" y="2614041"/>
                  </a:lnTo>
                  <a:cubicBezTo>
                    <a:pt x="6431280" y="2902839"/>
                    <a:pt x="6197219" y="3136900"/>
                    <a:pt x="5908421" y="3136900"/>
                  </a:cubicBezTo>
                  <a:lnTo>
                    <a:pt x="522859" y="3136900"/>
                  </a:lnTo>
                  <a:cubicBezTo>
                    <a:pt x="234061" y="3136773"/>
                    <a:pt x="0" y="2902712"/>
                    <a:pt x="0" y="2614041"/>
                  </a:cubicBezTo>
                  <a:close/>
                </a:path>
              </a:pathLst>
            </a:custGeom>
            <a:solidFill>
              <a:srgbClr val="1E293B"/>
            </a:solidFill>
            <a:ln w="19065" cap="sq">
              <a:solidFill>
                <a:srgbClr val="F59E0B"/>
              </a:solidFill>
              <a:prstDash val="solid"/>
              <a:miter/>
            </a:ln>
          </p:spPr>
        </p:sp>
      </p:grpSp>
      <p:sp>
        <p:nvSpPr>
          <p:cNvPr name="TextBox 42" id="42"/>
          <p:cNvSpPr txBox="true"/>
          <p:nvPr/>
        </p:nvSpPr>
        <p:spPr>
          <a:xfrm rot="0">
            <a:off x="6981996" y="7680350"/>
            <a:ext cx="1272673" cy="8788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404"/>
              </a:lnSpc>
            </a:pPr>
            <a:r>
              <a:rPr lang="en-US" sz="4503">
                <a:solidFill>
                  <a:srgbClr val="F1F5F9"/>
                </a:solidFill>
                <a:latin typeface="Calibri (MS)"/>
                <a:ea typeface="Calibri (MS)"/>
                <a:cs typeface="Calibri (MS)"/>
                <a:sym typeface="Calibri (MS)"/>
              </a:rPr>
              <a:t>☁</a:t>
            </a:r>
          </a:p>
        </p:txBody>
      </p:sp>
      <p:sp>
        <p:nvSpPr>
          <p:cNvPr name="TextBox 43" id="43"/>
          <p:cNvSpPr txBox="true"/>
          <p:nvPr/>
        </p:nvSpPr>
        <p:spPr>
          <a:xfrm rot="0">
            <a:off x="8491938" y="7787078"/>
            <a:ext cx="2782614" cy="7034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2"/>
              </a:lnSpc>
            </a:pPr>
            <a:r>
              <a:rPr lang="en-US" sz="2251" b="true">
                <a:solidFill>
                  <a:srgbClr val="F1F5F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AWS EC2</a:t>
            </a:r>
          </a:p>
        </p:txBody>
      </p:sp>
      <p:sp>
        <p:nvSpPr>
          <p:cNvPr name="TextBox 44" id="44"/>
          <p:cNvSpPr txBox="true"/>
          <p:nvPr/>
        </p:nvSpPr>
        <p:spPr>
          <a:xfrm rot="0">
            <a:off x="8491938" y="8501996"/>
            <a:ext cx="2782614" cy="12239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Cloud hosting (Free Tier)</a:t>
            </a:r>
          </a:p>
        </p:txBody>
      </p:sp>
      <p:grpSp>
        <p:nvGrpSpPr>
          <p:cNvPr name="Group 45" id="45"/>
          <p:cNvGrpSpPr/>
          <p:nvPr/>
        </p:nvGrpSpPr>
        <p:grpSpPr>
          <a:xfrm rot="0">
            <a:off x="12344524" y="7540161"/>
            <a:ext cx="4823422" cy="2352608"/>
            <a:chOff x="0" y="0"/>
            <a:chExt cx="6431229" cy="3136811"/>
          </a:xfrm>
        </p:grpSpPr>
        <p:sp>
          <p:nvSpPr>
            <p:cNvPr name="Freeform 46" id="46"/>
            <p:cNvSpPr/>
            <p:nvPr/>
          </p:nvSpPr>
          <p:spPr>
            <a:xfrm flipH="false" flipV="false" rot="0">
              <a:off x="0" y="0"/>
              <a:ext cx="6431280" cy="3136900"/>
            </a:xfrm>
            <a:custGeom>
              <a:avLst/>
              <a:gdLst/>
              <a:ahLst/>
              <a:cxnLst/>
              <a:rect r="r" b="b" t="t" l="l"/>
              <a:pathLst>
                <a:path h="3136900" w="6431280">
                  <a:moveTo>
                    <a:pt x="0" y="522859"/>
                  </a:moveTo>
                  <a:cubicBezTo>
                    <a:pt x="0" y="234061"/>
                    <a:pt x="234061" y="0"/>
                    <a:pt x="522859" y="0"/>
                  </a:cubicBezTo>
                  <a:lnTo>
                    <a:pt x="5908421" y="0"/>
                  </a:lnTo>
                  <a:cubicBezTo>
                    <a:pt x="6197219" y="0"/>
                    <a:pt x="6431280" y="234061"/>
                    <a:pt x="6431280" y="522859"/>
                  </a:cubicBezTo>
                  <a:lnTo>
                    <a:pt x="6431280" y="2614041"/>
                  </a:lnTo>
                  <a:cubicBezTo>
                    <a:pt x="6431280" y="2902839"/>
                    <a:pt x="6197219" y="3136900"/>
                    <a:pt x="5908421" y="3136900"/>
                  </a:cubicBezTo>
                  <a:lnTo>
                    <a:pt x="522859" y="3136900"/>
                  </a:lnTo>
                  <a:cubicBezTo>
                    <a:pt x="234061" y="3136773"/>
                    <a:pt x="0" y="2902712"/>
                    <a:pt x="0" y="2614041"/>
                  </a:cubicBezTo>
                  <a:close/>
                </a:path>
              </a:pathLst>
            </a:custGeom>
            <a:solidFill>
              <a:srgbClr val="1E293B"/>
            </a:solidFill>
            <a:ln w="19065" cap="sq">
              <a:solidFill>
                <a:srgbClr val="94A3B8"/>
              </a:solidFill>
              <a:prstDash val="solid"/>
              <a:miter/>
            </a:ln>
          </p:spPr>
        </p:sp>
      </p:grpSp>
      <p:sp>
        <p:nvSpPr>
          <p:cNvPr name="TextBox 47" id="47"/>
          <p:cNvSpPr txBox="true"/>
          <p:nvPr/>
        </p:nvSpPr>
        <p:spPr>
          <a:xfrm rot="0">
            <a:off x="12678585" y="7680350"/>
            <a:ext cx="1272673" cy="8788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404"/>
              </a:lnSpc>
            </a:pPr>
            <a:r>
              <a:rPr lang="en-US" sz="4503">
                <a:solidFill>
                  <a:srgbClr val="F1F5F9"/>
                </a:solidFill>
                <a:latin typeface="Calibri (MS)"/>
                <a:ea typeface="Calibri (MS)"/>
                <a:cs typeface="Calibri (MS)"/>
                <a:sym typeface="Calibri (MS)"/>
              </a:rPr>
              <a:t>🐙</a:t>
            </a:r>
          </a:p>
        </p:txBody>
      </p:sp>
      <p:sp>
        <p:nvSpPr>
          <p:cNvPr name="TextBox 48" id="48"/>
          <p:cNvSpPr txBox="true"/>
          <p:nvPr/>
        </p:nvSpPr>
        <p:spPr>
          <a:xfrm rot="0">
            <a:off x="14188526" y="7787078"/>
            <a:ext cx="2782614" cy="7034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2"/>
              </a:lnSpc>
            </a:pPr>
            <a:r>
              <a:rPr lang="en-US" sz="2251" b="true">
                <a:solidFill>
                  <a:srgbClr val="F1F5F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GitHub</a:t>
            </a:r>
          </a:p>
        </p:txBody>
      </p:sp>
      <p:sp>
        <p:nvSpPr>
          <p:cNvPr name="TextBox 49" id="49"/>
          <p:cNvSpPr txBox="true"/>
          <p:nvPr/>
        </p:nvSpPr>
        <p:spPr>
          <a:xfrm rot="0">
            <a:off x="14188526" y="8501996"/>
            <a:ext cx="2782614" cy="12239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Versionado público</a:t>
            </a:r>
          </a:p>
        </p:txBody>
      </p:sp>
      <p:sp>
        <p:nvSpPr>
          <p:cNvPr name="TextBox 50" id="50"/>
          <p:cNvSpPr txBox="true"/>
          <p:nvPr/>
        </p:nvSpPr>
        <p:spPr>
          <a:xfrm rot="0">
            <a:off x="599065" y="9659236"/>
            <a:ext cx="10881379" cy="5471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1"/>
              </a:lnSpc>
            </a:pPr>
            <a:r>
              <a:rPr lang="en-US" sz="150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SysMarket v2 · Sistemas Operativos USIL · Grupo 01</a:t>
            </a:r>
          </a:p>
        </p:txBody>
      </p:sp>
      <p:sp>
        <p:nvSpPr>
          <p:cNvPr name="TextBox 51" id="51"/>
          <p:cNvSpPr txBox="true"/>
          <p:nvPr/>
        </p:nvSpPr>
        <p:spPr>
          <a:xfrm rot="0">
            <a:off x="16522065" y="9659236"/>
            <a:ext cx="1272673" cy="5471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01"/>
              </a:lnSpc>
            </a:pPr>
            <a:r>
              <a:rPr lang="en-US" sz="150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5/18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97725" cy="10295039"/>
            <a:chOff x="0" y="0"/>
            <a:chExt cx="24396967" cy="1372671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96954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24396954">
                  <a:moveTo>
                    <a:pt x="0" y="0"/>
                  </a:moveTo>
                  <a:lnTo>
                    <a:pt x="24396954" y="0"/>
                  </a:lnTo>
                  <a:lnTo>
                    <a:pt x="2439695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0F172A"/>
            </a:solidFill>
          </p:spPr>
        </p:sp>
      </p:grpSp>
      <p:sp>
        <p:nvSpPr>
          <p:cNvPr name="TextBox 4" id="4"/>
          <p:cNvSpPr txBox="true"/>
          <p:nvPr/>
        </p:nvSpPr>
        <p:spPr>
          <a:xfrm rot="0">
            <a:off x="1010869" y="592036"/>
            <a:ext cx="16372065" cy="8979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485"/>
              </a:lnSpc>
            </a:pPr>
            <a:r>
              <a:rPr lang="en-US" sz="5404" b="true">
                <a:solidFill>
                  <a:srgbClr val="3B82F6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Conceptos de SO aplicados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10869" y="1550946"/>
            <a:ext cx="16372065" cy="55669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1"/>
              </a:lnSpc>
            </a:pPr>
            <a:r>
              <a:rPr lang="en-US" sz="1951" i="true">
                <a:solidFill>
                  <a:srgbClr val="94A3B8"/>
                </a:solidFill>
                <a:latin typeface="Calibri (MS) Italics"/>
                <a:ea typeface="Calibri (MS) Italics"/>
                <a:cs typeface="Calibri (MS) Italics"/>
                <a:sym typeface="Calibri (MS) Italics"/>
              </a:rPr>
              <a:t>Cumplimiento de aspectos técnicos del Anexo 03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951338" y="2461279"/>
            <a:ext cx="7980569" cy="2764412"/>
            <a:chOff x="0" y="0"/>
            <a:chExt cx="10640758" cy="3685883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0640695" cy="3685794"/>
            </a:xfrm>
            <a:custGeom>
              <a:avLst/>
              <a:gdLst/>
              <a:ahLst/>
              <a:cxnLst/>
              <a:rect r="r" b="b" t="t" l="l"/>
              <a:pathLst>
                <a:path h="3685794" w="10640695">
                  <a:moveTo>
                    <a:pt x="0" y="614299"/>
                  </a:moveTo>
                  <a:cubicBezTo>
                    <a:pt x="0" y="275082"/>
                    <a:pt x="275082" y="0"/>
                    <a:pt x="614299" y="0"/>
                  </a:cubicBezTo>
                  <a:lnTo>
                    <a:pt x="10026396" y="0"/>
                  </a:lnTo>
                  <a:cubicBezTo>
                    <a:pt x="10365739" y="0"/>
                    <a:pt x="10640695" y="275082"/>
                    <a:pt x="10640695" y="614299"/>
                  </a:cubicBezTo>
                  <a:lnTo>
                    <a:pt x="10640695" y="3071495"/>
                  </a:lnTo>
                  <a:cubicBezTo>
                    <a:pt x="10640695" y="3410839"/>
                    <a:pt x="10365613" y="3685794"/>
                    <a:pt x="10026396" y="3685794"/>
                  </a:cubicBezTo>
                  <a:lnTo>
                    <a:pt x="614299" y="3685794"/>
                  </a:lnTo>
                  <a:cubicBezTo>
                    <a:pt x="275082" y="3685921"/>
                    <a:pt x="0" y="3410839"/>
                    <a:pt x="0" y="3071495"/>
                  </a:cubicBezTo>
                  <a:close/>
                </a:path>
              </a:pathLst>
            </a:custGeom>
            <a:solidFill>
              <a:srgbClr val="1E293B"/>
            </a:solidFill>
            <a:ln w="19065" cap="sq">
              <a:solidFill>
                <a:srgbClr val="10B981"/>
              </a:solidFill>
              <a:prstDash val="solid"/>
              <a:miter/>
            </a:ln>
          </p:spPr>
        </p:sp>
      </p:grpSp>
      <p:sp>
        <p:nvSpPr>
          <p:cNvPr name="TextBox 8" id="8"/>
          <p:cNvSpPr txBox="true"/>
          <p:nvPr/>
        </p:nvSpPr>
        <p:spPr>
          <a:xfrm rot="0">
            <a:off x="1285408" y="2649083"/>
            <a:ext cx="7312428" cy="62532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62"/>
              </a:lnSpc>
            </a:pPr>
            <a:r>
              <a:rPr lang="en-US" sz="2551" b="true">
                <a:solidFill>
                  <a:srgbClr val="10B981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Procesos y Hilos POSIX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285408" y="3413579"/>
            <a:ext cx="7312428" cy="6844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F1F5F9"/>
                </a:solidFill>
                <a:latin typeface="Consolas"/>
                <a:ea typeface="Consolas"/>
                <a:cs typeface="Consolas"/>
                <a:sym typeface="Consolas"/>
              </a:rPr>
              <a:t>5 hilos en monitor.py con threading.Thread()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285408" y="4246712"/>
            <a:ext cx="7312428" cy="6749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 i="true">
                <a:solidFill>
                  <a:srgbClr val="94A3B8"/>
                </a:solidFill>
                <a:latin typeface="Calibri (MS) Italics"/>
                <a:ea typeface="Calibri (MS) Italics"/>
                <a:cs typeface="Calibri (MS) Italics"/>
                <a:sym typeface="Calibri (MS) Italics"/>
              </a:rPr>
              <a:t>pthread_create() vía NPTL</a:t>
            </a:r>
          </a:p>
        </p:txBody>
      </p:sp>
      <p:grpSp>
        <p:nvGrpSpPr>
          <p:cNvPr name="Group 11" id="11"/>
          <p:cNvGrpSpPr/>
          <p:nvPr/>
        </p:nvGrpSpPr>
        <p:grpSpPr>
          <a:xfrm rot="0">
            <a:off x="9393269" y="2461279"/>
            <a:ext cx="7980569" cy="2764412"/>
            <a:chOff x="0" y="0"/>
            <a:chExt cx="10640758" cy="3685883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0640695" cy="3685794"/>
            </a:xfrm>
            <a:custGeom>
              <a:avLst/>
              <a:gdLst/>
              <a:ahLst/>
              <a:cxnLst/>
              <a:rect r="r" b="b" t="t" l="l"/>
              <a:pathLst>
                <a:path h="3685794" w="10640695">
                  <a:moveTo>
                    <a:pt x="0" y="614299"/>
                  </a:moveTo>
                  <a:cubicBezTo>
                    <a:pt x="0" y="275082"/>
                    <a:pt x="275082" y="0"/>
                    <a:pt x="614299" y="0"/>
                  </a:cubicBezTo>
                  <a:lnTo>
                    <a:pt x="10026396" y="0"/>
                  </a:lnTo>
                  <a:cubicBezTo>
                    <a:pt x="10365739" y="0"/>
                    <a:pt x="10640695" y="275082"/>
                    <a:pt x="10640695" y="614299"/>
                  </a:cubicBezTo>
                  <a:lnTo>
                    <a:pt x="10640695" y="3071495"/>
                  </a:lnTo>
                  <a:cubicBezTo>
                    <a:pt x="10640695" y="3410839"/>
                    <a:pt x="10365613" y="3685794"/>
                    <a:pt x="10026396" y="3685794"/>
                  </a:cubicBezTo>
                  <a:lnTo>
                    <a:pt x="614299" y="3685794"/>
                  </a:lnTo>
                  <a:cubicBezTo>
                    <a:pt x="275082" y="3685921"/>
                    <a:pt x="0" y="3410839"/>
                    <a:pt x="0" y="3071495"/>
                  </a:cubicBezTo>
                  <a:close/>
                </a:path>
              </a:pathLst>
            </a:custGeom>
            <a:solidFill>
              <a:srgbClr val="1E293B"/>
            </a:solidFill>
            <a:ln w="19065" cap="sq">
              <a:solidFill>
                <a:srgbClr val="EC4899"/>
              </a:solidFill>
              <a:prstDash val="solid"/>
              <a:miter/>
            </a:ln>
          </p:spPr>
        </p:sp>
      </p:grpSp>
      <p:sp>
        <p:nvSpPr>
          <p:cNvPr name="TextBox 13" id="13"/>
          <p:cNvSpPr txBox="true"/>
          <p:nvPr/>
        </p:nvSpPr>
        <p:spPr>
          <a:xfrm rot="0">
            <a:off x="9727340" y="2649083"/>
            <a:ext cx="7312428" cy="62532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62"/>
              </a:lnSpc>
            </a:pPr>
            <a:r>
              <a:rPr lang="en-US" sz="2551" b="true">
                <a:solidFill>
                  <a:srgbClr val="EC489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Sincronización (mutex)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9727340" y="3413579"/>
            <a:ext cx="7312428" cy="6844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F1F5F9"/>
                </a:solidFill>
                <a:latin typeface="Consolas"/>
                <a:ea typeface="Consolas"/>
                <a:cs typeface="Consolas"/>
                <a:sym typeface="Consolas"/>
              </a:rPr>
              <a:t>threading.Lock() en sección crítica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9727340" y="4246712"/>
            <a:ext cx="7312428" cy="6749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 i="true">
                <a:solidFill>
                  <a:srgbClr val="94A3B8"/>
                </a:solidFill>
                <a:latin typeface="Calibri (MS) Italics"/>
                <a:ea typeface="Calibri (MS) Italics"/>
                <a:cs typeface="Calibri (MS) Italics"/>
                <a:sym typeface="Calibri (MS) Italics"/>
              </a:rPr>
              <a:t>Evita race conditions</a:t>
            </a:r>
          </a:p>
        </p:txBody>
      </p:sp>
      <p:grpSp>
        <p:nvGrpSpPr>
          <p:cNvPr name="Group 16" id="16"/>
          <p:cNvGrpSpPr/>
          <p:nvPr/>
        </p:nvGrpSpPr>
        <p:grpSpPr>
          <a:xfrm rot="0">
            <a:off x="951338" y="5481161"/>
            <a:ext cx="7980569" cy="2764412"/>
            <a:chOff x="0" y="0"/>
            <a:chExt cx="10640758" cy="3685883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0640695" cy="3685794"/>
            </a:xfrm>
            <a:custGeom>
              <a:avLst/>
              <a:gdLst/>
              <a:ahLst/>
              <a:cxnLst/>
              <a:rect r="r" b="b" t="t" l="l"/>
              <a:pathLst>
                <a:path h="3685794" w="10640695">
                  <a:moveTo>
                    <a:pt x="0" y="614299"/>
                  </a:moveTo>
                  <a:cubicBezTo>
                    <a:pt x="0" y="275082"/>
                    <a:pt x="275082" y="0"/>
                    <a:pt x="614299" y="0"/>
                  </a:cubicBezTo>
                  <a:lnTo>
                    <a:pt x="10026396" y="0"/>
                  </a:lnTo>
                  <a:cubicBezTo>
                    <a:pt x="10365739" y="0"/>
                    <a:pt x="10640695" y="275082"/>
                    <a:pt x="10640695" y="614299"/>
                  </a:cubicBezTo>
                  <a:lnTo>
                    <a:pt x="10640695" y="3071495"/>
                  </a:lnTo>
                  <a:cubicBezTo>
                    <a:pt x="10640695" y="3410839"/>
                    <a:pt x="10365613" y="3685794"/>
                    <a:pt x="10026396" y="3685794"/>
                  </a:cubicBezTo>
                  <a:lnTo>
                    <a:pt x="614299" y="3685794"/>
                  </a:lnTo>
                  <a:cubicBezTo>
                    <a:pt x="275082" y="3685921"/>
                    <a:pt x="0" y="3410839"/>
                    <a:pt x="0" y="3071495"/>
                  </a:cubicBezTo>
                  <a:close/>
                </a:path>
              </a:pathLst>
            </a:custGeom>
            <a:solidFill>
              <a:srgbClr val="1E293B"/>
            </a:solidFill>
            <a:ln w="19065" cap="sq">
              <a:solidFill>
                <a:srgbClr val="F59E0B"/>
              </a:solidFill>
              <a:prstDash val="solid"/>
              <a:miter/>
            </a:ln>
          </p:spPr>
        </p:sp>
      </p:grpSp>
      <p:sp>
        <p:nvSpPr>
          <p:cNvPr name="TextBox 18" id="18"/>
          <p:cNvSpPr txBox="true"/>
          <p:nvPr/>
        </p:nvSpPr>
        <p:spPr>
          <a:xfrm rot="0">
            <a:off x="1285408" y="5668966"/>
            <a:ext cx="7312428" cy="62532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62"/>
              </a:lnSpc>
            </a:pPr>
            <a:r>
              <a:rPr lang="en-US" sz="2551" b="true">
                <a:solidFill>
                  <a:srgbClr val="F59E0B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/proc — kernel virtual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285408" y="6433461"/>
            <a:ext cx="7312428" cy="6844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F1F5F9"/>
                </a:solidFill>
                <a:latin typeface="Consolas"/>
                <a:ea typeface="Consolas"/>
                <a:cs typeface="Consolas"/>
                <a:sym typeface="Consolas"/>
              </a:rPr>
              <a:t>/proc/stat, /proc/meminfo, /proc/[pid]/status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285408" y="7266584"/>
            <a:ext cx="7312428" cy="6749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 i="true">
                <a:solidFill>
                  <a:srgbClr val="94A3B8"/>
                </a:solidFill>
                <a:latin typeface="Calibri (MS) Italics"/>
                <a:ea typeface="Calibri (MS) Italics"/>
                <a:cs typeface="Calibri (MS) Italics"/>
                <a:sym typeface="Calibri (MS) Italics"/>
              </a:rPr>
              <a:t>Sin penalización I/O real</a:t>
            </a:r>
          </a:p>
        </p:txBody>
      </p:sp>
      <p:grpSp>
        <p:nvGrpSpPr>
          <p:cNvPr name="Group 21" id="21"/>
          <p:cNvGrpSpPr/>
          <p:nvPr/>
        </p:nvGrpSpPr>
        <p:grpSpPr>
          <a:xfrm rot="0">
            <a:off x="9393269" y="5481161"/>
            <a:ext cx="7980569" cy="2764412"/>
            <a:chOff x="0" y="0"/>
            <a:chExt cx="10640758" cy="3685883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10640695" cy="3685794"/>
            </a:xfrm>
            <a:custGeom>
              <a:avLst/>
              <a:gdLst/>
              <a:ahLst/>
              <a:cxnLst/>
              <a:rect r="r" b="b" t="t" l="l"/>
              <a:pathLst>
                <a:path h="3685794" w="10640695">
                  <a:moveTo>
                    <a:pt x="0" y="614299"/>
                  </a:moveTo>
                  <a:cubicBezTo>
                    <a:pt x="0" y="275082"/>
                    <a:pt x="275082" y="0"/>
                    <a:pt x="614299" y="0"/>
                  </a:cubicBezTo>
                  <a:lnTo>
                    <a:pt x="10026396" y="0"/>
                  </a:lnTo>
                  <a:cubicBezTo>
                    <a:pt x="10365739" y="0"/>
                    <a:pt x="10640695" y="275082"/>
                    <a:pt x="10640695" y="614299"/>
                  </a:cubicBezTo>
                  <a:lnTo>
                    <a:pt x="10640695" y="3071495"/>
                  </a:lnTo>
                  <a:cubicBezTo>
                    <a:pt x="10640695" y="3410839"/>
                    <a:pt x="10365613" y="3685794"/>
                    <a:pt x="10026396" y="3685794"/>
                  </a:cubicBezTo>
                  <a:lnTo>
                    <a:pt x="614299" y="3685794"/>
                  </a:lnTo>
                  <a:cubicBezTo>
                    <a:pt x="275082" y="3685921"/>
                    <a:pt x="0" y="3410839"/>
                    <a:pt x="0" y="3071495"/>
                  </a:cubicBezTo>
                  <a:close/>
                </a:path>
              </a:pathLst>
            </a:custGeom>
            <a:solidFill>
              <a:srgbClr val="1E293B"/>
            </a:solidFill>
            <a:ln w="19065" cap="sq">
              <a:solidFill>
                <a:srgbClr val="3B82F6"/>
              </a:solidFill>
              <a:prstDash val="solid"/>
              <a:miter/>
            </a:ln>
          </p:spPr>
        </p:sp>
      </p:grpSp>
      <p:sp>
        <p:nvSpPr>
          <p:cNvPr name="TextBox 23" id="23"/>
          <p:cNvSpPr txBox="true"/>
          <p:nvPr/>
        </p:nvSpPr>
        <p:spPr>
          <a:xfrm rot="0">
            <a:off x="9727340" y="5668966"/>
            <a:ext cx="7312428" cy="62532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62"/>
              </a:lnSpc>
            </a:pPr>
            <a:r>
              <a:rPr lang="en-US" sz="2551" b="true">
                <a:solidFill>
                  <a:srgbClr val="3B82F6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Syscall statvfs()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9727340" y="6433461"/>
            <a:ext cx="7312428" cy="6844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F1F5F9"/>
                </a:solidFill>
                <a:latin typeface="Consolas"/>
                <a:ea typeface="Consolas"/>
                <a:cs typeface="Consolas"/>
                <a:sym typeface="Consolas"/>
              </a:rPr>
              <a:t>os.statvfs('/') para uso de disco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9727340" y="7266584"/>
            <a:ext cx="7312428" cy="6749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 i="true">
                <a:solidFill>
                  <a:srgbClr val="94A3B8"/>
                </a:solidFill>
                <a:latin typeface="Calibri (MS) Italics"/>
                <a:ea typeface="Calibri (MS) Italics"/>
                <a:cs typeface="Calibri (MS) Italics"/>
                <a:sym typeface="Calibri (MS) Italics"/>
              </a:rPr>
              <a:t>Modo kernel ↔ usuario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599065" y="9659236"/>
            <a:ext cx="10881379" cy="5471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1"/>
              </a:lnSpc>
            </a:pPr>
            <a:r>
              <a:rPr lang="en-US" sz="150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SysMarket v2 · Sistemas Operativos USIL · Grupo 01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16522065" y="9659236"/>
            <a:ext cx="1272673" cy="5471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01"/>
              </a:lnSpc>
            </a:pPr>
            <a:r>
              <a:rPr lang="en-US" sz="150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6/18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97725" cy="10295039"/>
            <a:chOff x="0" y="0"/>
            <a:chExt cx="24396967" cy="1372671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96954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24396954">
                  <a:moveTo>
                    <a:pt x="0" y="0"/>
                  </a:moveTo>
                  <a:lnTo>
                    <a:pt x="24396954" y="0"/>
                  </a:lnTo>
                  <a:lnTo>
                    <a:pt x="2439695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0F172A"/>
            </a:solidFill>
          </p:spPr>
        </p:sp>
      </p:grpSp>
      <p:sp>
        <p:nvSpPr>
          <p:cNvPr name="TextBox 4" id="4"/>
          <p:cNvSpPr txBox="true"/>
          <p:nvPr/>
        </p:nvSpPr>
        <p:spPr>
          <a:xfrm rot="0">
            <a:off x="1010869" y="620611"/>
            <a:ext cx="16372065" cy="8693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764"/>
              </a:lnSpc>
            </a:pPr>
            <a:r>
              <a:rPr lang="en-US" sz="4803" b="true">
                <a:solidFill>
                  <a:srgbClr val="3B82F6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Implementación del Monitor SO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10869" y="1482319"/>
            <a:ext cx="16372065" cy="55669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1"/>
              </a:lnSpc>
            </a:pPr>
            <a:r>
              <a:rPr lang="en-US" sz="1951" i="true">
                <a:solidFill>
                  <a:srgbClr val="94A3B8"/>
                </a:solidFill>
                <a:latin typeface="Calibri (MS) Italics"/>
                <a:ea typeface="Calibri (MS) Italics"/>
                <a:cs typeface="Calibri (MS) Italics"/>
                <a:sym typeface="Calibri (MS) Italics"/>
              </a:rPr>
              <a:t>Núcleo de monitor.py con hilos POSIX y mutex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951338" y="2461279"/>
            <a:ext cx="16491137" cy="6882432"/>
            <a:chOff x="0" y="0"/>
            <a:chExt cx="21988183" cy="9176576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1988146" cy="9176512"/>
            </a:xfrm>
            <a:custGeom>
              <a:avLst/>
              <a:gdLst/>
              <a:ahLst/>
              <a:cxnLst/>
              <a:rect r="r" b="b" t="t" l="l"/>
              <a:pathLst>
                <a:path h="9176512" w="21988146">
                  <a:moveTo>
                    <a:pt x="0" y="1529461"/>
                  </a:moveTo>
                  <a:cubicBezTo>
                    <a:pt x="0" y="684784"/>
                    <a:pt x="684784" y="0"/>
                    <a:pt x="1529461" y="0"/>
                  </a:cubicBezTo>
                  <a:lnTo>
                    <a:pt x="20458685" y="0"/>
                  </a:lnTo>
                  <a:cubicBezTo>
                    <a:pt x="21303362" y="0"/>
                    <a:pt x="21988146" y="684784"/>
                    <a:pt x="21988146" y="1529461"/>
                  </a:cubicBezTo>
                  <a:lnTo>
                    <a:pt x="21988146" y="7647051"/>
                  </a:lnTo>
                  <a:cubicBezTo>
                    <a:pt x="21988146" y="8491728"/>
                    <a:pt x="21303362" y="9176512"/>
                    <a:pt x="20458685" y="9176512"/>
                  </a:cubicBezTo>
                  <a:lnTo>
                    <a:pt x="1529461" y="9176512"/>
                  </a:lnTo>
                  <a:cubicBezTo>
                    <a:pt x="684784" y="9176512"/>
                    <a:pt x="0" y="8491855"/>
                    <a:pt x="0" y="7647051"/>
                  </a:cubicBezTo>
                  <a:close/>
                </a:path>
              </a:pathLst>
            </a:custGeom>
            <a:solidFill>
              <a:srgbClr val="050812"/>
            </a:solidFill>
            <a:ln w="19065" cap="sq">
              <a:solidFill>
                <a:srgbClr val="1E293B"/>
              </a:solidFill>
              <a:prstDash val="solid"/>
              <a:miter/>
            </a:ln>
          </p:spPr>
        </p:sp>
      </p:grpSp>
      <p:sp>
        <p:nvSpPr>
          <p:cNvPr name="TextBox 8" id="8"/>
          <p:cNvSpPr txBox="true"/>
          <p:nvPr/>
        </p:nvSpPr>
        <p:spPr>
          <a:xfrm rot="0">
            <a:off x="1326842" y="2762488"/>
            <a:ext cx="15740120" cy="63886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>
                <a:solidFill>
                  <a:srgbClr val="A5F3FC"/>
                </a:solidFill>
                <a:latin typeface="Consolas"/>
                <a:ea typeface="Consolas"/>
                <a:cs typeface="Consolas"/>
                <a:sym typeface="Consolas"/>
              </a:rPr>
              <a:t>import threading, time, os</a:t>
            </a:r>
          </a:p>
          <a:p>
            <a:pPr algn="l">
              <a:lnSpc>
                <a:spcPts val="1981"/>
              </a:lnSpc>
            </a:pPr>
          </a:p>
          <a:p>
            <a:pPr algn="l">
              <a:lnSpc>
                <a:spcPts val="1981"/>
              </a:lnSpc>
            </a:pPr>
            <a:r>
              <a:rPr lang="en-US" sz="1651">
                <a:solidFill>
                  <a:srgbClr val="A5F3FC"/>
                </a:solidFill>
                <a:latin typeface="Consolas"/>
                <a:ea typeface="Consolas"/>
                <a:cs typeface="Consolas"/>
                <a:sym typeface="Consolas"/>
              </a:rPr>
              <a:t>metrics = {}</a:t>
            </a:r>
          </a:p>
          <a:p>
            <a:pPr algn="l">
              <a:lnSpc>
                <a:spcPts val="1981"/>
              </a:lnSpc>
            </a:pPr>
            <a:r>
              <a:rPr lang="en-US" sz="1651">
                <a:solidFill>
                  <a:srgbClr val="A5F3FC"/>
                </a:solidFill>
                <a:latin typeface="Consolas"/>
                <a:ea typeface="Consolas"/>
                <a:cs typeface="Consolas"/>
                <a:sym typeface="Consolas"/>
              </a:rPr>
              <a:t>metrics_lock = threading.Lock()      # ⚙ MUTEX POSIX</a:t>
            </a:r>
          </a:p>
          <a:p>
            <a:pPr algn="l">
              <a:lnSpc>
                <a:spcPts val="1981"/>
              </a:lnSpc>
            </a:pPr>
          </a:p>
          <a:p>
            <a:pPr algn="l">
              <a:lnSpc>
                <a:spcPts val="1981"/>
              </a:lnSpc>
            </a:pPr>
            <a:r>
              <a:rPr lang="en-US" sz="1651">
                <a:solidFill>
                  <a:srgbClr val="A5F3FC"/>
                </a:solidFill>
                <a:latin typeface="Consolas"/>
                <a:ea typeface="Consolas"/>
                <a:cs typeface="Consolas"/>
                <a:sym typeface="Consolas"/>
              </a:rPr>
              <a:t>def read_cpu():</a:t>
            </a:r>
          </a:p>
          <a:p>
            <a:pPr algn="l">
              <a:lnSpc>
                <a:spcPts val="1981"/>
              </a:lnSpc>
            </a:pPr>
            <a:r>
              <a:rPr lang="en-US" sz="1651">
                <a:solidFill>
                  <a:srgbClr val="A5F3FC"/>
                </a:solidFill>
                <a:latin typeface="Consolas"/>
                <a:ea typeface="Consolas"/>
                <a:cs typeface="Consolas"/>
                <a:sym typeface="Consolas"/>
              </a:rPr>
              <a:t>    with open('/host/proc/stat') as f:    # 📂 /proc del kernel</a:t>
            </a:r>
          </a:p>
          <a:p>
            <a:pPr algn="l">
              <a:lnSpc>
                <a:spcPts val="1981"/>
              </a:lnSpc>
            </a:pPr>
            <a:r>
              <a:rPr lang="en-US" sz="1651">
                <a:solidFill>
                  <a:srgbClr val="A5F3FC"/>
                </a:solidFill>
                <a:latin typeface="Consolas"/>
                <a:ea typeface="Consolas"/>
                <a:cs typeface="Consolas"/>
                <a:sym typeface="Consolas"/>
              </a:rPr>
              <a:t>        ... cálculo de %CPU ...</a:t>
            </a:r>
          </a:p>
          <a:p>
            <a:pPr algn="l">
              <a:lnSpc>
                <a:spcPts val="1981"/>
              </a:lnSpc>
            </a:pPr>
            <a:r>
              <a:rPr lang="en-US" sz="1651">
                <a:solidFill>
                  <a:srgbClr val="A5F3FC"/>
                </a:solidFill>
                <a:latin typeface="Consolas"/>
                <a:ea typeface="Consolas"/>
                <a:cs typeface="Consolas"/>
                <a:sym typeface="Consolas"/>
              </a:rPr>
              <a:t>    with metrics_lock:                # 🔒 SECCIÓN CRÍTICA</a:t>
            </a:r>
          </a:p>
          <a:p>
            <a:pPr algn="l">
              <a:lnSpc>
                <a:spcPts val="1981"/>
              </a:lnSpc>
            </a:pPr>
            <a:r>
              <a:rPr lang="en-US" sz="1651">
                <a:solidFill>
                  <a:srgbClr val="A5F3FC"/>
                </a:solidFill>
                <a:latin typeface="Consolas"/>
                <a:ea typeface="Consolas"/>
                <a:cs typeface="Consolas"/>
                <a:sym typeface="Consolas"/>
              </a:rPr>
              <a:t>        metrics['cpu'] = cpu_pct</a:t>
            </a:r>
          </a:p>
          <a:p>
            <a:pPr algn="l">
              <a:lnSpc>
                <a:spcPts val="1981"/>
              </a:lnSpc>
            </a:pPr>
          </a:p>
          <a:p>
            <a:pPr algn="l">
              <a:lnSpc>
                <a:spcPts val="1981"/>
              </a:lnSpc>
            </a:pPr>
            <a:r>
              <a:rPr lang="en-US" sz="1651">
                <a:solidFill>
                  <a:srgbClr val="A5F3FC"/>
                </a:solidFill>
                <a:latin typeface="Consolas"/>
                <a:ea typeface="Consolas"/>
                <a:cs typeface="Consolas"/>
                <a:sym typeface="Consolas"/>
              </a:rPr>
              <a:t>def read_disk():</a:t>
            </a:r>
          </a:p>
          <a:p>
            <a:pPr algn="l">
              <a:lnSpc>
                <a:spcPts val="1981"/>
              </a:lnSpc>
            </a:pPr>
            <a:r>
              <a:rPr lang="en-US" sz="1651">
                <a:solidFill>
                  <a:srgbClr val="A5F3FC"/>
                </a:solidFill>
                <a:latin typeface="Consolas"/>
                <a:ea typeface="Consolas"/>
                <a:cs typeface="Consolas"/>
                <a:sym typeface="Consolas"/>
              </a:rPr>
              <a:t>    st = os.statvfs('/')              # ⚡ SYSCALL statvfs()</a:t>
            </a:r>
          </a:p>
          <a:p>
            <a:pPr algn="l">
              <a:lnSpc>
                <a:spcPts val="1981"/>
              </a:lnSpc>
            </a:pPr>
            <a:r>
              <a:rPr lang="en-US" sz="1651">
                <a:solidFill>
                  <a:srgbClr val="A5F3FC"/>
                </a:solidFill>
                <a:latin typeface="Consolas"/>
                <a:ea typeface="Consolas"/>
                <a:cs typeface="Consolas"/>
                <a:sym typeface="Consolas"/>
              </a:rPr>
              <a:t>    with metrics_lock:</a:t>
            </a:r>
          </a:p>
          <a:p>
            <a:pPr algn="l">
              <a:lnSpc>
                <a:spcPts val="1981"/>
              </a:lnSpc>
            </a:pPr>
            <a:r>
              <a:rPr lang="en-US" sz="1651">
                <a:solidFill>
                  <a:srgbClr val="A5F3FC"/>
                </a:solidFill>
                <a:latin typeface="Consolas"/>
                <a:ea typeface="Consolas"/>
                <a:cs typeface="Consolas"/>
                <a:sym typeface="Consolas"/>
              </a:rPr>
              <a:t>        metrics['disk'] = (st.f_blocks - st.f_bfree) * 100 / st.f_blocks</a:t>
            </a:r>
          </a:p>
          <a:p>
            <a:pPr algn="l">
              <a:lnSpc>
                <a:spcPts val="1981"/>
              </a:lnSpc>
            </a:pPr>
          </a:p>
          <a:p>
            <a:pPr algn="l">
              <a:lnSpc>
                <a:spcPts val="1981"/>
              </a:lnSpc>
            </a:pPr>
            <a:r>
              <a:rPr lang="en-US" sz="1651">
                <a:solidFill>
                  <a:srgbClr val="A5F3FC"/>
                </a:solidFill>
                <a:latin typeface="Consolas"/>
                <a:ea typeface="Consolas"/>
                <a:cs typeface="Consolas"/>
                <a:sym typeface="Consolas"/>
              </a:rPr>
              <a:t>def collect_cycle():</a:t>
            </a:r>
          </a:p>
          <a:p>
            <a:pPr algn="l">
              <a:lnSpc>
                <a:spcPts val="1981"/>
              </a:lnSpc>
            </a:pPr>
            <a:r>
              <a:rPr lang="en-US" sz="1651">
                <a:solidFill>
                  <a:srgbClr val="A5F3FC"/>
                </a:solidFill>
                <a:latin typeface="Consolas"/>
                <a:ea typeface="Consolas"/>
                <a:cs typeface="Consolas"/>
                <a:sym typeface="Consolas"/>
              </a:rPr>
              <a:t>    # 🧵 5 HILOS POSIX CONCURRENTES</a:t>
            </a:r>
          </a:p>
          <a:p>
            <a:pPr algn="l">
              <a:lnSpc>
                <a:spcPts val="1981"/>
              </a:lnSpc>
            </a:pPr>
            <a:r>
              <a:rPr lang="en-US" sz="1651">
                <a:solidFill>
                  <a:srgbClr val="A5F3FC"/>
                </a:solidFill>
                <a:latin typeface="Consolas"/>
                <a:ea typeface="Consolas"/>
                <a:cs typeface="Consolas"/>
                <a:sym typeface="Consolas"/>
              </a:rPr>
              <a:t>    threads = [threading.Thread(target=fn)</a:t>
            </a:r>
          </a:p>
          <a:p>
            <a:pPr algn="l">
              <a:lnSpc>
                <a:spcPts val="1981"/>
              </a:lnSpc>
            </a:pPr>
            <a:r>
              <a:rPr lang="en-US" sz="1651">
                <a:solidFill>
                  <a:srgbClr val="A5F3FC"/>
                </a:solidFill>
                <a:latin typeface="Consolas"/>
                <a:ea typeface="Consolas"/>
                <a:cs typeface="Consolas"/>
                <a:sym typeface="Consolas"/>
              </a:rPr>
              <a:t>               for fn in [read_cpu, read_memory, read_disk,</a:t>
            </a:r>
          </a:p>
          <a:p>
            <a:pPr algn="l">
              <a:lnSpc>
                <a:spcPts val="1981"/>
              </a:lnSpc>
            </a:pPr>
            <a:r>
              <a:rPr lang="en-US" sz="1651">
                <a:solidFill>
                  <a:srgbClr val="A5F3FC"/>
                </a:solidFill>
                <a:latin typeface="Consolas"/>
                <a:ea typeface="Consolas"/>
                <a:cs typeface="Consolas"/>
                <a:sym typeface="Consolas"/>
              </a:rPr>
              <a:t>                          read_loadavg, read_processes]]</a:t>
            </a:r>
          </a:p>
          <a:p>
            <a:pPr algn="l">
              <a:lnSpc>
                <a:spcPts val="1981"/>
              </a:lnSpc>
            </a:pPr>
            <a:r>
              <a:rPr lang="en-US" sz="1651">
                <a:solidFill>
                  <a:srgbClr val="A5F3FC"/>
                </a:solidFill>
                <a:latin typeface="Consolas"/>
                <a:ea typeface="Consolas"/>
                <a:cs typeface="Consolas"/>
                <a:sym typeface="Consolas"/>
              </a:rPr>
              <a:t>    for t in threads: t.start()</a:t>
            </a:r>
          </a:p>
          <a:p>
            <a:pPr algn="l">
              <a:lnSpc>
                <a:spcPts val="1981"/>
              </a:lnSpc>
            </a:pPr>
            <a:r>
              <a:rPr lang="en-US" sz="1651">
                <a:solidFill>
                  <a:srgbClr val="A5F3FC"/>
                </a:solidFill>
                <a:latin typeface="Consolas"/>
                <a:ea typeface="Consolas"/>
                <a:cs typeface="Consolas"/>
                <a:sym typeface="Consolas"/>
              </a:rPr>
              <a:t>    for t in threads: t.join(timeout=4)</a:t>
            </a:r>
          </a:p>
          <a:p>
            <a:pPr algn="l">
              <a:lnSpc>
                <a:spcPts val="1981"/>
              </a:lnSpc>
            </a:pPr>
            <a:r>
              <a:rPr lang="en-US" sz="1651">
                <a:solidFill>
                  <a:srgbClr val="A5F3FC"/>
                </a:solidFill>
                <a:latin typeface="Consolas"/>
                <a:ea typeface="Consolas"/>
                <a:cs typeface="Consolas"/>
                <a:sym typeface="Consolas"/>
              </a:rPr>
              <a:t>    save_to_db(metrics)               # 💾 Persistencia</a:t>
            </a:r>
          </a:p>
          <a:p>
            <a:pPr algn="l">
              <a:lnSpc>
                <a:spcPts val="1981"/>
              </a:lnSpc>
            </a:pPr>
          </a:p>
        </p:txBody>
      </p:sp>
      <p:sp>
        <p:nvSpPr>
          <p:cNvPr name="TextBox 9" id="9"/>
          <p:cNvSpPr txBox="true"/>
          <p:nvPr/>
        </p:nvSpPr>
        <p:spPr>
          <a:xfrm rot="0">
            <a:off x="599065" y="9659236"/>
            <a:ext cx="10881379" cy="5471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1"/>
              </a:lnSpc>
            </a:pPr>
            <a:r>
              <a:rPr lang="en-US" sz="150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SysMarket v2 · Sistemas Operativos USIL · Grupo 01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6522065" y="9659236"/>
            <a:ext cx="1272673" cy="5471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01"/>
              </a:lnSpc>
            </a:pPr>
            <a:r>
              <a:rPr lang="en-US" sz="150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7/18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97725" cy="10295039"/>
            <a:chOff x="0" y="0"/>
            <a:chExt cx="24396967" cy="1372671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96954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24396954">
                  <a:moveTo>
                    <a:pt x="0" y="0"/>
                  </a:moveTo>
                  <a:lnTo>
                    <a:pt x="24396954" y="0"/>
                  </a:lnTo>
                  <a:lnTo>
                    <a:pt x="2439695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0F172A"/>
            </a:solidFill>
          </p:spPr>
        </p:sp>
      </p:grpSp>
      <p:sp>
        <p:nvSpPr>
          <p:cNvPr name="TextBox 4" id="4"/>
          <p:cNvSpPr txBox="true"/>
          <p:nvPr/>
        </p:nvSpPr>
        <p:spPr>
          <a:xfrm rot="0">
            <a:off x="1010869" y="620611"/>
            <a:ext cx="16372065" cy="8693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764"/>
              </a:lnSpc>
            </a:pPr>
            <a:r>
              <a:rPr lang="en-US" sz="4803" b="true">
                <a:solidFill>
                  <a:srgbClr val="3B82F6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Implementación funcional del e-commerce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10869" y="1560471"/>
            <a:ext cx="16372065" cy="5471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 i="true">
                <a:solidFill>
                  <a:srgbClr val="94A3B8"/>
                </a:solidFill>
                <a:latin typeface="Calibri (MS) Italics"/>
                <a:ea typeface="Calibri (MS) Italics"/>
                <a:cs typeface="Calibri (MS) Italics"/>
                <a:sym typeface="Calibri (MS) Italics"/>
              </a:rPr>
              <a:t>Cumplimiento de criterio 2 de la rúbrica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951338" y="2598544"/>
            <a:ext cx="4823422" cy="3176216"/>
            <a:chOff x="0" y="0"/>
            <a:chExt cx="6431229" cy="4234955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6431280" cy="4234942"/>
            </a:xfrm>
            <a:custGeom>
              <a:avLst/>
              <a:gdLst/>
              <a:ahLst/>
              <a:cxnLst/>
              <a:rect r="r" b="b" t="t" l="l"/>
              <a:pathLst>
                <a:path h="4234942" w="6431280">
                  <a:moveTo>
                    <a:pt x="0" y="705866"/>
                  </a:moveTo>
                  <a:cubicBezTo>
                    <a:pt x="0" y="315976"/>
                    <a:pt x="315976" y="0"/>
                    <a:pt x="705866" y="0"/>
                  </a:cubicBezTo>
                  <a:lnTo>
                    <a:pt x="5725414" y="0"/>
                  </a:lnTo>
                  <a:cubicBezTo>
                    <a:pt x="6115177" y="0"/>
                    <a:pt x="6431280" y="315976"/>
                    <a:pt x="6431280" y="705866"/>
                  </a:cubicBezTo>
                  <a:lnTo>
                    <a:pt x="6431280" y="3529076"/>
                  </a:lnTo>
                  <a:cubicBezTo>
                    <a:pt x="6431280" y="3918839"/>
                    <a:pt x="6115304" y="4234942"/>
                    <a:pt x="5725414" y="4234942"/>
                  </a:cubicBezTo>
                  <a:lnTo>
                    <a:pt x="705866" y="4234942"/>
                  </a:lnTo>
                  <a:cubicBezTo>
                    <a:pt x="315976" y="4234942"/>
                    <a:pt x="0" y="3918966"/>
                    <a:pt x="0" y="3529076"/>
                  </a:cubicBezTo>
                  <a:close/>
                </a:path>
              </a:pathLst>
            </a:custGeom>
            <a:solidFill>
              <a:srgbClr val="1E293B"/>
            </a:solidFill>
            <a:ln w="19065" cap="sq">
              <a:solidFill>
                <a:srgbClr val="3B82F6"/>
              </a:solidFill>
              <a:prstDash val="solid"/>
              <a:miter/>
            </a:ln>
          </p:spPr>
        </p:sp>
      </p:grpSp>
      <p:sp>
        <p:nvSpPr>
          <p:cNvPr name="TextBox 8" id="8"/>
          <p:cNvSpPr txBox="true"/>
          <p:nvPr/>
        </p:nvSpPr>
        <p:spPr>
          <a:xfrm rot="0">
            <a:off x="1285408" y="2788310"/>
            <a:ext cx="1272673" cy="10351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485"/>
              </a:lnSpc>
            </a:pPr>
            <a:r>
              <a:rPr lang="en-US" sz="5404">
                <a:solidFill>
                  <a:srgbClr val="F1F5F9"/>
                </a:solidFill>
                <a:latin typeface="Calibri (MS)"/>
                <a:ea typeface="Calibri (MS)"/>
                <a:cs typeface="Calibri (MS)"/>
                <a:sym typeface="Calibri (MS)"/>
              </a:rPr>
              <a:t>👤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2795349" y="2914098"/>
            <a:ext cx="2782614" cy="7034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42"/>
              </a:lnSpc>
            </a:pPr>
            <a:r>
              <a:rPr lang="en-US" sz="2702" b="true">
                <a:solidFill>
                  <a:srgbClr val="F1F5F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Usuarios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285408" y="4099922"/>
            <a:ext cx="4155281" cy="15080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Registro, login, roles cliente/admin</a:t>
            </a:r>
          </a:p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bcrypt + sesiones HttpOnly</a:t>
            </a:r>
          </a:p>
        </p:txBody>
      </p:sp>
      <p:grpSp>
        <p:nvGrpSpPr>
          <p:cNvPr name="Group 11" id="11"/>
          <p:cNvGrpSpPr/>
          <p:nvPr/>
        </p:nvGrpSpPr>
        <p:grpSpPr>
          <a:xfrm rot="0">
            <a:off x="6647926" y="2598544"/>
            <a:ext cx="4823422" cy="3176216"/>
            <a:chOff x="0" y="0"/>
            <a:chExt cx="6431229" cy="4234955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6431280" cy="4234942"/>
            </a:xfrm>
            <a:custGeom>
              <a:avLst/>
              <a:gdLst/>
              <a:ahLst/>
              <a:cxnLst/>
              <a:rect r="r" b="b" t="t" l="l"/>
              <a:pathLst>
                <a:path h="4234942" w="6431280">
                  <a:moveTo>
                    <a:pt x="0" y="705866"/>
                  </a:moveTo>
                  <a:cubicBezTo>
                    <a:pt x="0" y="315976"/>
                    <a:pt x="315976" y="0"/>
                    <a:pt x="705866" y="0"/>
                  </a:cubicBezTo>
                  <a:lnTo>
                    <a:pt x="5725414" y="0"/>
                  </a:lnTo>
                  <a:cubicBezTo>
                    <a:pt x="6115177" y="0"/>
                    <a:pt x="6431280" y="315976"/>
                    <a:pt x="6431280" y="705866"/>
                  </a:cubicBezTo>
                  <a:lnTo>
                    <a:pt x="6431280" y="3529076"/>
                  </a:lnTo>
                  <a:cubicBezTo>
                    <a:pt x="6431280" y="3918839"/>
                    <a:pt x="6115304" y="4234942"/>
                    <a:pt x="5725414" y="4234942"/>
                  </a:cubicBezTo>
                  <a:lnTo>
                    <a:pt x="705866" y="4234942"/>
                  </a:lnTo>
                  <a:cubicBezTo>
                    <a:pt x="315976" y="4234942"/>
                    <a:pt x="0" y="3918966"/>
                    <a:pt x="0" y="3529076"/>
                  </a:cubicBezTo>
                  <a:close/>
                </a:path>
              </a:pathLst>
            </a:custGeom>
            <a:solidFill>
              <a:srgbClr val="1E293B"/>
            </a:solidFill>
            <a:ln w="19065" cap="sq">
              <a:solidFill>
                <a:srgbClr val="8B5CF6"/>
              </a:solidFill>
              <a:prstDash val="solid"/>
              <a:miter/>
            </a:ln>
          </p:spPr>
        </p:sp>
      </p:grpSp>
      <p:sp>
        <p:nvSpPr>
          <p:cNvPr name="TextBox 13" id="13"/>
          <p:cNvSpPr txBox="true"/>
          <p:nvPr/>
        </p:nvSpPr>
        <p:spPr>
          <a:xfrm rot="0">
            <a:off x="6981996" y="2788310"/>
            <a:ext cx="1272673" cy="10351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485"/>
              </a:lnSpc>
            </a:pPr>
            <a:r>
              <a:rPr lang="en-US" sz="5404">
                <a:solidFill>
                  <a:srgbClr val="F1F5F9"/>
                </a:solidFill>
                <a:latin typeface="Calibri (MS)"/>
                <a:ea typeface="Calibri (MS)"/>
                <a:cs typeface="Calibri (MS)"/>
                <a:sym typeface="Calibri (MS)"/>
              </a:rPr>
              <a:t>🛍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8491938" y="2914098"/>
            <a:ext cx="2782614" cy="7034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42"/>
              </a:lnSpc>
            </a:pPr>
            <a:r>
              <a:rPr lang="en-US" sz="2702" b="true">
                <a:solidFill>
                  <a:srgbClr val="F1F5F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Catálogo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6981996" y="4099922"/>
            <a:ext cx="4155281" cy="15080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24 productos · 6 categorías</a:t>
            </a:r>
          </a:p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Búsqueda + filtros</a:t>
            </a:r>
          </a:p>
        </p:txBody>
      </p:sp>
      <p:grpSp>
        <p:nvGrpSpPr>
          <p:cNvPr name="Group 16" id="16"/>
          <p:cNvGrpSpPr/>
          <p:nvPr/>
        </p:nvGrpSpPr>
        <p:grpSpPr>
          <a:xfrm rot="0">
            <a:off x="12344524" y="2598544"/>
            <a:ext cx="4823422" cy="3176216"/>
            <a:chOff x="0" y="0"/>
            <a:chExt cx="6431229" cy="4234955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6431280" cy="4234942"/>
            </a:xfrm>
            <a:custGeom>
              <a:avLst/>
              <a:gdLst/>
              <a:ahLst/>
              <a:cxnLst/>
              <a:rect r="r" b="b" t="t" l="l"/>
              <a:pathLst>
                <a:path h="4234942" w="6431280">
                  <a:moveTo>
                    <a:pt x="0" y="705866"/>
                  </a:moveTo>
                  <a:cubicBezTo>
                    <a:pt x="0" y="315976"/>
                    <a:pt x="315976" y="0"/>
                    <a:pt x="705866" y="0"/>
                  </a:cubicBezTo>
                  <a:lnTo>
                    <a:pt x="5725414" y="0"/>
                  </a:lnTo>
                  <a:cubicBezTo>
                    <a:pt x="6115177" y="0"/>
                    <a:pt x="6431280" y="315976"/>
                    <a:pt x="6431280" y="705866"/>
                  </a:cubicBezTo>
                  <a:lnTo>
                    <a:pt x="6431280" y="3529076"/>
                  </a:lnTo>
                  <a:cubicBezTo>
                    <a:pt x="6431280" y="3918839"/>
                    <a:pt x="6115304" y="4234942"/>
                    <a:pt x="5725414" y="4234942"/>
                  </a:cubicBezTo>
                  <a:lnTo>
                    <a:pt x="705866" y="4234942"/>
                  </a:lnTo>
                  <a:cubicBezTo>
                    <a:pt x="315976" y="4234942"/>
                    <a:pt x="0" y="3918966"/>
                    <a:pt x="0" y="3529076"/>
                  </a:cubicBezTo>
                  <a:close/>
                </a:path>
              </a:pathLst>
            </a:custGeom>
            <a:solidFill>
              <a:srgbClr val="1E293B"/>
            </a:solidFill>
            <a:ln w="19065" cap="sq">
              <a:solidFill>
                <a:srgbClr val="10B981"/>
              </a:solidFill>
              <a:prstDash val="solid"/>
              <a:miter/>
            </a:ln>
          </p:spPr>
        </p:sp>
      </p:grpSp>
      <p:sp>
        <p:nvSpPr>
          <p:cNvPr name="TextBox 18" id="18"/>
          <p:cNvSpPr txBox="true"/>
          <p:nvPr/>
        </p:nvSpPr>
        <p:spPr>
          <a:xfrm rot="0">
            <a:off x="12678585" y="2788310"/>
            <a:ext cx="1272673" cy="10351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485"/>
              </a:lnSpc>
            </a:pPr>
            <a:r>
              <a:rPr lang="en-US" sz="5404">
                <a:solidFill>
                  <a:srgbClr val="F1F5F9"/>
                </a:solidFill>
                <a:latin typeface="Calibri (MS)"/>
                <a:ea typeface="Calibri (MS)"/>
                <a:cs typeface="Calibri (MS)"/>
                <a:sym typeface="Calibri (MS)"/>
              </a:rPr>
              <a:t>🛒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4188526" y="2914098"/>
            <a:ext cx="2782614" cy="7034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42"/>
              </a:lnSpc>
            </a:pPr>
            <a:r>
              <a:rPr lang="en-US" sz="2702" b="true">
                <a:solidFill>
                  <a:srgbClr val="F1F5F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Carrito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2678585" y="4099922"/>
            <a:ext cx="4155281" cy="15080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Persistente con AJAX</a:t>
            </a:r>
          </a:p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Update, remove sin recargar</a:t>
            </a:r>
          </a:p>
        </p:txBody>
      </p:sp>
      <p:grpSp>
        <p:nvGrpSpPr>
          <p:cNvPr name="Group 21" id="21"/>
          <p:cNvGrpSpPr/>
          <p:nvPr/>
        </p:nvGrpSpPr>
        <p:grpSpPr>
          <a:xfrm rot="0">
            <a:off x="951338" y="6030230"/>
            <a:ext cx="4823422" cy="3176216"/>
            <a:chOff x="0" y="0"/>
            <a:chExt cx="6431229" cy="4234955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6431280" cy="4234942"/>
            </a:xfrm>
            <a:custGeom>
              <a:avLst/>
              <a:gdLst/>
              <a:ahLst/>
              <a:cxnLst/>
              <a:rect r="r" b="b" t="t" l="l"/>
              <a:pathLst>
                <a:path h="4234942" w="6431280">
                  <a:moveTo>
                    <a:pt x="0" y="705866"/>
                  </a:moveTo>
                  <a:cubicBezTo>
                    <a:pt x="0" y="315976"/>
                    <a:pt x="315976" y="0"/>
                    <a:pt x="705866" y="0"/>
                  </a:cubicBezTo>
                  <a:lnTo>
                    <a:pt x="5725414" y="0"/>
                  </a:lnTo>
                  <a:cubicBezTo>
                    <a:pt x="6115177" y="0"/>
                    <a:pt x="6431280" y="315976"/>
                    <a:pt x="6431280" y="705866"/>
                  </a:cubicBezTo>
                  <a:lnTo>
                    <a:pt x="6431280" y="3529076"/>
                  </a:lnTo>
                  <a:cubicBezTo>
                    <a:pt x="6431280" y="3918839"/>
                    <a:pt x="6115304" y="4234942"/>
                    <a:pt x="5725414" y="4234942"/>
                  </a:cubicBezTo>
                  <a:lnTo>
                    <a:pt x="705866" y="4234942"/>
                  </a:lnTo>
                  <a:cubicBezTo>
                    <a:pt x="315976" y="4234942"/>
                    <a:pt x="0" y="3918966"/>
                    <a:pt x="0" y="3529076"/>
                  </a:cubicBezTo>
                  <a:close/>
                </a:path>
              </a:pathLst>
            </a:custGeom>
            <a:solidFill>
              <a:srgbClr val="1E293B"/>
            </a:solidFill>
            <a:ln w="19065" cap="sq">
              <a:solidFill>
                <a:srgbClr val="F59E0B"/>
              </a:solidFill>
              <a:prstDash val="solid"/>
              <a:miter/>
            </a:ln>
          </p:spPr>
        </p:sp>
      </p:grpSp>
      <p:sp>
        <p:nvSpPr>
          <p:cNvPr name="TextBox 23" id="23"/>
          <p:cNvSpPr txBox="true"/>
          <p:nvPr/>
        </p:nvSpPr>
        <p:spPr>
          <a:xfrm rot="0">
            <a:off x="1285408" y="6219996"/>
            <a:ext cx="1272673" cy="10351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485"/>
              </a:lnSpc>
            </a:pPr>
            <a:r>
              <a:rPr lang="en-US" sz="5404">
                <a:solidFill>
                  <a:srgbClr val="F1F5F9"/>
                </a:solidFill>
                <a:latin typeface="Calibri (MS)"/>
                <a:ea typeface="Calibri (MS)"/>
                <a:cs typeface="Calibri (MS)"/>
                <a:sym typeface="Calibri (MS)"/>
              </a:rPr>
              <a:t>💳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2795349" y="6345774"/>
            <a:ext cx="2782614" cy="7034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42"/>
              </a:lnSpc>
            </a:pPr>
            <a:r>
              <a:rPr lang="en-US" sz="2702" b="true">
                <a:solidFill>
                  <a:srgbClr val="F1F5F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Checkout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1285408" y="7531598"/>
            <a:ext cx="4155281" cy="15080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Transaccional con BEGIN/COMMIT</a:t>
            </a:r>
          </a:p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SELECT FOR UPDATE pesimista</a:t>
            </a:r>
          </a:p>
        </p:txBody>
      </p:sp>
      <p:grpSp>
        <p:nvGrpSpPr>
          <p:cNvPr name="Group 26" id="26"/>
          <p:cNvGrpSpPr/>
          <p:nvPr/>
        </p:nvGrpSpPr>
        <p:grpSpPr>
          <a:xfrm rot="0">
            <a:off x="6647926" y="6030230"/>
            <a:ext cx="4823422" cy="3176216"/>
            <a:chOff x="0" y="0"/>
            <a:chExt cx="6431229" cy="4234955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6431280" cy="4234942"/>
            </a:xfrm>
            <a:custGeom>
              <a:avLst/>
              <a:gdLst/>
              <a:ahLst/>
              <a:cxnLst/>
              <a:rect r="r" b="b" t="t" l="l"/>
              <a:pathLst>
                <a:path h="4234942" w="6431280">
                  <a:moveTo>
                    <a:pt x="0" y="705866"/>
                  </a:moveTo>
                  <a:cubicBezTo>
                    <a:pt x="0" y="315976"/>
                    <a:pt x="315976" y="0"/>
                    <a:pt x="705866" y="0"/>
                  </a:cubicBezTo>
                  <a:lnTo>
                    <a:pt x="5725414" y="0"/>
                  </a:lnTo>
                  <a:cubicBezTo>
                    <a:pt x="6115177" y="0"/>
                    <a:pt x="6431280" y="315976"/>
                    <a:pt x="6431280" y="705866"/>
                  </a:cubicBezTo>
                  <a:lnTo>
                    <a:pt x="6431280" y="3529076"/>
                  </a:lnTo>
                  <a:cubicBezTo>
                    <a:pt x="6431280" y="3918839"/>
                    <a:pt x="6115304" y="4234942"/>
                    <a:pt x="5725414" y="4234942"/>
                  </a:cubicBezTo>
                  <a:lnTo>
                    <a:pt x="705866" y="4234942"/>
                  </a:lnTo>
                  <a:cubicBezTo>
                    <a:pt x="315976" y="4234942"/>
                    <a:pt x="0" y="3918966"/>
                    <a:pt x="0" y="3529076"/>
                  </a:cubicBezTo>
                  <a:close/>
                </a:path>
              </a:pathLst>
            </a:custGeom>
            <a:solidFill>
              <a:srgbClr val="1E293B"/>
            </a:solidFill>
            <a:ln w="19065" cap="sq">
              <a:solidFill>
                <a:srgbClr val="EC4899"/>
              </a:solidFill>
              <a:prstDash val="solid"/>
              <a:miter/>
            </a:ln>
          </p:spPr>
        </p:sp>
      </p:grpSp>
      <p:sp>
        <p:nvSpPr>
          <p:cNvPr name="TextBox 28" id="28"/>
          <p:cNvSpPr txBox="true"/>
          <p:nvPr/>
        </p:nvSpPr>
        <p:spPr>
          <a:xfrm rot="0">
            <a:off x="6981996" y="6219996"/>
            <a:ext cx="1272673" cy="10351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485"/>
              </a:lnSpc>
            </a:pPr>
            <a:r>
              <a:rPr lang="en-US" sz="5404">
                <a:solidFill>
                  <a:srgbClr val="F1F5F9"/>
                </a:solidFill>
                <a:latin typeface="Calibri (MS)"/>
                <a:ea typeface="Calibri (MS)"/>
                <a:cs typeface="Calibri (MS)"/>
                <a:sym typeface="Calibri (MS)"/>
              </a:rPr>
              <a:t>📊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8491938" y="6345774"/>
            <a:ext cx="2782614" cy="7034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42"/>
              </a:lnSpc>
            </a:pPr>
            <a:r>
              <a:rPr lang="en-US" sz="2702" b="true">
                <a:solidFill>
                  <a:srgbClr val="F1F5F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Panel Admin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6981996" y="7531598"/>
            <a:ext cx="4155281" cy="15080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10 KPIs · 4 tabs</a:t>
            </a:r>
          </a:p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Usuarios, pedidos, top productos</a:t>
            </a:r>
          </a:p>
        </p:txBody>
      </p:sp>
      <p:grpSp>
        <p:nvGrpSpPr>
          <p:cNvPr name="Group 31" id="31"/>
          <p:cNvGrpSpPr/>
          <p:nvPr/>
        </p:nvGrpSpPr>
        <p:grpSpPr>
          <a:xfrm rot="0">
            <a:off x="12344524" y="6030230"/>
            <a:ext cx="4823422" cy="3176216"/>
            <a:chOff x="0" y="0"/>
            <a:chExt cx="6431229" cy="4234955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6431280" cy="4234942"/>
            </a:xfrm>
            <a:custGeom>
              <a:avLst/>
              <a:gdLst/>
              <a:ahLst/>
              <a:cxnLst/>
              <a:rect r="r" b="b" t="t" l="l"/>
              <a:pathLst>
                <a:path h="4234942" w="6431280">
                  <a:moveTo>
                    <a:pt x="0" y="705866"/>
                  </a:moveTo>
                  <a:cubicBezTo>
                    <a:pt x="0" y="315976"/>
                    <a:pt x="315976" y="0"/>
                    <a:pt x="705866" y="0"/>
                  </a:cubicBezTo>
                  <a:lnTo>
                    <a:pt x="5725414" y="0"/>
                  </a:lnTo>
                  <a:cubicBezTo>
                    <a:pt x="6115177" y="0"/>
                    <a:pt x="6431280" y="315976"/>
                    <a:pt x="6431280" y="705866"/>
                  </a:cubicBezTo>
                  <a:lnTo>
                    <a:pt x="6431280" y="3529076"/>
                  </a:lnTo>
                  <a:cubicBezTo>
                    <a:pt x="6431280" y="3918839"/>
                    <a:pt x="6115304" y="4234942"/>
                    <a:pt x="5725414" y="4234942"/>
                  </a:cubicBezTo>
                  <a:lnTo>
                    <a:pt x="705866" y="4234942"/>
                  </a:lnTo>
                  <a:cubicBezTo>
                    <a:pt x="315976" y="4234942"/>
                    <a:pt x="0" y="3918966"/>
                    <a:pt x="0" y="3529076"/>
                  </a:cubicBezTo>
                  <a:close/>
                </a:path>
              </a:pathLst>
            </a:custGeom>
            <a:solidFill>
              <a:srgbClr val="1E293B"/>
            </a:solidFill>
            <a:ln w="19065" cap="sq">
              <a:solidFill>
                <a:srgbClr val="10B981"/>
              </a:solidFill>
              <a:prstDash val="solid"/>
              <a:miter/>
            </a:ln>
          </p:spPr>
        </p:sp>
      </p:grpSp>
      <p:sp>
        <p:nvSpPr>
          <p:cNvPr name="TextBox 33" id="33"/>
          <p:cNvSpPr txBox="true"/>
          <p:nvPr/>
        </p:nvSpPr>
        <p:spPr>
          <a:xfrm rot="0">
            <a:off x="12678585" y="6219996"/>
            <a:ext cx="1272673" cy="10351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485"/>
              </a:lnSpc>
            </a:pPr>
            <a:r>
              <a:rPr lang="en-US" sz="5404">
                <a:solidFill>
                  <a:srgbClr val="F1F5F9"/>
                </a:solidFill>
                <a:latin typeface="Calibri (MS)"/>
                <a:ea typeface="Calibri (MS)"/>
                <a:cs typeface="Calibri (MS)"/>
                <a:sym typeface="Calibri (MS)"/>
              </a:rPr>
              <a:t>📡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14188526" y="6345774"/>
            <a:ext cx="2782614" cy="7034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42"/>
              </a:lnSpc>
            </a:pPr>
            <a:r>
              <a:rPr lang="en-US" sz="2702" b="true">
                <a:solidFill>
                  <a:srgbClr val="F1F5F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Monitor SO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12678585" y="7531598"/>
            <a:ext cx="4155281" cy="15080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CPU·RAM·Disco·Procesos</a:t>
            </a:r>
          </a:p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Gráficas en tiempo real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599065" y="9659236"/>
            <a:ext cx="10881379" cy="5471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1"/>
              </a:lnSpc>
            </a:pPr>
            <a:r>
              <a:rPr lang="en-US" sz="150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SysMarket v2 · Sistemas Operativos USIL · Grupo 01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16522065" y="9659236"/>
            <a:ext cx="1272673" cy="5471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01"/>
              </a:lnSpc>
            </a:pPr>
            <a:r>
              <a:rPr lang="en-US" sz="150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8/18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97725" cy="10295039"/>
            <a:chOff x="0" y="0"/>
            <a:chExt cx="24396967" cy="1372671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96954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24396954">
                  <a:moveTo>
                    <a:pt x="0" y="0"/>
                  </a:moveTo>
                  <a:lnTo>
                    <a:pt x="24396954" y="0"/>
                  </a:lnTo>
                  <a:lnTo>
                    <a:pt x="2439695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0F172A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960872" y="686333"/>
            <a:ext cx="2470814" cy="549069"/>
            <a:chOff x="0" y="0"/>
            <a:chExt cx="3294418" cy="732092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3294380" cy="732155"/>
            </a:xfrm>
            <a:custGeom>
              <a:avLst/>
              <a:gdLst/>
              <a:ahLst/>
              <a:cxnLst/>
              <a:rect r="r" b="b" t="t" l="l"/>
              <a:pathLst>
                <a:path h="732155" w="3294380">
                  <a:moveTo>
                    <a:pt x="0" y="122047"/>
                  </a:moveTo>
                  <a:cubicBezTo>
                    <a:pt x="0" y="54610"/>
                    <a:pt x="54610" y="0"/>
                    <a:pt x="122047" y="0"/>
                  </a:cubicBezTo>
                  <a:lnTo>
                    <a:pt x="3172333" y="0"/>
                  </a:lnTo>
                  <a:cubicBezTo>
                    <a:pt x="3239770" y="0"/>
                    <a:pt x="3294380" y="54610"/>
                    <a:pt x="3294380" y="122047"/>
                  </a:cubicBezTo>
                  <a:lnTo>
                    <a:pt x="3294380" y="610108"/>
                  </a:lnTo>
                  <a:cubicBezTo>
                    <a:pt x="3294380" y="677545"/>
                    <a:pt x="3239770" y="732155"/>
                    <a:pt x="3172333" y="732155"/>
                  </a:cubicBezTo>
                  <a:lnTo>
                    <a:pt x="122047" y="732155"/>
                  </a:lnTo>
                  <a:cubicBezTo>
                    <a:pt x="54610" y="732155"/>
                    <a:pt x="0" y="677418"/>
                    <a:pt x="0" y="610108"/>
                  </a:cubicBezTo>
                  <a:close/>
                </a:path>
              </a:pathLst>
            </a:custGeom>
            <a:solidFill>
              <a:srgbClr val="EC4899"/>
            </a:solidFill>
          </p:spPr>
        </p:sp>
        <p:sp>
          <p:nvSpPr>
            <p:cNvPr name="TextBox 6" id="6"/>
            <p:cNvSpPr txBox="true"/>
            <p:nvPr/>
          </p:nvSpPr>
          <p:spPr>
            <a:xfrm>
              <a:off x="0" y="-28575"/>
              <a:ext cx="3294418" cy="76066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81"/>
                </a:lnSpc>
              </a:pPr>
              <a:r>
                <a:rPr lang="en-US" sz="1651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🆕 NUEVO</a:t>
              </a:r>
            </a:p>
          </p:txBody>
        </p:sp>
      </p:grpSp>
      <p:sp>
        <p:nvSpPr>
          <p:cNvPr name="TextBox 7" id="7"/>
          <p:cNvSpPr txBox="true"/>
          <p:nvPr/>
        </p:nvSpPr>
        <p:spPr>
          <a:xfrm rot="0">
            <a:off x="3756212" y="483346"/>
            <a:ext cx="13626722" cy="8693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764"/>
              </a:lnSpc>
            </a:pPr>
            <a:r>
              <a:rPr lang="en-US" sz="4803" b="true">
                <a:solidFill>
                  <a:srgbClr val="EC489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Módulo de Social Commerce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010869" y="1423206"/>
            <a:ext cx="16372065" cy="5471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 i="true">
                <a:solidFill>
                  <a:srgbClr val="94A3B8"/>
                </a:solidFill>
                <a:latin typeface="Calibri (MS) Italics"/>
                <a:ea typeface="Calibri (MS) Italics"/>
                <a:cs typeface="Calibri (MS) Italics"/>
                <a:sym typeface="Calibri (MS) Italics"/>
              </a:rPr>
              <a:t>Cumplimiento explícito de "redes sociales" + Shop the Post de la rúbrica nueva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951338" y="2461279"/>
            <a:ext cx="4823422" cy="3176216"/>
            <a:chOff x="0" y="0"/>
            <a:chExt cx="6431229" cy="4234955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6431280" cy="4234942"/>
            </a:xfrm>
            <a:custGeom>
              <a:avLst/>
              <a:gdLst/>
              <a:ahLst/>
              <a:cxnLst/>
              <a:rect r="r" b="b" t="t" l="l"/>
              <a:pathLst>
                <a:path h="4234942" w="6431280">
                  <a:moveTo>
                    <a:pt x="0" y="705866"/>
                  </a:moveTo>
                  <a:cubicBezTo>
                    <a:pt x="0" y="315976"/>
                    <a:pt x="315976" y="0"/>
                    <a:pt x="705866" y="0"/>
                  </a:cubicBezTo>
                  <a:lnTo>
                    <a:pt x="5725414" y="0"/>
                  </a:lnTo>
                  <a:cubicBezTo>
                    <a:pt x="6115177" y="0"/>
                    <a:pt x="6431280" y="315976"/>
                    <a:pt x="6431280" y="705866"/>
                  </a:cubicBezTo>
                  <a:lnTo>
                    <a:pt x="6431280" y="3529076"/>
                  </a:lnTo>
                  <a:cubicBezTo>
                    <a:pt x="6431280" y="3918839"/>
                    <a:pt x="6115304" y="4234942"/>
                    <a:pt x="5725414" y="4234942"/>
                  </a:cubicBezTo>
                  <a:lnTo>
                    <a:pt x="705866" y="4234942"/>
                  </a:lnTo>
                  <a:cubicBezTo>
                    <a:pt x="315976" y="4234942"/>
                    <a:pt x="0" y="3918966"/>
                    <a:pt x="0" y="3529076"/>
                  </a:cubicBezTo>
                  <a:close/>
                </a:path>
              </a:pathLst>
            </a:custGeom>
            <a:solidFill>
              <a:srgbClr val="1E293B"/>
            </a:solidFill>
            <a:ln w="19065" cap="sq">
              <a:solidFill>
                <a:srgbClr val="EC4899"/>
              </a:solidFill>
              <a:prstDash val="solid"/>
              <a:miter/>
            </a:ln>
          </p:spPr>
        </p:sp>
      </p:grpSp>
      <p:sp>
        <p:nvSpPr>
          <p:cNvPr name="TextBox 11" id="11"/>
          <p:cNvSpPr txBox="true"/>
          <p:nvPr/>
        </p:nvSpPr>
        <p:spPr>
          <a:xfrm rot="0">
            <a:off x="1285408" y="2651046"/>
            <a:ext cx="1272673" cy="10351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485"/>
              </a:lnSpc>
            </a:pPr>
            <a:r>
              <a:rPr lang="en-US" sz="5404">
                <a:solidFill>
                  <a:srgbClr val="F1F5F9"/>
                </a:solidFill>
                <a:latin typeface="Calibri (MS)"/>
                <a:ea typeface="Calibri (MS)"/>
                <a:cs typeface="Calibri (MS)"/>
                <a:sym typeface="Calibri (MS)"/>
              </a:rPr>
              <a:t>❤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2795349" y="2776823"/>
            <a:ext cx="2782614" cy="7034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42"/>
              </a:lnSpc>
            </a:pPr>
            <a:r>
              <a:rPr lang="en-US" sz="2702" b="true">
                <a:solidFill>
                  <a:srgbClr val="F1F5F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Likes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285408" y="3962648"/>
            <a:ext cx="4155281" cy="15080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Toggle con transacción anti-race</a:t>
            </a:r>
          </a:p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Contador en tiempo real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6647926" y="2461279"/>
            <a:ext cx="4823422" cy="3176216"/>
            <a:chOff x="0" y="0"/>
            <a:chExt cx="6431229" cy="4234955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6431280" cy="4234942"/>
            </a:xfrm>
            <a:custGeom>
              <a:avLst/>
              <a:gdLst/>
              <a:ahLst/>
              <a:cxnLst/>
              <a:rect r="r" b="b" t="t" l="l"/>
              <a:pathLst>
                <a:path h="4234942" w="6431280">
                  <a:moveTo>
                    <a:pt x="0" y="705866"/>
                  </a:moveTo>
                  <a:cubicBezTo>
                    <a:pt x="0" y="315976"/>
                    <a:pt x="315976" y="0"/>
                    <a:pt x="705866" y="0"/>
                  </a:cubicBezTo>
                  <a:lnTo>
                    <a:pt x="5725414" y="0"/>
                  </a:lnTo>
                  <a:cubicBezTo>
                    <a:pt x="6115177" y="0"/>
                    <a:pt x="6431280" y="315976"/>
                    <a:pt x="6431280" y="705866"/>
                  </a:cubicBezTo>
                  <a:lnTo>
                    <a:pt x="6431280" y="3529076"/>
                  </a:lnTo>
                  <a:cubicBezTo>
                    <a:pt x="6431280" y="3918839"/>
                    <a:pt x="6115304" y="4234942"/>
                    <a:pt x="5725414" y="4234942"/>
                  </a:cubicBezTo>
                  <a:lnTo>
                    <a:pt x="705866" y="4234942"/>
                  </a:lnTo>
                  <a:cubicBezTo>
                    <a:pt x="315976" y="4234942"/>
                    <a:pt x="0" y="3918966"/>
                    <a:pt x="0" y="3529076"/>
                  </a:cubicBezTo>
                  <a:close/>
                </a:path>
              </a:pathLst>
            </a:custGeom>
            <a:solidFill>
              <a:srgbClr val="1E293B"/>
            </a:solidFill>
            <a:ln w="19065" cap="sq">
              <a:solidFill>
                <a:srgbClr val="F59E0B"/>
              </a:solidFill>
              <a:prstDash val="solid"/>
              <a:miter/>
            </a:ln>
          </p:spPr>
        </p:sp>
      </p:grpSp>
      <p:sp>
        <p:nvSpPr>
          <p:cNvPr name="TextBox 16" id="16"/>
          <p:cNvSpPr txBox="true"/>
          <p:nvPr/>
        </p:nvSpPr>
        <p:spPr>
          <a:xfrm rot="0">
            <a:off x="6981996" y="2651046"/>
            <a:ext cx="1272673" cy="10351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485"/>
              </a:lnSpc>
            </a:pPr>
            <a:r>
              <a:rPr lang="en-US" sz="5404">
                <a:solidFill>
                  <a:srgbClr val="F1F5F9"/>
                </a:solidFill>
                <a:latin typeface="Calibri (MS)"/>
                <a:ea typeface="Calibri (MS)"/>
                <a:cs typeface="Calibri (MS)"/>
                <a:sym typeface="Calibri (MS)"/>
              </a:rPr>
              <a:t>⭐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8491938" y="2776823"/>
            <a:ext cx="2782614" cy="7034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42"/>
              </a:lnSpc>
            </a:pPr>
            <a:r>
              <a:rPr lang="en-US" sz="2702" b="true">
                <a:solidFill>
                  <a:srgbClr val="F1F5F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Reseñas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6981996" y="3962648"/>
            <a:ext cx="4155281" cy="15080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Rating 1-5 estrellas</a:t>
            </a:r>
          </a:p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Validación de longitud</a:t>
            </a:r>
          </a:p>
        </p:txBody>
      </p:sp>
      <p:grpSp>
        <p:nvGrpSpPr>
          <p:cNvPr name="Group 19" id="19"/>
          <p:cNvGrpSpPr/>
          <p:nvPr/>
        </p:nvGrpSpPr>
        <p:grpSpPr>
          <a:xfrm rot="0">
            <a:off x="12344524" y="2461279"/>
            <a:ext cx="4823422" cy="3176216"/>
            <a:chOff x="0" y="0"/>
            <a:chExt cx="6431229" cy="4234955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6431280" cy="4234942"/>
            </a:xfrm>
            <a:custGeom>
              <a:avLst/>
              <a:gdLst/>
              <a:ahLst/>
              <a:cxnLst/>
              <a:rect r="r" b="b" t="t" l="l"/>
              <a:pathLst>
                <a:path h="4234942" w="6431280">
                  <a:moveTo>
                    <a:pt x="0" y="705866"/>
                  </a:moveTo>
                  <a:cubicBezTo>
                    <a:pt x="0" y="315976"/>
                    <a:pt x="315976" y="0"/>
                    <a:pt x="705866" y="0"/>
                  </a:cubicBezTo>
                  <a:lnTo>
                    <a:pt x="5725414" y="0"/>
                  </a:lnTo>
                  <a:cubicBezTo>
                    <a:pt x="6115177" y="0"/>
                    <a:pt x="6431280" y="315976"/>
                    <a:pt x="6431280" y="705866"/>
                  </a:cubicBezTo>
                  <a:lnTo>
                    <a:pt x="6431280" y="3529076"/>
                  </a:lnTo>
                  <a:cubicBezTo>
                    <a:pt x="6431280" y="3918839"/>
                    <a:pt x="6115304" y="4234942"/>
                    <a:pt x="5725414" y="4234942"/>
                  </a:cubicBezTo>
                  <a:lnTo>
                    <a:pt x="705866" y="4234942"/>
                  </a:lnTo>
                  <a:cubicBezTo>
                    <a:pt x="315976" y="4234942"/>
                    <a:pt x="0" y="3918966"/>
                    <a:pt x="0" y="3529076"/>
                  </a:cubicBezTo>
                  <a:close/>
                </a:path>
              </a:pathLst>
            </a:custGeom>
            <a:solidFill>
              <a:srgbClr val="1E293B"/>
            </a:solidFill>
            <a:ln w="19065" cap="sq">
              <a:solidFill>
                <a:srgbClr val="8B5CF6"/>
              </a:solidFill>
              <a:prstDash val="solid"/>
              <a:miter/>
            </a:ln>
          </p:spPr>
        </p:sp>
      </p:grpSp>
      <p:sp>
        <p:nvSpPr>
          <p:cNvPr name="TextBox 21" id="21"/>
          <p:cNvSpPr txBox="true"/>
          <p:nvPr/>
        </p:nvSpPr>
        <p:spPr>
          <a:xfrm rot="0">
            <a:off x="12678585" y="2651046"/>
            <a:ext cx="1272673" cy="10351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485"/>
              </a:lnSpc>
            </a:pPr>
            <a:r>
              <a:rPr lang="en-US" sz="5404">
                <a:solidFill>
                  <a:srgbClr val="F1F5F9"/>
                </a:solidFill>
                <a:latin typeface="Calibri (MS)"/>
                <a:ea typeface="Calibri (MS)"/>
                <a:cs typeface="Calibri (MS)"/>
                <a:sym typeface="Calibri (MS)"/>
              </a:rPr>
              <a:t>📢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4188526" y="2776823"/>
            <a:ext cx="2782614" cy="7034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42"/>
              </a:lnSpc>
            </a:pPr>
            <a:r>
              <a:rPr lang="en-US" sz="2702" b="true">
                <a:solidFill>
                  <a:srgbClr val="F1F5F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Publicaciones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2678585" y="3962648"/>
            <a:ext cx="4155281" cy="15080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Posts con título + contenido</a:t>
            </a:r>
          </a:p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Usuario autenticado</a:t>
            </a:r>
          </a:p>
        </p:txBody>
      </p:sp>
      <p:grpSp>
        <p:nvGrpSpPr>
          <p:cNvPr name="Group 24" id="24"/>
          <p:cNvGrpSpPr/>
          <p:nvPr/>
        </p:nvGrpSpPr>
        <p:grpSpPr>
          <a:xfrm rot="0">
            <a:off x="951338" y="6030230"/>
            <a:ext cx="4823422" cy="3176216"/>
            <a:chOff x="0" y="0"/>
            <a:chExt cx="6431229" cy="4234955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6431280" cy="4234942"/>
            </a:xfrm>
            <a:custGeom>
              <a:avLst/>
              <a:gdLst/>
              <a:ahLst/>
              <a:cxnLst/>
              <a:rect r="r" b="b" t="t" l="l"/>
              <a:pathLst>
                <a:path h="4234942" w="6431280">
                  <a:moveTo>
                    <a:pt x="0" y="705866"/>
                  </a:moveTo>
                  <a:cubicBezTo>
                    <a:pt x="0" y="315976"/>
                    <a:pt x="315976" y="0"/>
                    <a:pt x="705866" y="0"/>
                  </a:cubicBezTo>
                  <a:lnTo>
                    <a:pt x="5725414" y="0"/>
                  </a:lnTo>
                  <a:cubicBezTo>
                    <a:pt x="6115177" y="0"/>
                    <a:pt x="6431280" y="315976"/>
                    <a:pt x="6431280" y="705866"/>
                  </a:cubicBezTo>
                  <a:lnTo>
                    <a:pt x="6431280" y="3529076"/>
                  </a:lnTo>
                  <a:cubicBezTo>
                    <a:pt x="6431280" y="3918839"/>
                    <a:pt x="6115304" y="4234942"/>
                    <a:pt x="5725414" y="4234942"/>
                  </a:cubicBezTo>
                  <a:lnTo>
                    <a:pt x="705866" y="4234942"/>
                  </a:lnTo>
                  <a:cubicBezTo>
                    <a:pt x="315976" y="4234942"/>
                    <a:pt x="0" y="3918966"/>
                    <a:pt x="0" y="3529076"/>
                  </a:cubicBezTo>
                  <a:close/>
                </a:path>
              </a:pathLst>
            </a:custGeom>
            <a:solidFill>
              <a:srgbClr val="1E293B"/>
            </a:solidFill>
            <a:ln w="19065" cap="sq">
              <a:solidFill>
                <a:srgbClr val="3B82F6"/>
              </a:solidFill>
              <a:prstDash val="solid"/>
              <a:miter/>
            </a:ln>
          </p:spPr>
        </p:sp>
      </p:grpSp>
      <p:sp>
        <p:nvSpPr>
          <p:cNvPr name="TextBox 26" id="26"/>
          <p:cNvSpPr txBox="true"/>
          <p:nvPr/>
        </p:nvSpPr>
        <p:spPr>
          <a:xfrm rot="0">
            <a:off x="1285408" y="6219996"/>
            <a:ext cx="1272673" cy="10351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485"/>
              </a:lnSpc>
            </a:pPr>
            <a:r>
              <a:rPr lang="en-US" sz="5404">
                <a:solidFill>
                  <a:srgbClr val="F1F5F9"/>
                </a:solidFill>
                <a:latin typeface="Calibri (MS)"/>
                <a:ea typeface="Calibri (MS)"/>
                <a:cs typeface="Calibri (MS)"/>
                <a:sym typeface="Calibri (MS)"/>
              </a:rPr>
              <a:t>🛍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2795349" y="6345774"/>
            <a:ext cx="2782614" cy="7034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42"/>
              </a:lnSpc>
            </a:pPr>
            <a:r>
              <a:rPr lang="en-US" sz="2702" b="true">
                <a:solidFill>
                  <a:srgbClr val="F1F5F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Shop the Post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1285408" y="7531598"/>
            <a:ext cx="4155281" cy="15080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Etiquetar producto en post</a:t>
            </a:r>
          </a:p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Compra directa</a:t>
            </a:r>
          </a:p>
        </p:txBody>
      </p:sp>
      <p:grpSp>
        <p:nvGrpSpPr>
          <p:cNvPr name="Group 29" id="29"/>
          <p:cNvGrpSpPr/>
          <p:nvPr/>
        </p:nvGrpSpPr>
        <p:grpSpPr>
          <a:xfrm rot="0">
            <a:off x="6647926" y="6030230"/>
            <a:ext cx="4823422" cy="3176216"/>
            <a:chOff x="0" y="0"/>
            <a:chExt cx="6431229" cy="4234955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6431280" cy="4234942"/>
            </a:xfrm>
            <a:custGeom>
              <a:avLst/>
              <a:gdLst/>
              <a:ahLst/>
              <a:cxnLst/>
              <a:rect r="r" b="b" t="t" l="l"/>
              <a:pathLst>
                <a:path h="4234942" w="6431280">
                  <a:moveTo>
                    <a:pt x="0" y="705866"/>
                  </a:moveTo>
                  <a:cubicBezTo>
                    <a:pt x="0" y="315976"/>
                    <a:pt x="315976" y="0"/>
                    <a:pt x="705866" y="0"/>
                  </a:cubicBezTo>
                  <a:lnTo>
                    <a:pt x="5725414" y="0"/>
                  </a:lnTo>
                  <a:cubicBezTo>
                    <a:pt x="6115177" y="0"/>
                    <a:pt x="6431280" y="315976"/>
                    <a:pt x="6431280" y="705866"/>
                  </a:cubicBezTo>
                  <a:lnTo>
                    <a:pt x="6431280" y="3529076"/>
                  </a:lnTo>
                  <a:cubicBezTo>
                    <a:pt x="6431280" y="3918839"/>
                    <a:pt x="6115304" y="4234942"/>
                    <a:pt x="5725414" y="4234942"/>
                  </a:cubicBezTo>
                  <a:lnTo>
                    <a:pt x="705866" y="4234942"/>
                  </a:lnTo>
                  <a:cubicBezTo>
                    <a:pt x="315976" y="4234942"/>
                    <a:pt x="0" y="3918966"/>
                    <a:pt x="0" y="3529076"/>
                  </a:cubicBezTo>
                  <a:close/>
                </a:path>
              </a:pathLst>
            </a:custGeom>
            <a:solidFill>
              <a:srgbClr val="1E293B"/>
            </a:solidFill>
            <a:ln w="19065" cap="sq">
              <a:solidFill>
                <a:srgbClr val="EC4899"/>
              </a:solidFill>
              <a:prstDash val="solid"/>
              <a:miter/>
            </a:ln>
          </p:spPr>
        </p:sp>
      </p:grpSp>
      <p:sp>
        <p:nvSpPr>
          <p:cNvPr name="TextBox 31" id="31"/>
          <p:cNvSpPr txBox="true"/>
          <p:nvPr/>
        </p:nvSpPr>
        <p:spPr>
          <a:xfrm rot="0">
            <a:off x="6981996" y="6219996"/>
            <a:ext cx="1272673" cy="10351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485"/>
              </a:lnSpc>
            </a:pPr>
            <a:r>
              <a:rPr lang="en-US" sz="5404">
                <a:solidFill>
                  <a:srgbClr val="F1F5F9"/>
                </a:solidFill>
                <a:latin typeface="Calibri (MS)"/>
                <a:ea typeface="Calibri (MS)"/>
                <a:cs typeface="Calibri (MS)"/>
                <a:sym typeface="Calibri (MS)"/>
              </a:rPr>
              <a:t>🔥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8491938" y="6345774"/>
            <a:ext cx="2782614" cy="7034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42"/>
              </a:lnSpc>
            </a:pPr>
            <a:r>
              <a:rPr lang="en-US" sz="2702" b="true">
                <a:solidFill>
                  <a:srgbClr val="F1F5F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Productos populares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6981996" y="7531598"/>
            <a:ext cx="4155281" cy="15080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Top 6 por likes</a:t>
            </a:r>
          </a:p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Sección en landing</a:t>
            </a:r>
          </a:p>
        </p:txBody>
      </p:sp>
      <p:grpSp>
        <p:nvGrpSpPr>
          <p:cNvPr name="Group 34" id="34"/>
          <p:cNvGrpSpPr/>
          <p:nvPr/>
        </p:nvGrpSpPr>
        <p:grpSpPr>
          <a:xfrm rot="0">
            <a:off x="12344524" y="6030230"/>
            <a:ext cx="4823422" cy="3176216"/>
            <a:chOff x="0" y="0"/>
            <a:chExt cx="6431229" cy="4234955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6431280" cy="4234942"/>
            </a:xfrm>
            <a:custGeom>
              <a:avLst/>
              <a:gdLst/>
              <a:ahLst/>
              <a:cxnLst/>
              <a:rect r="r" b="b" t="t" l="l"/>
              <a:pathLst>
                <a:path h="4234942" w="6431280">
                  <a:moveTo>
                    <a:pt x="0" y="705866"/>
                  </a:moveTo>
                  <a:cubicBezTo>
                    <a:pt x="0" y="315976"/>
                    <a:pt x="315976" y="0"/>
                    <a:pt x="705866" y="0"/>
                  </a:cubicBezTo>
                  <a:lnTo>
                    <a:pt x="5725414" y="0"/>
                  </a:lnTo>
                  <a:cubicBezTo>
                    <a:pt x="6115177" y="0"/>
                    <a:pt x="6431280" y="315976"/>
                    <a:pt x="6431280" y="705866"/>
                  </a:cubicBezTo>
                  <a:lnTo>
                    <a:pt x="6431280" y="3529076"/>
                  </a:lnTo>
                  <a:cubicBezTo>
                    <a:pt x="6431280" y="3918839"/>
                    <a:pt x="6115304" y="4234942"/>
                    <a:pt x="5725414" y="4234942"/>
                  </a:cubicBezTo>
                  <a:lnTo>
                    <a:pt x="705866" y="4234942"/>
                  </a:lnTo>
                  <a:cubicBezTo>
                    <a:pt x="315976" y="4234942"/>
                    <a:pt x="0" y="3918966"/>
                    <a:pt x="0" y="3529076"/>
                  </a:cubicBezTo>
                  <a:close/>
                </a:path>
              </a:pathLst>
            </a:custGeom>
            <a:solidFill>
              <a:srgbClr val="1E293B"/>
            </a:solidFill>
            <a:ln w="19065" cap="sq">
              <a:solidFill>
                <a:srgbClr val="10B981"/>
              </a:solidFill>
              <a:prstDash val="solid"/>
              <a:miter/>
            </a:ln>
          </p:spPr>
        </p:sp>
      </p:grpSp>
      <p:sp>
        <p:nvSpPr>
          <p:cNvPr name="TextBox 36" id="36"/>
          <p:cNvSpPr txBox="true"/>
          <p:nvPr/>
        </p:nvSpPr>
        <p:spPr>
          <a:xfrm rot="0">
            <a:off x="12678585" y="6219996"/>
            <a:ext cx="1272673" cy="10351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485"/>
              </a:lnSpc>
            </a:pPr>
            <a:r>
              <a:rPr lang="en-US" sz="5404">
                <a:solidFill>
                  <a:srgbClr val="F1F5F9"/>
                </a:solidFill>
                <a:latin typeface="Calibri (MS)"/>
                <a:ea typeface="Calibri (MS)"/>
                <a:cs typeface="Calibri (MS)"/>
                <a:sym typeface="Calibri (MS)"/>
              </a:rPr>
              <a:t>📈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14188526" y="6345774"/>
            <a:ext cx="2782614" cy="7034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42"/>
              </a:lnSpc>
            </a:pPr>
            <a:r>
              <a:rPr lang="en-US" sz="2702" b="true">
                <a:solidFill>
                  <a:srgbClr val="F1F5F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KPIs sociales</a:t>
            </a:r>
          </a:p>
        </p:txBody>
      </p:sp>
      <p:sp>
        <p:nvSpPr>
          <p:cNvPr name="TextBox 38" id="38"/>
          <p:cNvSpPr txBox="true"/>
          <p:nvPr/>
        </p:nvSpPr>
        <p:spPr>
          <a:xfrm rot="0">
            <a:off x="12678585" y="7531598"/>
            <a:ext cx="4155281" cy="15080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Métricas en admin panel</a:t>
            </a:r>
          </a:p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Likes·reseñas·posts·rating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599065" y="9659236"/>
            <a:ext cx="10881379" cy="5471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1"/>
              </a:lnSpc>
            </a:pPr>
            <a:r>
              <a:rPr lang="en-US" sz="150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SysMarket v2 · Sistemas Operativos USIL · Grupo 01</a:t>
            </a:r>
          </a:p>
        </p:txBody>
      </p:sp>
      <p:sp>
        <p:nvSpPr>
          <p:cNvPr name="TextBox 40" id="40"/>
          <p:cNvSpPr txBox="true"/>
          <p:nvPr/>
        </p:nvSpPr>
        <p:spPr>
          <a:xfrm rot="0">
            <a:off x="16522065" y="9659236"/>
            <a:ext cx="1272673" cy="5471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01"/>
              </a:lnSpc>
            </a:pPr>
            <a:r>
              <a:rPr lang="en-US" sz="150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9/18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97725" cy="10295039"/>
            <a:chOff x="0" y="0"/>
            <a:chExt cx="24396967" cy="1372671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96954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24396954">
                  <a:moveTo>
                    <a:pt x="0" y="0"/>
                  </a:moveTo>
                  <a:lnTo>
                    <a:pt x="24396954" y="0"/>
                  </a:lnTo>
                  <a:lnTo>
                    <a:pt x="2439695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0F172A"/>
            </a:solidFill>
          </p:spPr>
        </p:sp>
      </p:grpSp>
      <p:sp>
        <p:nvSpPr>
          <p:cNvPr name="TextBox 4" id="4"/>
          <p:cNvSpPr txBox="true"/>
          <p:nvPr/>
        </p:nvSpPr>
        <p:spPr>
          <a:xfrm rot="0">
            <a:off x="1010869" y="592036"/>
            <a:ext cx="16372065" cy="8979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485"/>
              </a:lnSpc>
            </a:pPr>
            <a:r>
              <a:rPr lang="en-US" sz="5404" b="true">
                <a:solidFill>
                  <a:srgbClr val="3B82F6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Modelo de datos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10869" y="1550946"/>
            <a:ext cx="16372065" cy="55669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1"/>
              </a:lnSpc>
            </a:pPr>
            <a:r>
              <a:rPr lang="en-US" sz="1951" i="true">
                <a:solidFill>
                  <a:srgbClr val="94A3B8"/>
                </a:solidFill>
                <a:latin typeface="Calibri (MS) Italics"/>
                <a:ea typeface="Calibri (MS) Italics"/>
                <a:cs typeface="Calibri (MS) Italics"/>
                <a:sym typeface="Calibri (MS) Italics"/>
              </a:rPr>
              <a:t>13 tablas en 4 bloques · MySQL 8.0 InnoDB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951338" y="2598544"/>
            <a:ext cx="4137079" cy="6470628"/>
            <a:chOff x="0" y="0"/>
            <a:chExt cx="5516105" cy="8627504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5516118" cy="8627491"/>
            </a:xfrm>
            <a:custGeom>
              <a:avLst/>
              <a:gdLst/>
              <a:ahLst/>
              <a:cxnLst/>
              <a:rect r="r" b="b" t="t" l="l"/>
              <a:pathLst>
                <a:path h="8627491" w="5516118">
                  <a:moveTo>
                    <a:pt x="0" y="919353"/>
                  </a:moveTo>
                  <a:cubicBezTo>
                    <a:pt x="0" y="411607"/>
                    <a:pt x="411607" y="0"/>
                    <a:pt x="919353" y="0"/>
                  </a:cubicBezTo>
                  <a:lnTo>
                    <a:pt x="4596765" y="0"/>
                  </a:lnTo>
                  <a:cubicBezTo>
                    <a:pt x="5104511" y="0"/>
                    <a:pt x="5516118" y="411607"/>
                    <a:pt x="5516118" y="919353"/>
                  </a:cubicBezTo>
                  <a:lnTo>
                    <a:pt x="5516118" y="7708138"/>
                  </a:lnTo>
                  <a:cubicBezTo>
                    <a:pt x="5516118" y="8215884"/>
                    <a:pt x="5104511" y="8627491"/>
                    <a:pt x="4596765" y="8627491"/>
                  </a:cubicBezTo>
                  <a:lnTo>
                    <a:pt x="919353" y="8627491"/>
                  </a:lnTo>
                  <a:cubicBezTo>
                    <a:pt x="411607" y="8627491"/>
                    <a:pt x="0" y="8215884"/>
                    <a:pt x="0" y="7708138"/>
                  </a:cubicBezTo>
                  <a:close/>
                </a:path>
              </a:pathLst>
            </a:custGeom>
            <a:solidFill>
              <a:srgbClr val="1E293B"/>
            </a:solidFill>
            <a:ln w="19065" cap="sq">
              <a:solidFill>
                <a:srgbClr val="3B82F6"/>
              </a:solidFill>
              <a:prstDash val="solid"/>
              <a:miter/>
            </a:ln>
          </p:spPr>
        </p:sp>
      </p:grpSp>
      <p:sp>
        <p:nvSpPr>
          <p:cNvPr name="TextBox 8" id="8"/>
          <p:cNvSpPr txBox="true"/>
          <p:nvPr/>
        </p:nvSpPr>
        <p:spPr>
          <a:xfrm rot="0">
            <a:off x="1216771" y="2864510"/>
            <a:ext cx="3606213" cy="6844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 b="true">
                <a:solidFill>
                  <a:srgbClr val="3B82F6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BLOQUE A · Usuarios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1228258" y="3767699"/>
            <a:ext cx="3583248" cy="632003"/>
            <a:chOff x="0" y="0"/>
            <a:chExt cx="4777664" cy="84267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4777740" cy="842645"/>
            </a:xfrm>
            <a:custGeom>
              <a:avLst/>
              <a:gdLst/>
              <a:ahLst/>
              <a:cxnLst/>
              <a:rect r="r" b="b" t="t" l="l"/>
              <a:pathLst>
                <a:path h="842645" w="4777740">
                  <a:moveTo>
                    <a:pt x="0" y="140462"/>
                  </a:moveTo>
                  <a:cubicBezTo>
                    <a:pt x="0" y="62865"/>
                    <a:pt x="62865" y="0"/>
                    <a:pt x="140462" y="0"/>
                  </a:cubicBezTo>
                  <a:lnTo>
                    <a:pt x="4637278" y="0"/>
                  </a:lnTo>
                  <a:cubicBezTo>
                    <a:pt x="4714875" y="0"/>
                    <a:pt x="4777740" y="62865"/>
                    <a:pt x="4777740" y="140462"/>
                  </a:cubicBezTo>
                  <a:lnTo>
                    <a:pt x="4777740" y="702183"/>
                  </a:lnTo>
                  <a:cubicBezTo>
                    <a:pt x="4777740" y="779780"/>
                    <a:pt x="4714875" y="842645"/>
                    <a:pt x="4637278" y="842645"/>
                  </a:cubicBezTo>
                  <a:lnTo>
                    <a:pt x="140462" y="842645"/>
                  </a:lnTo>
                  <a:cubicBezTo>
                    <a:pt x="62865" y="842645"/>
                    <a:pt x="0" y="779780"/>
                    <a:pt x="0" y="702183"/>
                  </a:cubicBezTo>
                  <a:close/>
                </a:path>
              </a:pathLst>
            </a:custGeom>
            <a:solidFill>
              <a:srgbClr val="0F172A"/>
            </a:solidFill>
            <a:ln w="14299" cap="sq">
              <a:solidFill>
                <a:srgbClr val="334455"/>
              </a:solidFill>
              <a:prstDash val="solid"/>
              <a:miter/>
            </a:ln>
          </p:spPr>
        </p:sp>
        <p:sp>
          <p:nvSpPr>
            <p:cNvPr name="TextBox 11" id="11"/>
            <p:cNvSpPr txBox="true"/>
            <p:nvPr/>
          </p:nvSpPr>
          <p:spPr>
            <a:xfrm>
              <a:off x="0" y="-28575"/>
              <a:ext cx="4777664" cy="87124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81"/>
                </a:lnSpc>
              </a:pPr>
              <a:r>
                <a:rPr lang="en-US" sz="1651">
                  <a:solidFill>
                    <a:srgbClr val="F1F5F9"/>
                  </a:solidFill>
                  <a:latin typeface="Consolas"/>
                  <a:ea typeface="Consolas"/>
                  <a:cs typeface="Consolas"/>
                  <a:sym typeface="Consolas"/>
                </a:rPr>
                <a:t>usuarios</a:t>
              </a: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5275259" y="2598544"/>
            <a:ext cx="4137079" cy="6470628"/>
            <a:chOff x="0" y="0"/>
            <a:chExt cx="5516105" cy="8627504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5516118" cy="8627491"/>
            </a:xfrm>
            <a:custGeom>
              <a:avLst/>
              <a:gdLst/>
              <a:ahLst/>
              <a:cxnLst/>
              <a:rect r="r" b="b" t="t" l="l"/>
              <a:pathLst>
                <a:path h="8627491" w="5516118">
                  <a:moveTo>
                    <a:pt x="0" y="919353"/>
                  </a:moveTo>
                  <a:cubicBezTo>
                    <a:pt x="0" y="411607"/>
                    <a:pt x="411607" y="0"/>
                    <a:pt x="919353" y="0"/>
                  </a:cubicBezTo>
                  <a:lnTo>
                    <a:pt x="4596765" y="0"/>
                  </a:lnTo>
                  <a:cubicBezTo>
                    <a:pt x="5104511" y="0"/>
                    <a:pt x="5516118" y="411607"/>
                    <a:pt x="5516118" y="919353"/>
                  </a:cubicBezTo>
                  <a:lnTo>
                    <a:pt x="5516118" y="7708138"/>
                  </a:lnTo>
                  <a:cubicBezTo>
                    <a:pt x="5516118" y="8215884"/>
                    <a:pt x="5104511" y="8627491"/>
                    <a:pt x="4596765" y="8627491"/>
                  </a:cubicBezTo>
                  <a:lnTo>
                    <a:pt x="919353" y="8627491"/>
                  </a:lnTo>
                  <a:cubicBezTo>
                    <a:pt x="411607" y="8627491"/>
                    <a:pt x="0" y="8215884"/>
                    <a:pt x="0" y="7708138"/>
                  </a:cubicBezTo>
                  <a:close/>
                </a:path>
              </a:pathLst>
            </a:custGeom>
            <a:solidFill>
              <a:srgbClr val="1E293B"/>
            </a:solidFill>
            <a:ln w="19065" cap="sq">
              <a:solidFill>
                <a:srgbClr val="8B5CF6"/>
              </a:solidFill>
              <a:prstDash val="solid"/>
              <a:miter/>
            </a:ln>
          </p:spPr>
        </p:sp>
      </p:grpSp>
      <p:sp>
        <p:nvSpPr>
          <p:cNvPr name="TextBox 14" id="14"/>
          <p:cNvSpPr txBox="true"/>
          <p:nvPr/>
        </p:nvSpPr>
        <p:spPr>
          <a:xfrm rot="0">
            <a:off x="5540692" y="2864510"/>
            <a:ext cx="3606213" cy="6844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 b="true">
                <a:solidFill>
                  <a:srgbClr val="8B5CF6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BLOQUE B · E-commerce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5552170" y="3767699"/>
            <a:ext cx="3583248" cy="632003"/>
            <a:chOff x="0" y="0"/>
            <a:chExt cx="4777664" cy="84267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4777740" cy="842645"/>
            </a:xfrm>
            <a:custGeom>
              <a:avLst/>
              <a:gdLst/>
              <a:ahLst/>
              <a:cxnLst/>
              <a:rect r="r" b="b" t="t" l="l"/>
              <a:pathLst>
                <a:path h="842645" w="4777740">
                  <a:moveTo>
                    <a:pt x="0" y="140462"/>
                  </a:moveTo>
                  <a:cubicBezTo>
                    <a:pt x="0" y="62865"/>
                    <a:pt x="62865" y="0"/>
                    <a:pt x="140462" y="0"/>
                  </a:cubicBezTo>
                  <a:lnTo>
                    <a:pt x="4637278" y="0"/>
                  </a:lnTo>
                  <a:cubicBezTo>
                    <a:pt x="4714875" y="0"/>
                    <a:pt x="4777740" y="62865"/>
                    <a:pt x="4777740" y="140462"/>
                  </a:cubicBezTo>
                  <a:lnTo>
                    <a:pt x="4777740" y="702183"/>
                  </a:lnTo>
                  <a:cubicBezTo>
                    <a:pt x="4777740" y="779780"/>
                    <a:pt x="4714875" y="842645"/>
                    <a:pt x="4637278" y="842645"/>
                  </a:cubicBezTo>
                  <a:lnTo>
                    <a:pt x="140462" y="842645"/>
                  </a:lnTo>
                  <a:cubicBezTo>
                    <a:pt x="62865" y="842645"/>
                    <a:pt x="0" y="779780"/>
                    <a:pt x="0" y="702183"/>
                  </a:cubicBezTo>
                  <a:close/>
                </a:path>
              </a:pathLst>
            </a:custGeom>
            <a:solidFill>
              <a:srgbClr val="0F172A"/>
            </a:solidFill>
            <a:ln w="14299" cap="sq">
              <a:solidFill>
                <a:srgbClr val="334455"/>
              </a:solidFill>
              <a:prstDash val="solid"/>
              <a:miter/>
            </a:ln>
          </p:spPr>
        </p:sp>
        <p:sp>
          <p:nvSpPr>
            <p:cNvPr name="TextBox 17" id="17"/>
            <p:cNvSpPr txBox="true"/>
            <p:nvPr/>
          </p:nvSpPr>
          <p:spPr>
            <a:xfrm>
              <a:off x="0" y="-28575"/>
              <a:ext cx="4777664" cy="87124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81"/>
                </a:lnSpc>
              </a:pPr>
              <a:r>
                <a:rPr lang="en-US" sz="1651">
                  <a:solidFill>
                    <a:srgbClr val="F1F5F9"/>
                  </a:solidFill>
                  <a:latin typeface="Consolas"/>
                  <a:ea typeface="Consolas"/>
                  <a:cs typeface="Consolas"/>
                  <a:sym typeface="Consolas"/>
                </a:rPr>
                <a:t>categorias</a:t>
              </a: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5552170" y="4522670"/>
            <a:ext cx="3583248" cy="632003"/>
            <a:chOff x="0" y="0"/>
            <a:chExt cx="4777664" cy="84267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4777740" cy="842645"/>
            </a:xfrm>
            <a:custGeom>
              <a:avLst/>
              <a:gdLst/>
              <a:ahLst/>
              <a:cxnLst/>
              <a:rect r="r" b="b" t="t" l="l"/>
              <a:pathLst>
                <a:path h="842645" w="4777740">
                  <a:moveTo>
                    <a:pt x="0" y="140462"/>
                  </a:moveTo>
                  <a:cubicBezTo>
                    <a:pt x="0" y="62865"/>
                    <a:pt x="62865" y="0"/>
                    <a:pt x="140462" y="0"/>
                  </a:cubicBezTo>
                  <a:lnTo>
                    <a:pt x="4637278" y="0"/>
                  </a:lnTo>
                  <a:cubicBezTo>
                    <a:pt x="4714875" y="0"/>
                    <a:pt x="4777740" y="62865"/>
                    <a:pt x="4777740" y="140462"/>
                  </a:cubicBezTo>
                  <a:lnTo>
                    <a:pt x="4777740" y="702183"/>
                  </a:lnTo>
                  <a:cubicBezTo>
                    <a:pt x="4777740" y="779780"/>
                    <a:pt x="4714875" y="842645"/>
                    <a:pt x="4637278" y="842645"/>
                  </a:cubicBezTo>
                  <a:lnTo>
                    <a:pt x="140462" y="842645"/>
                  </a:lnTo>
                  <a:cubicBezTo>
                    <a:pt x="62865" y="842645"/>
                    <a:pt x="0" y="779780"/>
                    <a:pt x="0" y="702183"/>
                  </a:cubicBezTo>
                  <a:close/>
                </a:path>
              </a:pathLst>
            </a:custGeom>
            <a:solidFill>
              <a:srgbClr val="0F172A"/>
            </a:solidFill>
            <a:ln w="14299" cap="sq">
              <a:solidFill>
                <a:srgbClr val="334455"/>
              </a:solidFill>
              <a:prstDash val="solid"/>
              <a:miter/>
            </a:ln>
          </p:spPr>
        </p:sp>
        <p:sp>
          <p:nvSpPr>
            <p:cNvPr name="TextBox 20" id="20"/>
            <p:cNvSpPr txBox="true"/>
            <p:nvPr/>
          </p:nvSpPr>
          <p:spPr>
            <a:xfrm>
              <a:off x="0" y="-28575"/>
              <a:ext cx="4777664" cy="87124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81"/>
                </a:lnSpc>
              </a:pPr>
              <a:r>
                <a:rPr lang="en-US" sz="1651">
                  <a:solidFill>
                    <a:srgbClr val="F1F5F9"/>
                  </a:solidFill>
                  <a:latin typeface="Consolas"/>
                  <a:ea typeface="Consolas"/>
                  <a:cs typeface="Consolas"/>
                  <a:sym typeface="Consolas"/>
                </a:rPr>
                <a:t>productos</a:t>
              </a: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5552170" y="5277641"/>
            <a:ext cx="3583248" cy="632003"/>
            <a:chOff x="0" y="0"/>
            <a:chExt cx="4777664" cy="84267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4777740" cy="842645"/>
            </a:xfrm>
            <a:custGeom>
              <a:avLst/>
              <a:gdLst/>
              <a:ahLst/>
              <a:cxnLst/>
              <a:rect r="r" b="b" t="t" l="l"/>
              <a:pathLst>
                <a:path h="842645" w="4777740">
                  <a:moveTo>
                    <a:pt x="0" y="140462"/>
                  </a:moveTo>
                  <a:cubicBezTo>
                    <a:pt x="0" y="62865"/>
                    <a:pt x="62865" y="0"/>
                    <a:pt x="140462" y="0"/>
                  </a:cubicBezTo>
                  <a:lnTo>
                    <a:pt x="4637278" y="0"/>
                  </a:lnTo>
                  <a:cubicBezTo>
                    <a:pt x="4714875" y="0"/>
                    <a:pt x="4777740" y="62865"/>
                    <a:pt x="4777740" y="140462"/>
                  </a:cubicBezTo>
                  <a:lnTo>
                    <a:pt x="4777740" y="702183"/>
                  </a:lnTo>
                  <a:cubicBezTo>
                    <a:pt x="4777740" y="779780"/>
                    <a:pt x="4714875" y="842645"/>
                    <a:pt x="4637278" y="842645"/>
                  </a:cubicBezTo>
                  <a:lnTo>
                    <a:pt x="140462" y="842645"/>
                  </a:lnTo>
                  <a:cubicBezTo>
                    <a:pt x="62865" y="842645"/>
                    <a:pt x="0" y="779780"/>
                    <a:pt x="0" y="702183"/>
                  </a:cubicBezTo>
                  <a:close/>
                </a:path>
              </a:pathLst>
            </a:custGeom>
            <a:solidFill>
              <a:srgbClr val="0F172A"/>
            </a:solidFill>
            <a:ln w="14299" cap="sq">
              <a:solidFill>
                <a:srgbClr val="334455"/>
              </a:solidFill>
              <a:prstDash val="solid"/>
              <a:miter/>
            </a:ln>
          </p:spPr>
        </p:sp>
        <p:sp>
          <p:nvSpPr>
            <p:cNvPr name="TextBox 23" id="23"/>
            <p:cNvSpPr txBox="true"/>
            <p:nvPr/>
          </p:nvSpPr>
          <p:spPr>
            <a:xfrm>
              <a:off x="0" y="-28575"/>
              <a:ext cx="4777664" cy="87124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81"/>
                </a:lnSpc>
              </a:pPr>
              <a:r>
                <a:rPr lang="en-US" sz="1651">
                  <a:solidFill>
                    <a:srgbClr val="F1F5F9"/>
                  </a:solidFill>
                  <a:latin typeface="Consolas"/>
                  <a:ea typeface="Consolas"/>
                  <a:cs typeface="Consolas"/>
                  <a:sym typeface="Consolas"/>
                </a:rPr>
                <a:t>carrito</a:t>
              </a:r>
            </a:p>
          </p:txBody>
        </p:sp>
      </p:grpSp>
      <p:grpSp>
        <p:nvGrpSpPr>
          <p:cNvPr name="Group 24" id="24"/>
          <p:cNvGrpSpPr/>
          <p:nvPr/>
        </p:nvGrpSpPr>
        <p:grpSpPr>
          <a:xfrm rot="0">
            <a:off x="5552170" y="6032611"/>
            <a:ext cx="3583248" cy="632003"/>
            <a:chOff x="0" y="0"/>
            <a:chExt cx="4777664" cy="84267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4777740" cy="842645"/>
            </a:xfrm>
            <a:custGeom>
              <a:avLst/>
              <a:gdLst/>
              <a:ahLst/>
              <a:cxnLst/>
              <a:rect r="r" b="b" t="t" l="l"/>
              <a:pathLst>
                <a:path h="842645" w="4777740">
                  <a:moveTo>
                    <a:pt x="0" y="140462"/>
                  </a:moveTo>
                  <a:cubicBezTo>
                    <a:pt x="0" y="62865"/>
                    <a:pt x="62865" y="0"/>
                    <a:pt x="140462" y="0"/>
                  </a:cubicBezTo>
                  <a:lnTo>
                    <a:pt x="4637278" y="0"/>
                  </a:lnTo>
                  <a:cubicBezTo>
                    <a:pt x="4714875" y="0"/>
                    <a:pt x="4777740" y="62865"/>
                    <a:pt x="4777740" y="140462"/>
                  </a:cubicBezTo>
                  <a:lnTo>
                    <a:pt x="4777740" y="702183"/>
                  </a:lnTo>
                  <a:cubicBezTo>
                    <a:pt x="4777740" y="779780"/>
                    <a:pt x="4714875" y="842645"/>
                    <a:pt x="4637278" y="842645"/>
                  </a:cubicBezTo>
                  <a:lnTo>
                    <a:pt x="140462" y="842645"/>
                  </a:lnTo>
                  <a:cubicBezTo>
                    <a:pt x="62865" y="842645"/>
                    <a:pt x="0" y="779780"/>
                    <a:pt x="0" y="702183"/>
                  </a:cubicBezTo>
                  <a:close/>
                </a:path>
              </a:pathLst>
            </a:custGeom>
            <a:solidFill>
              <a:srgbClr val="0F172A"/>
            </a:solidFill>
            <a:ln w="14299" cap="sq">
              <a:solidFill>
                <a:srgbClr val="334455"/>
              </a:solidFill>
              <a:prstDash val="solid"/>
              <a:miter/>
            </a:ln>
          </p:spPr>
        </p:sp>
        <p:sp>
          <p:nvSpPr>
            <p:cNvPr name="TextBox 26" id="26"/>
            <p:cNvSpPr txBox="true"/>
            <p:nvPr/>
          </p:nvSpPr>
          <p:spPr>
            <a:xfrm>
              <a:off x="0" y="-28575"/>
              <a:ext cx="4777664" cy="87124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81"/>
                </a:lnSpc>
              </a:pPr>
              <a:r>
                <a:rPr lang="en-US" sz="1651">
                  <a:solidFill>
                    <a:srgbClr val="F1F5F9"/>
                  </a:solidFill>
                  <a:latin typeface="Consolas"/>
                  <a:ea typeface="Consolas"/>
                  <a:cs typeface="Consolas"/>
                  <a:sym typeface="Consolas"/>
                </a:rPr>
                <a:t>pedidos</a:t>
              </a:r>
            </a:p>
          </p:txBody>
        </p:sp>
      </p:grpSp>
      <p:grpSp>
        <p:nvGrpSpPr>
          <p:cNvPr name="Group 27" id="27"/>
          <p:cNvGrpSpPr/>
          <p:nvPr/>
        </p:nvGrpSpPr>
        <p:grpSpPr>
          <a:xfrm rot="0">
            <a:off x="5552170" y="6787582"/>
            <a:ext cx="3583248" cy="632003"/>
            <a:chOff x="0" y="0"/>
            <a:chExt cx="4777664" cy="842670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4777740" cy="842645"/>
            </a:xfrm>
            <a:custGeom>
              <a:avLst/>
              <a:gdLst/>
              <a:ahLst/>
              <a:cxnLst/>
              <a:rect r="r" b="b" t="t" l="l"/>
              <a:pathLst>
                <a:path h="842645" w="4777740">
                  <a:moveTo>
                    <a:pt x="0" y="140462"/>
                  </a:moveTo>
                  <a:cubicBezTo>
                    <a:pt x="0" y="62865"/>
                    <a:pt x="62865" y="0"/>
                    <a:pt x="140462" y="0"/>
                  </a:cubicBezTo>
                  <a:lnTo>
                    <a:pt x="4637278" y="0"/>
                  </a:lnTo>
                  <a:cubicBezTo>
                    <a:pt x="4714875" y="0"/>
                    <a:pt x="4777740" y="62865"/>
                    <a:pt x="4777740" y="140462"/>
                  </a:cubicBezTo>
                  <a:lnTo>
                    <a:pt x="4777740" y="702183"/>
                  </a:lnTo>
                  <a:cubicBezTo>
                    <a:pt x="4777740" y="779780"/>
                    <a:pt x="4714875" y="842645"/>
                    <a:pt x="4637278" y="842645"/>
                  </a:cubicBezTo>
                  <a:lnTo>
                    <a:pt x="140462" y="842645"/>
                  </a:lnTo>
                  <a:cubicBezTo>
                    <a:pt x="62865" y="842645"/>
                    <a:pt x="0" y="779780"/>
                    <a:pt x="0" y="702183"/>
                  </a:cubicBezTo>
                  <a:close/>
                </a:path>
              </a:pathLst>
            </a:custGeom>
            <a:solidFill>
              <a:srgbClr val="0F172A"/>
            </a:solidFill>
            <a:ln w="14299" cap="sq">
              <a:solidFill>
                <a:srgbClr val="334455"/>
              </a:solidFill>
              <a:prstDash val="solid"/>
              <a:miter/>
            </a:ln>
          </p:spPr>
        </p:sp>
        <p:sp>
          <p:nvSpPr>
            <p:cNvPr name="TextBox 29" id="29"/>
            <p:cNvSpPr txBox="true"/>
            <p:nvPr/>
          </p:nvSpPr>
          <p:spPr>
            <a:xfrm>
              <a:off x="0" y="-28575"/>
              <a:ext cx="4777664" cy="87124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81"/>
                </a:lnSpc>
              </a:pPr>
              <a:r>
                <a:rPr lang="en-US" sz="1651">
                  <a:solidFill>
                    <a:srgbClr val="F1F5F9"/>
                  </a:solidFill>
                  <a:latin typeface="Consolas"/>
                  <a:ea typeface="Consolas"/>
                  <a:cs typeface="Consolas"/>
                  <a:sym typeface="Consolas"/>
                </a:rPr>
                <a:t>pedidos_detalle</a:t>
              </a:r>
            </a:p>
          </p:txBody>
        </p:sp>
      </p:grpSp>
      <p:grpSp>
        <p:nvGrpSpPr>
          <p:cNvPr name="Group 30" id="30"/>
          <p:cNvGrpSpPr/>
          <p:nvPr/>
        </p:nvGrpSpPr>
        <p:grpSpPr>
          <a:xfrm rot="0">
            <a:off x="9599171" y="2598544"/>
            <a:ext cx="4137079" cy="6470628"/>
            <a:chOff x="0" y="0"/>
            <a:chExt cx="5516105" cy="8627504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5516118" cy="8627491"/>
            </a:xfrm>
            <a:custGeom>
              <a:avLst/>
              <a:gdLst/>
              <a:ahLst/>
              <a:cxnLst/>
              <a:rect r="r" b="b" t="t" l="l"/>
              <a:pathLst>
                <a:path h="8627491" w="5516118">
                  <a:moveTo>
                    <a:pt x="0" y="919353"/>
                  </a:moveTo>
                  <a:cubicBezTo>
                    <a:pt x="0" y="411607"/>
                    <a:pt x="411607" y="0"/>
                    <a:pt x="919353" y="0"/>
                  </a:cubicBezTo>
                  <a:lnTo>
                    <a:pt x="4596765" y="0"/>
                  </a:lnTo>
                  <a:cubicBezTo>
                    <a:pt x="5104511" y="0"/>
                    <a:pt x="5516118" y="411607"/>
                    <a:pt x="5516118" y="919353"/>
                  </a:cubicBezTo>
                  <a:lnTo>
                    <a:pt x="5516118" y="7708138"/>
                  </a:lnTo>
                  <a:cubicBezTo>
                    <a:pt x="5516118" y="8215884"/>
                    <a:pt x="5104511" y="8627491"/>
                    <a:pt x="4596765" y="8627491"/>
                  </a:cubicBezTo>
                  <a:lnTo>
                    <a:pt x="919353" y="8627491"/>
                  </a:lnTo>
                  <a:cubicBezTo>
                    <a:pt x="411607" y="8627491"/>
                    <a:pt x="0" y="8215884"/>
                    <a:pt x="0" y="7708138"/>
                  </a:cubicBezTo>
                  <a:close/>
                </a:path>
              </a:pathLst>
            </a:custGeom>
            <a:solidFill>
              <a:srgbClr val="1E293B"/>
            </a:solidFill>
            <a:ln w="19065" cap="sq">
              <a:solidFill>
                <a:srgbClr val="10B981"/>
              </a:solidFill>
              <a:prstDash val="solid"/>
              <a:miter/>
            </a:ln>
          </p:spPr>
        </p:sp>
      </p:grpSp>
      <p:sp>
        <p:nvSpPr>
          <p:cNvPr name="TextBox 32" id="32"/>
          <p:cNvSpPr txBox="true"/>
          <p:nvPr/>
        </p:nvSpPr>
        <p:spPr>
          <a:xfrm rot="0">
            <a:off x="9864604" y="2864510"/>
            <a:ext cx="3606213" cy="6844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 b="true">
                <a:solidFill>
                  <a:srgbClr val="10B981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BLOQUE C · Monitor SO</a:t>
            </a:r>
          </a:p>
        </p:txBody>
      </p:sp>
      <p:grpSp>
        <p:nvGrpSpPr>
          <p:cNvPr name="Group 33" id="33"/>
          <p:cNvGrpSpPr/>
          <p:nvPr/>
        </p:nvGrpSpPr>
        <p:grpSpPr>
          <a:xfrm rot="0">
            <a:off x="9876092" y="3767699"/>
            <a:ext cx="3583248" cy="632003"/>
            <a:chOff x="0" y="0"/>
            <a:chExt cx="4777664" cy="842670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4777740" cy="842645"/>
            </a:xfrm>
            <a:custGeom>
              <a:avLst/>
              <a:gdLst/>
              <a:ahLst/>
              <a:cxnLst/>
              <a:rect r="r" b="b" t="t" l="l"/>
              <a:pathLst>
                <a:path h="842645" w="4777740">
                  <a:moveTo>
                    <a:pt x="0" y="140462"/>
                  </a:moveTo>
                  <a:cubicBezTo>
                    <a:pt x="0" y="62865"/>
                    <a:pt x="62865" y="0"/>
                    <a:pt x="140462" y="0"/>
                  </a:cubicBezTo>
                  <a:lnTo>
                    <a:pt x="4637278" y="0"/>
                  </a:lnTo>
                  <a:cubicBezTo>
                    <a:pt x="4714875" y="0"/>
                    <a:pt x="4777740" y="62865"/>
                    <a:pt x="4777740" y="140462"/>
                  </a:cubicBezTo>
                  <a:lnTo>
                    <a:pt x="4777740" y="702183"/>
                  </a:lnTo>
                  <a:cubicBezTo>
                    <a:pt x="4777740" y="779780"/>
                    <a:pt x="4714875" y="842645"/>
                    <a:pt x="4637278" y="842645"/>
                  </a:cubicBezTo>
                  <a:lnTo>
                    <a:pt x="140462" y="842645"/>
                  </a:lnTo>
                  <a:cubicBezTo>
                    <a:pt x="62865" y="842645"/>
                    <a:pt x="0" y="779780"/>
                    <a:pt x="0" y="702183"/>
                  </a:cubicBezTo>
                  <a:close/>
                </a:path>
              </a:pathLst>
            </a:custGeom>
            <a:solidFill>
              <a:srgbClr val="0F172A"/>
            </a:solidFill>
            <a:ln w="14299" cap="sq">
              <a:solidFill>
                <a:srgbClr val="334455"/>
              </a:solidFill>
              <a:prstDash val="solid"/>
              <a:miter/>
            </a:ln>
          </p:spPr>
        </p:sp>
        <p:sp>
          <p:nvSpPr>
            <p:cNvPr name="TextBox 35" id="35"/>
            <p:cNvSpPr txBox="true"/>
            <p:nvPr/>
          </p:nvSpPr>
          <p:spPr>
            <a:xfrm>
              <a:off x="0" y="-28575"/>
              <a:ext cx="4777664" cy="87124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81"/>
                </a:lnSpc>
              </a:pPr>
              <a:r>
                <a:rPr lang="en-US" sz="1651">
                  <a:solidFill>
                    <a:srgbClr val="F1F5F9"/>
                  </a:solidFill>
                  <a:latin typeface="Consolas"/>
                  <a:ea typeface="Consolas"/>
                  <a:cs typeface="Consolas"/>
                  <a:sym typeface="Consolas"/>
                </a:rPr>
                <a:t>metricas_catalogo</a:t>
              </a:r>
            </a:p>
          </p:txBody>
        </p:sp>
      </p:grpSp>
      <p:grpSp>
        <p:nvGrpSpPr>
          <p:cNvPr name="Group 36" id="36"/>
          <p:cNvGrpSpPr/>
          <p:nvPr/>
        </p:nvGrpSpPr>
        <p:grpSpPr>
          <a:xfrm rot="0">
            <a:off x="9876092" y="4522670"/>
            <a:ext cx="3583248" cy="632003"/>
            <a:chOff x="0" y="0"/>
            <a:chExt cx="4777664" cy="842670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4777740" cy="842645"/>
            </a:xfrm>
            <a:custGeom>
              <a:avLst/>
              <a:gdLst/>
              <a:ahLst/>
              <a:cxnLst/>
              <a:rect r="r" b="b" t="t" l="l"/>
              <a:pathLst>
                <a:path h="842645" w="4777740">
                  <a:moveTo>
                    <a:pt x="0" y="140462"/>
                  </a:moveTo>
                  <a:cubicBezTo>
                    <a:pt x="0" y="62865"/>
                    <a:pt x="62865" y="0"/>
                    <a:pt x="140462" y="0"/>
                  </a:cubicBezTo>
                  <a:lnTo>
                    <a:pt x="4637278" y="0"/>
                  </a:lnTo>
                  <a:cubicBezTo>
                    <a:pt x="4714875" y="0"/>
                    <a:pt x="4777740" y="62865"/>
                    <a:pt x="4777740" y="140462"/>
                  </a:cubicBezTo>
                  <a:lnTo>
                    <a:pt x="4777740" y="702183"/>
                  </a:lnTo>
                  <a:cubicBezTo>
                    <a:pt x="4777740" y="779780"/>
                    <a:pt x="4714875" y="842645"/>
                    <a:pt x="4637278" y="842645"/>
                  </a:cubicBezTo>
                  <a:lnTo>
                    <a:pt x="140462" y="842645"/>
                  </a:lnTo>
                  <a:cubicBezTo>
                    <a:pt x="62865" y="842645"/>
                    <a:pt x="0" y="779780"/>
                    <a:pt x="0" y="702183"/>
                  </a:cubicBezTo>
                  <a:close/>
                </a:path>
              </a:pathLst>
            </a:custGeom>
            <a:solidFill>
              <a:srgbClr val="0F172A"/>
            </a:solidFill>
            <a:ln w="14299" cap="sq">
              <a:solidFill>
                <a:srgbClr val="334455"/>
              </a:solidFill>
              <a:prstDash val="solid"/>
              <a:miter/>
            </a:ln>
          </p:spPr>
        </p:sp>
        <p:sp>
          <p:nvSpPr>
            <p:cNvPr name="TextBox 38" id="38"/>
            <p:cNvSpPr txBox="true"/>
            <p:nvPr/>
          </p:nvSpPr>
          <p:spPr>
            <a:xfrm>
              <a:off x="0" y="-28575"/>
              <a:ext cx="4777664" cy="87124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81"/>
                </a:lnSpc>
              </a:pPr>
              <a:r>
                <a:rPr lang="en-US" sz="1651">
                  <a:solidFill>
                    <a:srgbClr val="F1F5F9"/>
                  </a:solidFill>
                  <a:latin typeface="Consolas"/>
                  <a:ea typeface="Consolas"/>
                  <a:cs typeface="Consolas"/>
                  <a:sym typeface="Consolas"/>
                </a:rPr>
                <a:t>lecturas</a:t>
              </a:r>
            </a:p>
          </p:txBody>
        </p:sp>
      </p:grpSp>
      <p:grpSp>
        <p:nvGrpSpPr>
          <p:cNvPr name="Group 39" id="39"/>
          <p:cNvGrpSpPr/>
          <p:nvPr/>
        </p:nvGrpSpPr>
        <p:grpSpPr>
          <a:xfrm rot="0">
            <a:off x="9876092" y="5277641"/>
            <a:ext cx="3583248" cy="632003"/>
            <a:chOff x="0" y="0"/>
            <a:chExt cx="4777664" cy="842670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4777740" cy="842645"/>
            </a:xfrm>
            <a:custGeom>
              <a:avLst/>
              <a:gdLst/>
              <a:ahLst/>
              <a:cxnLst/>
              <a:rect r="r" b="b" t="t" l="l"/>
              <a:pathLst>
                <a:path h="842645" w="4777740">
                  <a:moveTo>
                    <a:pt x="0" y="140462"/>
                  </a:moveTo>
                  <a:cubicBezTo>
                    <a:pt x="0" y="62865"/>
                    <a:pt x="62865" y="0"/>
                    <a:pt x="140462" y="0"/>
                  </a:cubicBezTo>
                  <a:lnTo>
                    <a:pt x="4637278" y="0"/>
                  </a:lnTo>
                  <a:cubicBezTo>
                    <a:pt x="4714875" y="0"/>
                    <a:pt x="4777740" y="62865"/>
                    <a:pt x="4777740" y="140462"/>
                  </a:cubicBezTo>
                  <a:lnTo>
                    <a:pt x="4777740" y="702183"/>
                  </a:lnTo>
                  <a:cubicBezTo>
                    <a:pt x="4777740" y="779780"/>
                    <a:pt x="4714875" y="842645"/>
                    <a:pt x="4637278" y="842645"/>
                  </a:cubicBezTo>
                  <a:lnTo>
                    <a:pt x="140462" y="842645"/>
                  </a:lnTo>
                  <a:cubicBezTo>
                    <a:pt x="62865" y="842645"/>
                    <a:pt x="0" y="779780"/>
                    <a:pt x="0" y="702183"/>
                  </a:cubicBezTo>
                  <a:close/>
                </a:path>
              </a:pathLst>
            </a:custGeom>
            <a:solidFill>
              <a:srgbClr val="0F172A"/>
            </a:solidFill>
            <a:ln w="14299" cap="sq">
              <a:solidFill>
                <a:srgbClr val="334455"/>
              </a:solidFill>
              <a:prstDash val="solid"/>
              <a:miter/>
            </a:ln>
          </p:spPr>
        </p:sp>
        <p:sp>
          <p:nvSpPr>
            <p:cNvPr name="TextBox 41" id="41"/>
            <p:cNvSpPr txBox="true"/>
            <p:nvPr/>
          </p:nvSpPr>
          <p:spPr>
            <a:xfrm>
              <a:off x="0" y="-28575"/>
              <a:ext cx="4777664" cy="87124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81"/>
                </a:lnSpc>
              </a:pPr>
              <a:r>
                <a:rPr lang="en-US" sz="1651">
                  <a:solidFill>
                    <a:srgbClr val="F1F5F9"/>
                  </a:solidFill>
                  <a:latin typeface="Consolas"/>
                  <a:ea typeface="Consolas"/>
                  <a:cs typeface="Consolas"/>
                  <a:sym typeface="Consolas"/>
                </a:rPr>
                <a:t>alertas</a:t>
              </a:r>
            </a:p>
          </p:txBody>
        </p:sp>
      </p:grpSp>
      <p:grpSp>
        <p:nvGrpSpPr>
          <p:cNvPr name="Group 42" id="42"/>
          <p:cNvGrpSpPr/>
          <p:nvPr/>
        </p:nvGrpSpPr>
        <p:grpSpPr>
          <a:xfrm rot="0">
            <a:off x="9876092" y="6032611"/>
            <a:ext cx="3583248" cy="632003"/>
            <a:chOff x="0" y="0"/>
            <a:chExt cx="4777664" cy="842670"/>
          </a:xfrm>
        </p:grpSpPr>
        <p:sp>
          <p:nvSpPr>
            <p:cNvPr name="Freeform 43" id="43"/>
            <p:cNvSpPr/>
            <p:nvPr/>
          </p:nvSpPr>
          <p:spPr>
            <a:xfrm flipH="false" flipV="false" rot="0">
              <a:off x="0" y="0"/>
              <a:ext cx="4777740" cy="842645"/>
            </a:xfrm>
            <a:custGeom>
              <a:avLst/>
              <a:gdLst/>
              <a:ahLst/>
              <a:cxnLst/>
              <a:rect r="r" b="b" t="t" l="l"/>
              <a:pathLst>
                <a:path h="842645" w="4777740">
                  <a:moveTo>
                    <a:pt x="0" y="140462"/>
                  </a:moveTo>
                  <a:cubicBezTo>
                    <a:pt x="0" y="62865"/>
                    <a:pt x="62865" y="0"/>
                    <a:pt x="140462" y="0"/>
                  </a:cubicBezTo>
                  <a:lnTo>
                    <a:pt x="4637278" y="0"/>
                  </a:lnTo>
                  <a:cubicBezTo>
                    <a:pt x="4714875" y="0"/>
                    <a:pt x="4777740" y="62865"/>
                    <a:pt x="4777740" y="140462"/>
                  </a:cubicBezTo>
                  <a:lnTo>
                    <a:pt x="4777740" y="702183"/>
                  </a:lnTo>
                  <a:cubicBezTo>
                    <a:pt x="4777740" y="779780"/>
                    <a:pt x="4714875" y="842645"/>
                    <a:pt x="4637278" y="842645"/>
                  </a:cubicBezTo>
                  <a:lnTo>
                    <a:pt x="140462" y="842645"/>
                  </a:lnTo>
                  <a:cubicBezTo>
                    <a:pt x="62865" y="842645"/>
                    <a:pt x="0" y="779780"/>
                    <a:pt x="0" y="702183"/>
                  </a:cubicBezTo>
                  <a:close/>
                </a:path>
              </a:pathLst>
            </a:custGeom>
            <a:solidFill>
              <a:srgbClr val="0F172A"/>
            </a:solidFill>
            <a:ln w="14299" cap="sq">
              <a:solidFill>
                <a:srgbClr val="334455"/>
              </a:solidFill>
              <a:prstDash val="solid"/>
              <a:miter/>
            </a:ln>
          </p:spPr>
        </p:sp>
        <p:sp>
          <p:nvSpPr>
            <p:cNvPr name="TextBox 44" id="44"/>
            <p:cNvSpPr txBox="true"/>
            <p:nvPr/>
          </p:nvSpPr>
          <p:spPr>
            <a:xfrm>
              <a:off x="0" y="-28575"/>
              <a:ext cx="4777664" cy="87124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81"/>
                </a:lnSpc>
              </a:pPr>
              <a:r>
                <a:rPr lang="en-US" sz="1651">
                  <a:solidFill>
                    <a:srgbClr val="F1F5F9"/>
                  </a:solidFill>
                  <a:latin typeface="Consolas"/>
                  <a:ea typeface="Consolas"/>
                  <a:cs typeface="Consolas"/>
                  <a:sym typeface="Consolas"/>
                </a:rPr>
                <a:t>notificaciones</a:t>
              </a:r>
            </a:p>
          </p:txBody>
        </p:sp>
      </p:grpSp>
      <p:grpSp>
        <p:nvGrpSpPr>
          <p:cNvPr name="Group 45" id="45"/>
          <p:cNvGrpSpPr/>
          <p:nvPr/>
        </p:nvGrpSpPr>
        <p:grpSpPr>
          <a:xfrm rot="0">
            <a:off x="13923093" y="2598544"/>
            <a:ext cx="4137079" cy="6470628"/>
            <a:chOff x="0" y="0"/>
            <a:chExt cx="5516105" cy="8627504"/>
          </a:xfrm>
        </p:grpSpPr>
        <p:sp>
          <p:nvSpPr>
            <p:cNvPr name="Freeform 46" id="46"/>
            <p:cNvSpPr/>
            <p:nvPr/>
          </p:nvSpPr>
          <p:spPr>
            <a:xfrm flipH="false" flipV="false" rot="0">
              <a:off x="0" y="0"/>
              <a:ext cx="5516118" cy="8627491"/>
            </a:xfrm>
            <a:custGeom>
              <a:avLst/>
              <a:gdLst/>
              <a:ahLst/>
              <a:cxnLst/>
              <a:rect r="r" b="b" t="t" l="l"/>
              <a:pathLst>
                <a:path h="8627491" w="5516118">
                  <a:moveTo>
                    <a:pt x="0" y="919353"/>
                  </a:moveTo>
                  <a:cubicBezTo>
                    <a:pt x="0" y="411607"/>
                    <a:pt x="411607" y="0"/>
                    <a:pt x="919353" y="0"/>
                  </a:cubicBezTo>
                  <a:lnTo>
                    <a:pt x="4596765" y="0"/>
                  </a:lnTo>
                  <a:cubicBezTo>
                    <a:pt x="5104511" y="0"/>
                    <a:pt x="5516118" y="411607"/>
                    <a:pt x="5516118" y="919353"/>
                  </a:cubicBezTo>
                  <a:lnTo>
                    <a:pt x="5516118" y="7708138"/>
                  </a:lnTo>
                  <a:cubicBezTo>
                    <a:pt x="5516118" y="8215884"/>
                    <a:pt x="5104511" y="8627491"/>
                    <a:pt x="4596765" y="8627491"/>
                  </a:cubicBezTo>
                  <a:lnTo>
                    <a:pt x="919353" y="8627491"/>
                  </a:lnTo>
                  <a:cubicBezTo>
                    <a:pt x="411607" y="8627491"/>
                    <a:pt x="0" y="8215884"/>
                    <a:pt x="0" y="7708138"/>
                  </a:cubicBezTo>
                  <a:close/>
                </a:path>
              </a:pathLst>
            </a:custGeom>
            <a:solidFill>
              <a:srgbClr val="1E293B"/>
            </a:solidFill>
            <a:ln w="19065" cap="sq">
              <a:solidFill>
                <a:srgbClr val="EC4899"/>
              </a:solidFill>
              <a:prstDash val="solid"/>
              <a:miter/>
            </a:ln>
          </p:spPr>
        </p:sp>
      </p:grpSp>
      <p:sp>
        <p:nvSpPr>
          <p:cNvPr name="TextBox 47" id="47"/>
          <p:cNvSpPr txBox="true"/>
          <p:nvPr/>
        </p:nvSpPr>
        <p:spPr>
          <a:xfrm rot="0">
            <a:off x="14188526" y="2864510"/>
            <a:ext cx="3606213" cy="6844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 b="true">
                <a:solidFill>
                  <a:srgbClr val="EC489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BLOQUE D · Social Commerce</a:t>
            </a:r>
          </a:p>
        </p:txBody>
      </p:sp>
      <p:grpSp>
        <p:nvGrpSpPr>
          <p:cNvPr name="Group 48" id="48"/>
          <p:cNvGrpSpPr/>
          <p:nvPr/>
        </p:nvGrpSpPr>
        <p:grpSpPr>
          <a:xfrm rot="0">
            <a:off x="14200013" y="3767699"/>
            <a:ext cx="3583248" cy="632003"/>
            <a:chOff x="0" y="0"/>
            <a:chExt cx="4777664" cy="842670"/>
          </a:xfrm>
        </p:grpSpPr>
        <p:sp>
          <p:nvSpPr>
            <p:cNvPr name="Freeform 49" id="49"/>
            <p:cNvSpPr/>
            <p:nvPr/>
          </p:nvSpPr>
          <p:spPr>
            <a:xfrm flipH="false" flipV="false" rot="0">
              <a:off x="0" y="0"/>
              <a:ext cx="4777740" cy="842645"/>
            </a:xfrm>
            <a:custGeom>
              <a:avLst/>
              <a:gdLst/>
              <a:ahLst/>
              <a:cxnLst/>
              <a:rect r="r" b="b" t="t" l="l"/>
              <a:pathLst>
                <a:path h="842645" w="4777740">
                  <a:moveTo>
                    <a:pt x="0" y="140462"/>
                  </a:moveTo>
                  <a:cubicBezTo>
                    <a:pt x="0" y="62865"/>
                    <a:pt x="62865" y="0"/>
                    <a:pt x="140462" y="0"/>
                  </a:cubicBezTo>
                  <a:lnTo>
                    <a:pt x="4637278" y="0"/>
                  </a:lnTo>
                  <a:cubicBezTo>
                    <a:pt x="4714875" y="0"/>
                    <a:pt x="4777740" y="62865"/>
                    <a:pt x="4777740" y="140462"/>
                  </a:cubicBezTo>
                  <a:lnTo>
                    <a:pt x="4777740" y="702183"/>
                  </a:lnTo>
                  <a:cubicBezTo>
                    <a:pt x="4777740" y="779780"/>
                    <a:pt x="4714875" y="842645"/>
                    <a:pt x="4637278" y="842645"/>
                  </a:cubicBezTo>
                  <a:lnTo>
                    <a:pt x="140462" y="842645"/>
                  </a:lnTo>
                  <a:cubicBezTo>
                    <a:pt x="62865" y="842645"/>
                    <a:pt x="0" y="779780"/>
                    <a:pt x="0" y="702183"/>
                  </a:cubicBezTo>
                  <a:close/>
                </a:path>
              </a:pathLst>
            </a:custGeom>
            <a:solidFill>
              <a:srgbClr val="0F172A"/>
            </a:solidFill>
            <a:ln w="14299" cap="sq">
              <a:solidFill>
                <a:srgbClr val="334455"/>
              </a:solidFill>
              <a:prstDash val="solid"/>
              <a:miter/>
            </a:ln>
          </p:spPr>
        </p:sp>
        <p:sp>
          <p:nvSpPr>
            <p:cNvPr name="TextBox 50" id="50"/>
            <p:cNvSpPr txBox="true"/>
            <p:nvPr/>
          </p:nvSpPr>
          <p:spPr>
            <a:xfrm>
              <a:off x="0" y="-28575"/>
              <a:ext cx="4777664" cy="87124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81"/>
                </a:lnSpc>
              </a:pPr>
              <a:r>
                <a:rPr lang="en-US" sz="1651">
                  <a:solidFill>
                    <a:srgbClr val="F1F5F9"/>
                  </a:solidFill>
                  <a:latin typeface="Consolas"/>
                  <a:ea typeface="Consolas"/>
                  <a:cs typeface="Consolas"/>
                  <a:sym typeface="Consolas"/>
                </a:rPr>
                <a:t>producto_likes</a:t>
              </a:r>
            </a:p>
          </p:txBody>
        </p:sp>
      </p:grpSp>
      <p:grpSp>
        <p:nvGrpSpPr>
          <p:cNvPr name="Group 51" id="51"/>
          <p:cNvGrpSpPr/>
          <p:nvPr/>
        </p:nvGrpSpPr>
        <p:grpSpPr>
          <a:xfrm rot="0">
            <a:off x="14200013" y="4522670"/>
            <a:ext cx="3583248" cy="632003"/>
            <a:chOff x="0" y="0"/>
            <a:chExt cx="4777664" cy="842670"/>
          </a:xfrm>
        </p:grpSpPr>
        <p:sp>
          <p:nvSpPr>
            <p:cNvPr name="Freeform 52" id="52"/>
            <p:cNvSpPr/>
            <p:nvPr/>
          </p:nvSpPr>
          <p:spPr>
            <a:xfrm flipH="false" flipV="false" rot="0">
              <a:off x="0" y="0"/>
              <a:ext cx="4777740" cy="842645"/>
            </a:xfrm>
            <a:custGeom>
              <a:avLst/>
              <a:gdLst/>
              <a:ahLst/>
              <a:cxnLst/>
              <a:rect r="r" b="b" t="t" l="l"/>
              <a:pathLst>
                <a:path h="842645" w="4777740">
                  <a:moveTo>
                    <a:pt x="0" y="140462"/>
                  </a:moveTo>
                  <a:cubicBezTo>
                    <a:pt x="0" y="62865"/>
                    <a:pt x="62865" y="0"/>
                    <a:pt x="140462" y="0"/>
                  </a:cubicBezTo>
                  <a:lnTo>
                    <a:pt x="4637278" y="0"/>
                  </a:lnTo>
                  <a:cubicBezTo>
                    <a:pt x="4714875" y="0"/>
                    <a:pt x="4777740" y="62865"/>
                    <a:pt x="4777740" y="140462"/>
                  </a:cubicBezTo>
                  <a:lnTo>
                    <a:pt x="4777740" y="702183"/>
                  </a:lnTo>
                  <a:cubicBezTo>
                    <a:pt x="4777740" y="779780"/>
                    <a:pt x="4714875" y="842645"/>
                    <a:pt x="4637278" y="842645"/>
                  </a:cubicBezTo>
                  <a:lnTo>
                    <a:pt x="140462" y="842645"/>
                  </a:lnTo>
                  <a:cubicBezTo>
                    <a:pt x="62865" y="842645"/>
                    <a:pt x="0" y="779780"/>
                    <a:pt x="0" y="702183"/>
                  </a:cubicBezTo>
                  <a:close/>
                </a:path>
              </a:pathLst>
            </a:custGeom>
            <a:solidFill>
              <a:srgbClr val="0F172A"/>
            </a:solidFill>
            <a:ln w="14299" cap="sq">
              <a:solidFill>
                <a:srgbClr val="334455"/>
              </a:solidFill>
              <a:prstDash val="solid"/>
              <a:miter/>
            </a:ln>
          </p:spPr>
        </p:sp>
        <p:sp>
          <p:nvSpPr>
            <p:cNvPr name="TextBox 53" id="53"/>
            <p:cNvSpPr txBox="true"/>
            <p:nvPr/>
          </p:nvSpPr>
          <p:spPr>
            <a:xfrm>
              <a:off x="0" y="-28575"/>
              <a:ext cx="4777664" cy="87124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81"/>
                </a:lnSpc>
              </a:pPr>
              <a:r>
                <a:rPr lang="en-US" sz="1651">
                  <a:solidFill>
                    <a:srgbClr val="F1F5F9"/>
                  </a:solidFill>
                  <a:latin typeface="Consolas"/>
                  <a:ea typeface="Consolas"/>
                  <a:cs typeface="Consolas"/>
                  <a:sym typeface="Consolas"/>
                </a:rPr>
                <a:t>comentarios</a:t>
              </a:r>
            </a:p>
          </p:txBody>
        </p:sp>
      </p:grpSp>
      <p:grpSp>
        <p:nvGrpSpPr>
          <p:cNvPr name="Group 54" id="54"/>
          <p:cNvGrpSpPr/>
          <p:nvPr/>
        </p:nvGrpSpPr>
        <p:grpSpPr>
          <a:xfrm rot="0">
            <a:off x="14200013" y="5277641"/>
            <a:ext cx="3583248" cy="632003"/>
            <a:chOff x="0" y="0"/>
            <a:chExt cx="4777664" cy="842670"/>
          </a:xfrm>
        </p:grpSpPr>
        <p:sp>
          <p:nvSpPr>
            <p:cNvPr name="Freeform 55" id="55"/>
            <p:cNvSpPr/>
            <p:nvPr/>
          </p:nvSpPr>
          <p:spPr>
            <a:xfrm flipH="false" flipV="false" rot="0">
              <a:off x="0" y="0"/>
              <a:ext cx="4777740" cy="842645"/>
            </a:xfrm>
            <a:custGeom>
              <a:avLst/>
              <a:gdLst/>
              <a:ahLst/>
              <a:cxnLst/>
              <a:rect r="r" b="b" t="t" l="l"/>
              <a:pathLst>
                <a:path h="842645" w="4777740">
                  <a:moveTo>
                    <a:pt x="0" y="140462"/>
                  </a:moveTo>
                  <a:cubicBezTo>
                    <a:pt x="0" y="62865"/>
                    <a:pt x="62865" y="0"/>
                    <a:pt x="140462" y="0"/>
                  </a:cubicBezTo>
                  <a:lnTo>
                    <a:pt x="4637278" y="0"/>
                  </a:lnTo>
                  <a:cubicBezTo>
                    <a:pt x="4714875" y="0"/>
                    <a:pt x="4777740" y="62865"/>
                    <a:pt x="4777740" y="140462"/>
                  </a:cubicBezTo>
                  <a:lnTo>
                    <a:pt x="4777740" y="702183"/>
                  </a:lnTo>
                  <a:cubicBezTo>
                    <a:pt x="4777740" y="779780"/>
                    <a:pt x="4714875" y="842645"/>
                    <a:pt x="4637278" y="842645"/>
                  </a:cubicBezTo>
                  <a:lnTo>
                    <a:pt x="140462" y="842645"/>
                  </a:lnTo>
                  <a:cubicBezTo>
                    <a:pt x="62865" y="842645"/>
                    <a:pt x="0" y="779780"/>
                    <a:pt x="0" y="702183"/>
                  </a:cubicBezTo>
                  <a:close/>
                </a:path>
              </a:pathLst>
            </a:custGeom>
            <a:solidFill>
              <a:srgbClr val="0F172A"/>
            </a:solidFill>
            <a:ln w="14299" cap="sq">
              <a:solidFill>
                <a:srgbClr val="334455"/>
              </a:solidFill>
              <a:prstDash val="solid"/>
              <a:miter/>
            </a:ln>
          </p:spPr>
        </p:sp>
        <p:sp>
          <p:nvSpPr>
            <p:cNvPr name="TextBox 56" id="56"/>
            <p:cNvSpPr txBox="true"/>
            <p:nvPr/>
          </p:nvSpPr>
          <p:spPr>
            <a:xfrm>
              <a:off x="0" y="-28575"/>
              <a:ext cx="4777664" cy="87124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81"/>
                </a:lnSpc>
              </a:pPr>
              <a:r>
                <a:rPr lang="en-US" sz="1651">
                  <a:solidFill>
                    <a:srgbClr val="F1F5F9"/>
                  </a:solidFill>
                  <a:latin typeface="Consolas"/>
                  <a:ea typeface="Consolas"/>
                  <a:cs typeface="Consolas"/>
                  <a:sym typeface="Consolas"/>
                </a:rPr>
                <a:t>publicaciones</a:t>
              </a:r>
            </a:p>
          </p:txBody>
        </p:sp>
      </p:grpSp>
      <p:sp>
        <p:nvSpPr>
          <p:cNvPr name="TextBox 57" id="57"/>
          <p:cNvSpPr txBox="true"/>
          <p:nvPr/>
        </p:nvSpPr>
        <p:spPr>
          <a:xfrm rot="0">
            <a:off x="599065" y="9659236"/>
            <a:ext cx="10881379" cy="5471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1"/>
              </a:lnSpc>
            </a:pPr>
            <a:r>
              <a:rPr lang="en-US" sz="150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SysMarket v2 · Sistemas Operativos USIL · Grupo 01</a:t>
            </a:r>
          </a:p>
        </p:txBody>
      </p:sp>
      <p:sp>
        <p:nvSpPr>
          <p:cNvPr name="TextBox 58" id="58"/>
          <p:cNvSpPr txBox="true"/>
          <p:nvPr/>
        </p:nvSpPr>
        <p:spPr>
          <a:xfrm rot="0">
            <a:off x="16522065" y="9659236"/>
            <a:ext cx="1272673" cy="5471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01"/>
              </a:lnSpc>
            </a:pPr>
            <a:r>
              <a:rPr lang="en-US" sz="150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10/18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97725" cy="10295039"/>
            <a:chOff x="0" y="0"/>
            <a:chExt cx="24396967" cy="1372671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96954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24396954">
                  <a:moveTo>
                    <a:pt x="0" y="0"/>
                  </a:moveTo>
                  <a:lnTo>
                    <a:pt x="24396954" y="0"/>
                  </a:lnTo>
                  <a:lnTo>
                    <a:pt x="2439695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0F172A"/>
            </a:solidFill>
          </p:spPr>
        </p:sp>
      </p:grpSp>
      <p:sp>
        <p:nvSpPr>
          <p:cNvPr name="TextBox 4" id="4"/>
          <p:cNvSpPr txBox="true"/>
          <p:nvPr/>
        </p:nvSpPr>
        <p:spPr>
          <a:xfrm rot="0">
            <a:off x="1010869" y="592036"/>
            <a:ext cx="16372065" cy="8979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485"/>
              </a:lnSpc>
            </a:pPr>
            <a:r>
              <a:rPr lang="en-US" sz="5404" b="true">
                <a:solidFill>
                  <a:srgbClr val="3B82F6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Seguridad implementada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10869" y="1560471"/>
            <a:ext cx="16372065" cy="5471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 i="true">
                <a:solidFill>
                  <a:srgbClr val="94A3B8"/>
                </a:solidFill>
                <a:latin typeface="Calibri (MS) Italics"/>
                <a:ea typeface="Calibri (MS) Italics"/>
                <a:cs typeface="Calibri (MS) Italics"/>
                <a:sym typeface="Calibri (MS) Italics"/>
              </a:rPr>
              <a:t>Defensa en profundidad · validación + prepared statements + hashing + transacciones + firewall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951338" y="2598544"/>
            <a:ext cx="4823422" cy="3176216"/>
            <a:chOff x="0" y="0"/>
            <a:chExt cx="6431229" cy="4234955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6431280" cy="4234942"/>
            </a:xfrm>
            <a:custGeom>
              <a:avLst/>
              <a:gdLst/>
              <a:ahLst/>
              <a:cxnLst/>
              <a:rect r="r" b="b" t="t" l="l"/>
              <a:pathLst>
                <a:path h="4234942" w="6431280">
                  <a:moveTo>
                    <a:pt x="0" y="705866"/>
                  </a:moveTo>
                  <a:cubicBezTo>
                    <a:pt x="0" y="315976"/>
                    <a:pt x="315976" y="0"/>
                    <a:pt x="705866" y="0"/>
                  </a:cubicBezTo>
                  <a:lnTo>
                    <a:pt x="5725414" y="0"/>
                  </a:lnTo>
                  <a:cubicBezTo>
                    <a:pt x="6115177" y="0"/>
                    <a:pt x="6431280" y="315976"/>
                    <a:pt x="6431280" y="705866"/>
                  </a:cubicBezTo>
                  <a:lnTo>
                    <a:pt x="6431280" y="3529076"/>
                  </a:lnTo>
                  <a:cubicBezTo>
                    <a:pt x="6431280" y="3918839"/>
                    <a:pt x="6115304" y="4234942"/>
                    <a:pt x="5725414" y="4234942"/>
                  </a:cubicBezTo>
                  <a:lnTo>
                    <a:pt x="705866" y="4234942"/>
                  </a:lnTo>
                  <a:cubicBezTo>
                    <a:pt x="315976" y="4234942"/>
                    <a:pt x="0" y="3918966"/>
                    <a:pt x="0" y="3529076"/>
                  </a:cubicBezTo>
                  <a:close/>
                </a:path>
              </a:pathLst>
            </a:custGeom>
            <a:solidFill>
              <a:srgbClr val="1E293B"/>
            </a:solidFill>
            <a:ln w="19065" cap="sq">
              <a:solidFill>
                <a:srgbClr val="EC4899"/>
              </a:solidFill>
              <a:prstDash val="solid"/>
              <a:miter/>
            </a:ln>
          </p:spPr>
        </p:sp>
      </p:grpSp>
      <p:sp>
        <p:nvSpPr>
          <p:cNvPr name="TextBox 8" id="8"/>
          <p:cNvSpPr txBox="true"/>
          <p:nvPr/>
        </p:nvSpPr>
        <p:spPr>
          <a:xfrm rot="0">
            <a:off x="1285408" y="2854985"/>
            <a:ext cx="4155281" cy="6939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62"/>
              </a:lnSpc>
            </a:pPr>
            <a:r>
              <a:rPr lang="en-US" sz="2551" b="true">
                <a:solidFill>
                  <a:srgbClr val="EC489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🔐 Bcrypt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285408" y="3825383"/>
            <a:ext cx="4155281" cy="17825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F1F5F9"/>
                </a:solidFill>
                <a:latin typeface="Calibri (MS)"/>
                <a:ea typeface="Calibri (MS)"/>
                <a:cs typeface="Calibri (MS)"/>
                <a:sym typeface="Calibri (MS)"/>
              </a:rPr>
              <a:t>Hash factor 12 para passwords</a:t>
            </a:r>
          </a:p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F1F5F9"/>
                </a:solidFill>
                <a:latin typeface="Calibri (MS)"/>
                <a:ea typeface="Calibri (MS)"/>
                <a:cs typeface="Calibri (MS)"/>
                <a:sym typeface="Calibri (MS)"/>
              </a:rPr>
              <a:t>password_hash + password_verify</a:t>
            </a:r>
          </a:p>
        </p:txBody>
      </p:sp>
      <p:grpSp>
        <p:nvGrpSpPr>
          <p:cNvPr name="Group 10" id="10"/>
          <p:cNvGrpSpPr/>
          <p:nvPr/>
        </p:nvGrpSpPr>
        <p:grpSpPr>
          <a:xfrm rot="0">
            <a:off x="6647926" y="2598544"/>
            <a:ext cx="4823422" cy="3176216"/>
            <a:chOff x="0" y="0"/>
            <a:chExt cx="6431229" cy="4234955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6431280" cy="4234942"/>
            </a:xfrm>
            <a:custGeom>
              <a:avLst/>
              <a:gdLst/>
              <a:ahLst/>
              <a:cxnLst/>
              <a:rect r="r" b="b" t="t" l="l"/>
              <a:pathLst>
                <a:path h="4234942" w="6431280">
                  <a:moveTo>
                    <a:pt x="0" y="705866"/>
                  </a:moveTo>
                  <a:cubicBezTo>
                    <a:pt x="0" y="315976"/>
                    <a:pt x="315976" y="0"/>
                    <a:pt x="705866" y="0"/>
                  </a:cubicBezTo>
                  <a:lnTo>
                    <a:pt x="5725414" y="0"/>
                  </a:lnTo>
                  <a:cubicBezTo>
                    <a:pt x="6115177" y="0"/>
                    <a:pt x="6431280" y="315976"/>
                    <a:pt x="6431280" y="705866"/>
                  </a:cubicBezTo>
                  <a:lnTo>
                    <a:pt x="6431280" y="3529076"/>
                  </a:lnTo>
                  <a:cubicBezTo>
                    <a:pt x="6431280" y="3918839"/>
                    <a:pt x="6115304" y="4234942"/>
                    <a:pt x="5725414" y="4234942"/>
                  </a:cubicBezTo>
                  <a:lnTo>
                    <a:pt x="705866" y="4234942"/>
                  </a:lnTo>
                  <a:cubicBezTo>
                    <a:pt x="315976" y="4234942"/>
                    <a:pt x="0" y="3918966"/>
                    <a:pt x="0" y="3529076"/>
                  </a:cubicBezTo>
                  <a:close/>
                </a:path>
              </a:pathLst>
            </a:custGeom>
            <a:solidFill>
              <a:srgbClr val="1E293B"/>
            </a:solidFill>
            <a:ln w="19065" cap="sq">
              <a:solidFill>
                <a:srgbClr val="3B82F6"/>
              </a:solidFill>
              <a:prstDash val="solid"/>
              <a:miter/>
            </a:ln>
          </p:spPr>
        </p:sp>
      </p:grpSp>
      <p:sp>
        <p:nvSpPr>
          <p:cNvPr name="TextBox 12" id="12"/>
          <p:cNvSpPr txBox="true"/>
          <p:nvPr/>
        </p:nvSpPr>
        <p:spPr>
          <a:xfrm rot="0">
            <a:off x="6981996" y="2854985"/>
            <a:ext cx="4155281" cy="6939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62"/>
              </a:lnSpc>
            </a:pPr>
            <a:r>
              <a:rPr lang="en-US" sz="2551" b="true">
                <a:solidFill>
                  <a:srgbClr val="3B82F6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🛡 PDO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6981996" y="3825383"/>
            <a:ext cx="4155281" cy="17825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F1F5F9"/>
                </a:solidFill>
                <a:latin typeface="Calibri (MS)"/>
                <a:ea typeface="Calibri (MS)"/>
                <a:cs typeface="Calibri (MS)"/>
                <a:sym typeface="Calibri (MS)"/>
              </a:rPr>
              <a:t>Prepared statements anti-SQLi</a:t>
            </a:r>
          </a:p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F1F5F9"/>
                </a:solidFill>
                <a:latin typeface="Calibri (MS)"/>
                <a:ea typeface="Calibri (MS)"/>
                <a:cs typeface="Calibri (MS)"/>
                <a:sym typeface="Calibri (MS)"/>
              </a:rPr>
              <a:t>ATTR_EMULATE_PREPARES = false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12344524" y="2598544"/>
            <a:ext cx="4823422" cy="3176216"/>
            <a:chOff x="0" y="0"/>
            <a:chExt cx="6431229" cy="4234955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6431280" cy="4234942"/>
            </a:xfrm>
            <a:custGeom>
              <a:avLst/>
              <a:gdLst/>
              <a:ahLst/>
              <a:cxnLst/>
              <a:rect r="r" b="b" t="t" l="l"/>
              <a:pathLst>
                <a:path h="4234942" w="6431280">
                  <a:moveTo>
                    <a:pt x="0" y="705866"/>
                  </a:moveTo>
                  <a:cubicBezTo>
                    <a:pt x="0" y="315976"/>
                    <a:pt x="315976" y="0"/>
                    <a:pt x="705866" y="0"/>
                  </a:cubicBezTo>
                  <a:lnTo>
                    <a:pt x="5725414" y="0"/>
                  </a:lnTo>
                  <a:cubicBezTo>
                    <a:pt x="6115177" y="0"/>
                    <a:pt x="6431280" y="315976"/>
                    <a:pt x="6431280" y="705866"/>
                  </a:cubicBezTo>
                  <a:lnTo>
                    <a:pt x="6431280" y="3529076"/>
                  </a:lnTo>
                  <a:cubicBezTo>
                    <a:pt x="6431280" y="3918839"/>
                    <a:pt x="6115304" y="4234942"/>
                    <a:pt x="5725414" y="4234942"/>
                  </a:cubicBezTo>
                  <a:lnTo>
                    <a:pt x="705866" y="4234942"/>
                  </a:lnTo>
                  <a:cubicBezTo>
                    <a:pt x="315976" y="4234942"/>
                    <a:pt x="0" y="3918966"/>
                    <a:pt x="0" y="3529076"/>
                  </a:cubicBezTo>
                  <a:close/>
                </a:path>
              </a:pathLst>
            </a:custGeom>
            <a:solidFill>
              <a:srgbClr val="1E293B"/>
            </a:solidFill>
            <a:ln w="19065" cap="sq">
              <a:solidFill>
                <a:srgbClr val="8B5CF6"/>
              </a:solidFill>
              <a:prstDash val="solid"/>
              <a:miter/>
            </a:ln>
          </p:spPr>
        </p:sp>
      </p:grpSp>
      <p:sp>
        <p:nvSpPr>
          <p:cNvPr name="TextBox 16" id="16"/>
          <p:cNvSpPr txBox="true"/>
          <p:nvPr/>
        </p:nvSpPr>
        <p:spPr>
          <a:xfrm rot="0">
            <a:off x="12678585" y="2854985"/>
            <a:ext cx="4155281" cy="6939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62"/>
              </a:lnSpc>
            </a:pPr>
            <a:r>
              <a:rPr lang="en-US" sz="2551" b="true">
                <a:solidFill>
                  <a:srgbClr val="8B5CF6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🍪 Cookies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2678585" y="3825383"/>
            <a:ext cx="4155281" cy="17825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F1F5F9"/>
                </a:solidFill>
                <a:latin typeface="Calibri (MS)"/>
                <a:ea typeface="Calibri (MS)"/>
                <a:cs typeface="Calibri (MS)"/>
                <a:sym typeface="Calibri (MS)"/>
              </a:rPr>
              <a:t>HttpOnly + SameSite=Lax</a:t>
            </a:r>
          </a:p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F1F5F9"/>
                </a:solidFill>
                <a:latin typeface="Calibri (MS)"/>
                <a:ea typeface="Calibri (MS)"/>
                <a:cs typeface="Calibri (MS)"/>
                <a:sym typeface="Calibri (MS)"/>
              </a:rPr>
              <a:t>Protección XSS y CSRF</a:t>
            </a:r>
          </a:p>
        </p:txBody>
      </p:sp>
      <p:grpSp>
        <p:nvGrpSpPr>
          <p:cNvPr name="Group 18" id="18"/>
          <p:cNvGrpSpPr/>
          <p:nvPr/>
        </p:nvGrpSpPr>
        <p:grpSpPr>
          <a:xfrm rot="0">
            <a:off x="951338" y="6030230"/>
            <a:ext cx="4823422" cy="3176216"/>
            <a:chOff x="0" y="0"/>
            <a:chExt cx="6431229" cy="4234955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6431280" cy="4234942"/>
            </a:xfrm>
            <a:custGeom>
              <a:avLst/>
              <a:gdLst/>
              <a:ahLst/>
              <a:cxnLst/>
              <a:rect r="r" b="b" t="t" l="l"/>
              <a:pathLst>
                <a:path h="4234942" w="6431280">
                  <a:moveTo>
                    <a:pt x="0" y="705866"/>
                  </a:moveTo>
                  <a:cubicBezTo>
                    <a:pt x="0" y="315976"/>
                    <a:pt x="315976" y="0"/>
                    <a:pt x="705866" y="0"/>
                  </a:cubicBezTo>
                  <a:lnTo>
                    <a:pt x="5725414" y="0"/>
                  </a:lnTo>
                  <a:cubicBezTo>
                    <a:pt x="6115177" y="0"/>
                    <a:pt x="6431280" y="315976"/>
                    <a:pt x="6431280" y="705866"/>
                  </a:cubicBezTo>
                  <a:lnTo>
                    <a:pt x="6431280" y="3529076"/>
                  </a:lnTo>
                  <a:cubicBezTo>
                    <a:pt x="6431280" y="3918839"/>
                    <a:pt x="6115304" y="4234942"/>
                    <a:pt x="5725414" y="4234942"/>
                  </a:cubicBezTo>
                  <a:lnTo>
                    <a:pt x="705866" y="4234942"/>
                  </a:lnTo>
                  <a:cubicBezTo>
                    <a:pt x="315976" y="4234942"/>
                    <a:pt x="0" y="3918966"/>
                    <a:pt x="0" y="3529076"/>
                  </a:cubicBezTo>
                  <a:close/>
                </a:path>
              </a:pathLst>
            </a:custGeom>
            <a:solidFill>
              <a:srgbClr val="1E293B"/>
            </a:solidFill>
            <a:ln w="19065" cap="sq">
              <a:solidFill>
                <a:srgbClr val="10B981"/>
              </a:solidFill>
              <a:prstDash val="solid"/>
              <a:miter/>
            </a:ln>
          </p:spPr>
        </p:sp>
      </p:grpSp>
      <p:sp>
        <p:nvSpPr>
          <p:cNvPr name="TextBox 20" id="20"/>
          <p:cNvSpPr txBox="true"/>
          <p:nvPr/>
        </p:nvSpPr>
        <p:spPr>
          <a:xfrm rot="0">
            <a:off x="1285408" y="6286671"/>
            <a:ext cx="4155281" cy="6939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62"/>
              </a:lnSpc>
            </a:pPr>
            <a:r>
              <a:rPr lang="en-US" sz="2551" b="true">
                <a:solidFill>
                  <a:srgbClr val="10B981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🔒 Sesiones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285408" y="7257059"/>
            <a:ext cx="4155281" cy="17825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F1F5F9"/>
                </a:solidFill>
                <a:latin typeface="Calibri (MS)"/>
                <a:ea typeface="Calibri (MS)"/>
                <a:cs typeface="Calibri (MS)"/>
                <a:sym typeface="Calibri (MS)"/>
              </a:rPr>
              <a:t>session_set_cookie_params</a:t>
            </a:r>
          </a:p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F1F5F9"/>
                </a:solidFill>
                <a:latin typeface="Calibri (MS)"/>
                <a:ea typeface="Calibri (MS)"/>
                <a:cs typeface="Calibri (MS)"/>
                <a:sym typeface="Calibri (MS)"/>
              </a:rPr>
              <a:t>requireLogin / requireAdmin</a:t>
            </a:r>
          </a:p>
        </p:txBody>
      </p:sp>
      <p:grpSp>
        <p:nvGrpSpPr>
          <p:cNvPr name="Group 22" id="22"/>
          <p:cNvGrpSpPr/>
          <p:nvPr/>
        </p:nvGrpSpPr>
        <p:grpSpPr>
          <a:xfrm rot="0">
            <a:off x="6647926" y="6030230"/>
            <a:ext cx="4823422" cy="3176216"/>
            <a:chOff x="0" y="0"/>
            <a:chExt cx="6431229" cy="4234955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6431280" cy="4234942"/>
            </a:xfrm>
            <a:custGeom>
              <a:avLst/>
              <a:gdLst/>
              <a:ahLst/>
              <a:cxnLst/>
              <a:rect r="r" b="b" t="t" l="l"/>
              <a:pathLst>
                <a:path h="4234942" w="6431280">
                  <a:moveTo>
                    <a:pt x="0" y="705866"/>
                  </a:moveTo>
                  <a:cubicBezTo>
                    <a:pt x="0" y="315976"/>
                    <a:pt x="315976" y="0"/>
                    <a:pt x="705866" y="0"/>
                  </a:cubicBezTo>
                  <a:lnTo>
                    <a:pt x="5725414" y="0"/>
                  </a:lnTo>
                  <a:cubicBezTo>
                    <a:pt x="6115177" y="0"/>
                    <a:pt x="6431280" y="315976"/>
                    <a:pt x="6431280" y="705866"/>
                  </a:cubicBezTo>
                  <a:lnTo>
                    <a:pt x="6431280" y="3529076"/>
                  </a:lnTo>
                  <a:cubicBezTo>
                    <a:pt x="6431280" y="3918839"/>
                    <a:pt x="6115304" y="4234942"/>
                    <a:pt x="5725414" y="4234942"/>
                  </a:cubicBezTo>
                  <a:lnTo>
                    <a:pt x="705866" y="4234942"/>
                  </a:lnTo>
                  <a:cubicBezTo>
                    <a:pt x="315976" y="4234942"/>
                    <a:pt x="0" y="3918966"/>
                    <a:pt x="0" y="3529076"/>
                  </a:cubicBezTo>
                  <a:close/>
                </a:path>
              </a:pathLst>
            </a:custGeom>
            <a:solidFill>
              <a:srgbClr val="1E293B"/>
            </a:solidFill>
            <a:ln w="19065" cap="sq">
              <a:solidFill>
                <a:srgbClr val="F59E0B"/>
              </a:solidFill>
              <a:prstDash val="solid"/>
              <a:miter/>
            </a:ln>
          </p:spPr>
        </p:sp>
      </p:grpSp>
      <p:sp>
        <p:nvSpPr>
          <p:cNvPr name="TextBox 24" id="24"/>
          <p:cNvSpPr txBox="true"/>
          <p:nvPr/>
        </p:nvSpPr>
        <p:spPr>
          <a:xfrm rot="0">
            <a:off x="6981996" y="6286671"/>
            <a:ext cx="4155281" cy="6939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62"/>
              </a:lnSpc>
            </a:pPr>
            <a:r>
              <a:rPr lang="en-US" sz="2551" b="true">
                <a:solidFill>
                  <a:srgbClr val="F59E0B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💳 Transacciones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6981996" y="7257059"/>
            <a:ext cx="4155281" cy="17825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F1F5F9"/>
                </a:solidFill>
                <a:latin typeface="Calibri (MS)"/>
                <a:ea typeface="Calibri (MS)"/>
                <a:cs typeface="Calibri (MS)"/>
                <a:sym typeface="Calibri (MS)"/>
              </a:rPr>
              <a:t>BEGIN + SELECT FOR UPDATE</a:t>
            </a:r>
          </a:p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F1F5F9"/>
                </a:solidFill>
                <a:latin typeface="Calibri (MS)"/>
                <a:ea typeface="Calibri (MS)"/>
                <a:cs typeface="Calibri (MS)"/>
                <a:sym typeface="Calibri (MS)"/>
              </a:rPr>
              <a:t>ROLLBACK ante error</a:t>
            </a:r>
          </a:p>
        </p:txBody>
      </p:sp>
      <p:grpSp>
        <p:nvGrpSpPr>
          <p:cNvPr name="Group 26" id="26"/>
          <p:cNvGrpSpPr/>
          <p:nvPr/>
        </p:nvGrpSpPr>
        <p:grpSpPr>
          <a:xfrm rot="0">
            <a:off x="12344524" y="6030230"/>
            <a:ext cx="4823422" cy="3176216"/>
            <a:chOff x="0" y="0"/>
            <a:chExt cx="6431229" cy="4234955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6431280" cy="4234942"/>
            </a:xfrm>
            <a:custGeom>
              <a:avLst/>
              <a:gdLst/>
              <a:ahLst/>
              <a:cxnLst/>
              <a:rect r="r" b="b" t="t" l="l"/>
              <a:pathLst>
                <a:path h="4234942" w="6431280">
                  <a:moveTo>
                    <a:pt x="0" y="705866"/>
                  </a:moveTo>
                  <a:cubicBezTo>
                    <a:pt x="0" y="315976"/>
                    <a:pt x="315976" y="0"/>
                    <a:pt x="705866" y="0"/>
                  </a:cubicBezTo>
                  <a:lnTo>
                    <a:pt x="5725414" y="0"/>
                  </a:lnTo>
                  <a:cubicBezTo>
                    <a:pt x="6115177" y="0"/>
                    <a:pt x="6431280" y="315976"/>
                    <a:pt x="6431280" y="705866"/>
                  </a:cubicBezTo>
                  <a:lnTo>
                    <a:pt x="6431280" y="3529076"/>
                  </a:lnTo>
                  <a:cubicBezTo>
                    <a:pt x="6431280" y="3918839"/>
                    <a:pt x="6115304" y="4234942"/>
                    <a:pt x="5725414" y="4234942"/>
                  </a:cubicBezTo>
                  <a:lnTo>
                    <a:pt x="705866" y="4234942"/>
                  </a:lnTo>
                  <a:cubicBezTo>
                    <a:pt x="315976" y="4234942"/>
                    <a:pt x="0" y="3918966"/>
                    <a:pt x="0" y="3529076"/>
                  </a:cubicBezTo>
                  <a:close/>
                </a:path>
              </a:pathLst>
            </a:custGeom>
            <a:solidFill>
              <a:srgbClr val="1E293B"/>
            </a:solidFill>
            <a:ln w="19065" cap="sq">
              <a:solidFill>
                <a:srgbClr val="EC4899"/>
              </a:solidFill>
              <a:prstDash val="solid"/>
              <a:miter/>
            </a:ln>
          </p:spPr>
        </p:sp>
      </p:grpSp>
      <p:sp>
        <p:nvSpPr>
          <p:cNvPr name="TextBox 28" id="28"/>
          <p:cNvSpPr txBox="true"/>
          <p:nvPr/>
        </p:nvSpPr>
        <p:spPr>
          <a:xfrm rot="0">
            <a:off x="12678585" y="6286671"/>
            <a:ext cx="4155281" cy="6939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62"/>
              </a:lnSpc>
            </a:pPr>
            <a:r>
              <a:rPr lang="en-US" sz="2551" b="true">
                <a:solidFill>
                  <a:srgbClr val="EC489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🔥 Firewall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12678585" y="7257059"/>
            <a:ext cx="4155281" cy="17825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F1F5F9"/>
                </a:solidFill>
                <a:latin typeface="Calibri (MS)"/>
                <a:ea typeface="Calibri (MS)"/>
                <a:cs typeface="Calibri (MS)"/>
                <a:sym typeface="Calibri (MS)"/>
              </a:rPr>
              <a:t>UFW: solo 22, 80, 443</a:t>
            </a:r>
          </a:p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F1F5F9"/>
                </a:solidFill>
                <a:latin typeface="Calibri (MS)"/>
                <a:ea typeface="Calibri (MS)"/>
                <a:cs typeface="Calibri (MS)"/>
                <a:sym typeface="Calibri (MS)"/>
              </a:rPr>
              <a:t>Defensa en profundidad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599065" y="9659236"/>
            <a:ext cx="10881379" cy="5471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1"/>
              </a:lnSpc>
            </a:pPr>
            <a:r>
              <a:rPr lang="en-US" sz="150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SysMarket v2 · Sistemas Operativos USIL · Grupo 01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16522065" y="9659236"/>
            <a:ext cx="1272673" cy="5471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01"/>
              </a:lnSpc>
            </a:pPr>
            <a:r>
              <a:rPr lang="en-US" sz="150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11/18</a:t>
            </a: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97725" cy="10295039"/>
            <a:chOff x="0" y="0"/>
            <a:chExt cx="24396967" cy="1372671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96954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24396954">
                  <a:moveTo>
                    <a:pt x="0" y="0"/>
                  </a:moveTo>
                  <a:lnTo>
                    <a:pt x="24396954" y="0"/>
                  </a:lnTo>
                  <a:lnTo>
                    <a:pt x="2439695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0F172A"/>
            </a:solidFill>
          </p:spPr>
        </p:sp>
      </p:grpSp>
      <p:sp>
        <p:nvSpPr>
          <p:cNvPr name="TextBox 4" id="4"/>
          <p:cNvSpPr txBox="true"/>
          <p:nvPr/>
        </p:nvSpPr>
        <p:spPr>
          <a:xfrm rot="0">
            <a:off x="1010869" y="592036"/>
            <a:ext cx="16372065" cy="8979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485"/>
              </a:lnSpc>
            </a:pPr>
            <a:r>
              <a:rPr lang="en-US" sz="5404" b="true">
                <a:solidFill>
                  <a:srgbClr val="3B82F6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Despliegue en AWS EC2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10869" y="1560471"/>
            <a:ext cx="16372065" cy="5471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 i="true">
                <a:solidFill>
                  <a:srgbClr val="94A3B8"/>
                </a:solidFill>
                <a:latin typeface="Calibri (MS) Italics"/>
                <a:ea typeface="Calibri (MS) Italics"/>
                <a:cs typeface="Calibri (MS) Italics"/>
                <a:sym typeface="Calibri (MS) Italics"/>
              </a:rPr>
              <a:t>Cumplimiento de criterio 3 de la rúbrica · Uso de tecnologías cloud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951338" y="2598544"/>
            <a:ext cx="8255098" cy="6882432"/>
            <a:chOff x="0" y="0"/>
            <a:chExt cx="11006798" cy="9176576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1006836" cy="9176512"/>
            </a:xfrm>
            <a:custGeom>
              <a:avLst/>
              <a:gdLst/>
              <a:ahLst/>
              <a:cxnLst/>
              <a:rect r="r" b="b" t="t" l="l"/>
              <a:pathLst>
                <a:path h="9176512" w="11006836">
                  <a:moveTo>
                    <a:pt x="0" y="1529461"/>
                  </a:moveTo>
                  <a:cubicBezTo>
                    <a:pt x="0" y="684784"/>
                    <a:pt x="684784" y="0"/>
                    <a:pt x="1529461" y="0"/>
                  </a:cubicBezTo>
                  <a:lnTo>
                    <a:pt x="9477375" y="0"/>
                  </a:lnTo>
                  <a:cubicBezTo>
                    <a:pt x="10322052" y="0"/>
                    <a:pt x="11006836" y="684784"/>
                    <a:pt x="11006836" y="1529461"/>
                  </a:cubicBezTo>
                  <a:lnTo>
                    <a:pt x="11006836" y="7647051"/>
                  </a:lnTo>
                  <a:cubicBezTo>
                    <a:pt x="11006836" y="8491728"/>
                    <a:pt x="10322052" y="9176512"/>
                    <a:pt x="9477375" y="9176512"/>
                  </a:cubicBezTo>
                  <a:lnTo>
                    <a:pt x="1529461" y="9176512"/>
                  </a:lnTo>
                  <a:cubicBezTo>
                    <a:pt x="684784" y="9176512"/>
                    <a:pt x="0" y="8491855"/>
                    <a:pt x="0" y="7647051"/>
                  </a:cubicBezTo>
                  <a:close/>
                </a:path>
              </a:pathLst>
            </a:custGeom>
            <a:solidFill>
              <a:srgbClr val="1E293B"/>
            </a:solidFill>
            <a:ln w="19065" cap="sq">
              <a:solidFill>
                <a:srgbClr val="F59E0B"/>
              </a:solidFill>
              <a:prstDash val="solid"/>
              <a:miter/>
            </a:ln>
          </p:spPr>
        </p:sp>
      </p:grpSp>
      <p:sp>
        <p:nvSpPr>
          <p:cNvPr name="TextBox 8" id="8"/>
          <p:cNvSpPr txBox="true"/>
          <p:nvPr/>
        </p:nvSpPr>
        <p:spPr>
          <a:xfrm rot="0">
            <a:off x="1285408" y="2708196"/>
            <a:ext cx="7586967" cy="5662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2"/>
              </a:lnSpc>
            </a:pPr>
            <a:r>
              <a:rPr lang="en-US" sz="2251" b="true">
                <a:solidFill>
                  <a:srgbClr val="F59E0B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☁  Instancia EC2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285408" y="3482216"/>
            <a:ext cx="2919879" cy="5471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Tipo: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4305281" y="3482216"/>
            <a:ext cx="4704350" cy="5471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 b="true">
                <a:solidFill>
                  <a:srgbClr val="F1F5F9"/>
                </a:solidFill>
                <a:latin typeface="Consolas Bold"/>
                <a:ea typeface="Consolas Bold"/>
                <a:cs typeface="Consolas Bold"/>
                <a:sym typeface="Consolas Bold"/>
              </a:rPr>
              <a:t>t3.micro (Free Tier)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285408" y="4099922"/>
            <a:ext cx="2919879" cy="5471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vCPU: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4305281" y="4099922"/>
            <a:ext cx="4704350" cy="5471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 b="true">
                <a:solidFill>
                  <a:srgbClr val="F1F5F9"/>
                </a:solidFill>
                <a:latin typeface="Consolas Bold"/>
                <a:ea typeface="Consolas Bold"/>
                <a:cs typeface="Consolas Bold"/>
                <a:sym typeface="Consolas Bold"/>
              </a:rPr>
              <a:t>1 vCPU compartido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285408" y="4717618"/>
            <a:ext cx="2919879" cy="5471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RAM: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4305281" y="4717618"/>
            <a:ext cx="4704350" cy="5471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 b="true">
                <a:solidFill>
                  <a:srgbClr val="F1F5F9"/>
                </a:solidFill>
                <a:latin typeface="Consolas Bold"/>
                <a:ea typeface="Consolas Bold"/>
                <a:cs typeface="Consolas Bold"/>
                <a:sym typeface="Consolas Bold"/>
              </a:rPr>
              <a:t>1 GB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285408" y="5335324"/>
            <a:ext cx="2919879" cy="5471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Almacenamiento: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4305281" y="5335324"/>
            <a:ext cx="4704350" cy="5471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 b="true">
                <a:solidFill>
                  <a:srgbClr val="F1F5F9"/>
                </a:solidFill>
                <a:latin typeface="Consolas Bold"/>
                <a:ea typeface="Consolas Bold"/>
                <a:cs typeface="Consolas Bold"/>
                <a:sym typeface="Consolas Bold"/>
              </a:rPr>
              <a:t>20 GiB EBS gp3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285408" y="5953020"/>
            <a:ext cx="2919879" cy="5471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Sistema operativo: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4305281" y="5953020"/>
            <a:ext cx="4704350" cy="5471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 b="true">
                <a:solidFill>
                  <a:srgbClr val="F1F5F9"/>
                </a:solidFill>
                <a:latin typeface="Consolas Bold"/>
                <a:ea typeface="Consolas Bold"/>
                <a:cs typeface="Consolas Bold"/>
                <a:sym typeface="Consolas Bold"/>
              </a:rPr>
              <a:t>Ubuntu Server 22.04 LTS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285408" y="6570726"/>
            <a:ext cx="2919879" cy="5471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AMI propietario: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4305281" y="6570726"/>
            <a:ext cx="4704350" cy="5471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 b="true">
                <a:solidFill>
                  <a:srgbClr val="F1F5F9"/>
                </a:solidFill>
                <a:latin typeface="Consolas Bold"/>
                <a:ea typeface="Consolas Bold"/>
                <a:cs typeface="Consolas Bold"/>
                <a:sym typeface="Consolas Bold"/>
              </a:rPr>
              <a:t>099720109477 (Canonical)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285408" y="7188432"/>
            <a:ext cx="2919879" cy="5471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Región: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4305281" y="7188432"/>
            <a:ext cx="4704350" cy="5471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 b="true">
                <a:solidFill>
                  <a:srgbClr val="F1F5F9"/>
                </a:solidFill>
                <a:latin typeface="Consolas Bold"/>
                <a:ea typeface="Consolas Bold"/>
                <a:cs typeface="Consolas Bold"/>
                <a:sym typeface="Consolas Bold"/>
              </a:rPr>
              <a:t>us-east-1 (N. Virginia)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285408" y="7806128"/>
            <a:ext cx="2919879" cy="5471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Auto-restart: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4305281" y="7806128"/>
            <a:ext cx="4704350" cy="5471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 b="true">
                <a:solidFill>
                  <a:srgbClr val="F1F5F9"/>
                </a:solidFill>
                <a:latin typeface="Consolas Bold"/>
                <a:ea typeface="Consolas Bold"/>
                <a:cs typeface="Consolas Bold"/>
                <a:sym typeface="Consolas Bold"/>
              </a:rPr>
              <a:t>unless-stopped</a:t>
            </a:r>
          </a:p>
        </p:txBody>
      </p:sp>
      <p:grpSp>
        <p:nvGrpSpPr>
          <p:cNvPr name="Group 25" id="25"/>
          <p:cNvGrpSpPr/>
          <p:nvPr/>
        </p:nvGrpSpPr>
        <p:grpSpPr>
          <a:xfrm rot="0">
            <a:off x="9461906" y="2598544"/>
            <a:ext cx="7980569" cy="3313481"/>
            <a:chOff x="0" y="0"/>
            <a:chExt cx="10640758" cy="4417974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10640695" cy="4417949"/>
            </a:xfrm>
            <a:custGeom>
              <a:avLst/>
              <a:gdLst/>
              <a:ahLst/>
              <a:cxnLst/>
              <a:rect r="r" b="b" t="t" l="l"/>
              <a:pathLst>
                <a:path h="4417949" w="10640695">
                  <a:moveTo>
                    <a:pt x="0" y="736346"/>
                  </a:moveTo>
                  <a:cubicBezTo>
                    <a:pt x="0" y="329692"/>
                    <a:pt x="329692" y="0"/>
                    <a:pt x="736346" y="0"/>
                  </a:cubicBezTo>
                  <a:lnTo>
                    <a:pt x="9904349" y="0"/>
                  </a:lnTo>
                  <a:cubicBezTo>
                    <a:pt x="10311003" y="0"/>
                    <a:pt x="10640695" y="329692"/>
                    <a:pt x="10640695" y="736346"/>
                  </a:cubicBezTo>
                  <a:lnTo>
                    <a:pt x="10640695" y="3681603"/>
                  </a:lnTo>
                  <a:cubicBezTo>
                    <a:pt x="10640695" y="4088257"/>
                    <a:pt x="10311003" y="4417949"/>
                    <a:pt x="9904349" y="4417949"/>
                  </a:cubicBezTo>
                  <a:lnTo>
                    <a:pt x="736346" y="4417949"/>
                  </a:lnTo>
                  <a:cubicBezTo>
                    <a:pt x="329692" y="4417949"/>
                    <a:pt x="0" y="4088257"/>
                    <a:pt x="0" y="3681603"/>
                  </a:cubicBezTo>
                  <a:close/>
                </a:path>
              </a:pathLst>
            </a:custGeom>
            <a:solidFill>
              <a:srgbClr val="1E293B"/>
            </a:solidFill>
            <a:ln w="19065" cap="sq">
              <a:solidFill>
                <a:srgbClr val="3B82F6"/>
              </a:solidFill>
              <a:prstDash val="solid"/>
              <a:miter/>
            </a:ln>
          </p:spPr>
        </p:sp>
      </p:grpSp>
      <p:sp>
        <p:nvSpPr>
          <p:cNvPr name="TextBox 27" id="27"/>
          <p:cNvSpPr txBox="true"/>
          <p:nvPr/>
        </p:nvSpPr>
        <p:spPr>
          <a:xfrm rot="0">
            <a:off x="9795977" y="2708196"/>
            <a:ext cx="7312428" cy="5662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2"/>
              </a:lnSpc>
            </a:pPr>
            <a:r>
              <a:rPr lang="en-US" sz="2251" b="true">
                <a:solidFill>
                  <a:srgbClr val="3B82F6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🔥  Security Group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9795977" y="3482216"/>
            <a:ext cx="7312428" cy="5471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F1F5F9"/>
                </a:solidFill>
                <a:latin typeface="Consolas"/>
                <a:ea typeface="Consolas"/>
                <a:cs typeface="Consolas"/>
                <a:sym typeface="Consolas"/>
              </a:rPr>
              <a:t>SSH (22)  → Mi IP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9795977" y="4031285"/>
            <a:ext cx="7312428" cy="5471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F1F5F9"/>
                </a:solidFill>
                <a:latin typeface="Consolas"/>
                <a:ea typeface="Consolas"/>
                <a:cs typeface="Consolas"/>
                <a:sym typeface="Consolas"/>
              </a:rPr>
              <a:t>HTTP (80) → 0.0.0.0/0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9795977" y="4580353"/>
            <a:ext cx="7312428" cy="5471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F1F5F9"/>
                </a:solidFill>
                <a:latin typeface="Consolas"/>
                <a:ea typeface="Consolas"/>
                <a:cs typeface="Consolas"/>
                <a:sym typeface="Consolas"/>
              </a:rPr>
              <a:t>HTTPS (443) → 0.0.0.0/0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9795977" y="5276212"/>
            <a:ext cx="7312428" cy="53764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 i="true">
                <a:solidFill>
                  <a:srgbClr val="94A3B8"/>
                </a:solidFill>
                <a:latin typeface="Calibri (MS) Italics"/>
                <a:ea typeface="Calibri (MS) Italics"/>
                <a:cs typeface="Calibri (MS) Italics"/>
                <a:sym typeface="Calibri (MS) Italics"/>
              </a:rPr>
              <a:t>+ UFW interno como 2da capa</a:t>
            </a:r>
          </a:p>
        </p:txBody>
      </p:sp>
      <p:grpSp>
        <p:nvGrpSpPr>
          <p:cNvPr name="Group 32" id="32"/>
          <p:cNvGrpSpPr/>
          <p:nvPr/>
        </p:nvGrpSpPr>
        <p:grpSpPr>
          <a:xfrm rot="0">
            <a:off x="9461906" y="6098858"/>
            <a:ext cx="7980569" cy="3382108"/>
            <a:chOff x="0" y="0"/>
            <a:chExt cx="10640758" cy="4509478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10640695" cy="4509516"/>
            </a:xfrm>
            <a:custGeom>
              <a:avLst/>
              <a:gdLst/>
              <a:ahLst/>
              <a:cxnLst/>
              <a:rect r="r" b="b" t="t" l="l"/>
              <a:pathLst>
                <a:path h="4509516" w="10640695">
                  <a:moveTo>
                    <a:pt x="0" y="751586"/>
                  </a:moveTo>
                  <a:cubicBezTo>
                    <a:pt x="0" y="336550"/>
                    <a:pt x="336550" y="0"/>
                    <a:pt x="751586" y="0"/>
                  </a:cubicBezTo>
                  <a:lnTo>
                    <a:pt x="9889109" y="0"/>
                  </a:lnTo>
                  <a:cubicBezTo>
                    <a:pt x="10304145" y="0"/>
                    <a:pt x="10640695" y="336550"/>
                    <a:pt x="10640695" y="751586"/>
                  </a:cubicBezTo>
                  <a:lnTo>
                    <a:pt x="10640695" y="3757930"/>
                  </a:lnTo>
                  <a:cubicBezTo>
                    <a:pt x="10640695" y="4172966"/>
                    <a:pt x="10304145" y="4509516"/>
                    <a:pt x="9889109" y="4509516"/>
                  </a:cubicBezTo>
                  <a:lnTo>
                    <a:pt x="751586" y="4509516"/>
                  </a:lnTo>
                  <a:cubicBezTo>
                    <a:pt x="336550" y="4509516"/>
                    <a:pt x="0" y="4172966"/>
                    <a:pt x="0" y="3757930"/>
                  </a:cubicBezTo>
                  <a:close/>
                </a:path>
              </a:pathLst>
            </a:custGeom>
            <a:solidFill>
              <a:srgbClr val="1E293B"/>
            </a:solidFill>
            <a:ln w="19065" cap="sq">
              <a:solidFill>
                <a:srgbClr val="10B981"/>
              </a:solidFill>
              <a:prstDash val="solid"/>
              <a:miter/>
            </a:ln>
          </p:spPr>
        </p:sp>
      </p:grpSp>
      <p:sp>
        <p:nvSpPr>
          <p:cNvPr name="TextBox 34" id="34"/>
          <p:cNvSpPr txBox="true"/>
          <p:nvPr/>
        </p:nvSpPr>
        <p:spPr>
          <a:xfrm rot="0">
            <a:off x="9795977" y="6208509"/>
            <a:ext cx="7312428" cy="5662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2"/>
              </a:lnSpc>
            </a:pPr>
            <a:r>
              <a:rPr lang="en-US" sz="2251" b="true">
                <a:solidFill>
                  <a:srgbClr val="10B981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🌐  URL pública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9795977" y="6835740"/>
            <a:ext cx="7312428" cy="6939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1"/>
              </a:lnSpc>
            </a:pPr>
            <a:r>
              <a:rPr lang="en-US" sz="2101" b="true">
                <a:solidFill>
                  <a:srgbClr val="F1F5F9"/>
                </a:solidFill>
                <a:latin typeface="Consolas Bold"/>
                <a:ea typeface="Consolas Bold"/>
                <a:cs typeface="Consolas Bold"/>
                <a:sym typeface="Consolas Bold"/>
              </a:rPr>
              <a:t>http://98.93.36.34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9795977" y="7600236"/>
            <a:ext cx="7312428" cy="5471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1"/>
              </a:lnSpc>
            </a:pPr>
            <a:r>
              <a:rPr lang="en-US" sz="1501" i="true">
                <a:solidFill>
                  <a:srgbClr val="94A3B8"/>
                </a:solidFill>
                <a:latin typeface="Calibri (MS) Italics"/>
                <a:ea typeface="Calibri (MS) Italics"/>
                <a:cs typeface="Calibri (MS) Italics"/>
                <a:sym typeface="Calibri (MS) Italics"/>
              </a:rPr>
              <a:t>URL de produccion activa para la exposicion del 27 de junio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9795977" y="8286569"/>
            <a:ext cx="7312428" cy="5471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>
                <a:solidFill>
                  <a:srgbClr val="F1F5F9"/>
                </a:solidFill>
                <a:latin typeface="Calibri (MS)"/>
                <a:ea typeface="Calibri (MS)"/>
                <a:cs typeface="Calibri (MS)"/>
                <a:sym typeface="Calibri (MS)"/>
              </a:rPr>
              <a:t>📦  Repo: github.com/Hreon/S.O-SYS</a:t>
            </a:r>
          </a:p>
        </p:txBody>
      </p:sp>
      <p:sp>
        <p:nvSpPr>
          <p:cNvPr name="TextBox 38" id="38"/>
          <p:cNvSpPr txBox="true"/>
          <p:nvPr/>
        </p:nvSpPr>
        <p:spPr>
          <a:xfrm rot="0">
            <a:off x="9795977" y="8845163"/>
            <a:ext cx="7312428" cy="53764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 i="true">
                <a:solidFill>
                  <a:srgbClr val="94A3B8"/>
                </a:solidFill>
                <a:latin typeface="Calibri (MS) Italics"/>
                <a:ea typeface="Calibri (MS) Italics"/>
                <a:cs typeface="Calibri (MS) Italics"/>
                <a:sym typeface="Calibri (MS) Italics"/>
              </a:rPr>
              <a:t>⚙  deploy_aws.sh automatiza Docker + UFW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599065" y="9659236"/>
            <a:ext cx="10881379" cy="5471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1"/>
              </a:lnSpc>
            </a:pPr>
            <a:r>
              <a:rPr lang="en-US" sz="150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SysMarket v2 · Sistemas Operativos USIL · Grupo 01</a:t>
            </a:r>
          </a:p>
        </p:txBody>
      </p:sp>
      <p:sp>
        <p:nvSpPr>
          <p:cNvPr name="TextBox 40" id="40"/>
          <p:cNvSpPr txBox="true"/>
          <p:nvPr/>
        </p:nvSpPr>
        <p:spPr>
          <a:xfrm rot="0">
            <a:off x="16522065" y="9659236"/>
            <a:ext cx="1272673" cy="5471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01"/>
              </a:lnSpc>
            </a:pPr>
            <a:r>
              <a:rPr lang="en-US" sz="150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12/18</a:t>
            </a:r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97725" cy="10295039"/>
            <a:chOff x="0" y="0"/>
            <a:chExt cx="24396967" cy="1372671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96954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24396954">
                  <a:moveTo>
                    <a:pt x="0" y="0"/>
                  </a:moveTo>
                  <a:lnTo>
                    <a:pt x="24396954" y="0"/>
                  </a:lnTo>
                  <a:lnTo>
                    <a:pt x="2439695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0F172A"/>
            </a:solidFill>
          </p:spPr>
        </p:sp>
      </p:grpSp>
      <p:sp>
        <p:nvSpPr>
          <p:cNvPr name="TextBox 4" id="4"/>
          <p:cNvSpPr txBox="true"/>
          <p:nvPr/>
        </p:nvSpPr>
        <p:spPr>
          <a:xfrm rot="0">
            <a:off x="1010869" y="592036"/>
            <a:ext cx="16372065" cy="8979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485"/>
              </a:lnSpc>
            </a:pPr>
            <a:r>
              <a:rPr lang="en-US" sz="5404" b="true">
                <a:solidFill>
                  <a:srgbClr val="3B82F6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Cumplimiento de la rúbrica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10869" y="1560471"/>
            <a:ext cx="16372065" cy="5471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 i="true">
                <a:solidFill>
                  <a:srgbClr val="94A3B8"/>
                </a:solidFill>
                <a:latin typeface="Calibri (MS) Italics"/>
                <a:ea typeface="Calibri (MS) Italics"/>
                <a:cs typeface="Calibri (MS) Italics"/>
                <a:sym typeface="Calibri (MS) Italics"/>
              </a:rPr>
              <a:t>Mapeo explícito de SysMarket v2 a los 4 criterios (20 puntos totales)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951338" y="2667181"/>
            <a:ext cx="16491137" cy="1460373"/>
            <a:chOff x="0" y="0"/>
            <a:chExt cx="21988183" cy="1947164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1988146" cy="1947164"/>
            </a:xfrm>
            <a:custGeom>
              <a:avLst/>
              <a:gdLst/>
              <a:ahLst/>
              <a:cxnLst/>
              <a:rect r="r" b="b" t="t" l="l"/>
              <a:pathLst>
                <a:path h="1947164" w="21988146">
                  <a:moveTo>
                    <a:pt x="0" y="324485"/>
                  </a:moveTo>
                  <a:cubicBezTo>
                    <a:pt x="0" y="145288"/>
                    <a:pt x="145288" y="0"/>
                    <a:pt x="324485" y="0"/>
                  </a:cubicBezTo>
                  <a:lnTo>
                    <a:pt x="21663661" y="0"/>
                  </a:lnTo>
                  <a:cubicBezTo>
                    <a:pt x="21842857" y="0"/>
                    <a:pt x="21988146" y="145288"/>
                    <a:pt x="21988146" y="324485"/>
                  </a:cubicBezTo>
                  <a:lnTo>
                    <a:pt x="21988146" y="1622679"/>
                  </a:lnTo>
                  <a:cubicBezTo>
                    <a:pt x="21988146" y="1801876"/>
                    <a:pt x="21842857" y="1947164"/>
                    <a:pt x="21663661" y="1947164"/>
                  </a:cubicBezTo>
                  <a:lnTo>
                    <a:pt x="324485" y="1947164"/>
                  </a:lnTo>
                  <a:cubicBezTo>
                    <a:pt x="145288" y="1947164"/>
                    <a:pt x="0" y="1801876"/>
                    <a:pt x="0" y="1622679"/>
                  </a:cubicBezTo>
                  <a:close/>
                </a:path>
              </a:pathLst>
            </a:custGeom>
            <a:solidFill>
              <a:srgbClr val="1E293B"/>
            </a:solidFill>
            <a:ln w="19065" cap="sq">
              <a:solidFill>
                <a:srgbClr val="3B82F6"/>
              </a:solidFill>
              <a:prstDash val="solid"/>
              <a:miter/>
            </a:ln>
          </p:spPr>
        </p:sp>
      </p:grpSp>
      <p:grpSp>
        <p:nvGrpSpPr>
          <p:cNvPr name="Group 8" id="8"/>
          <p:cNvGrpSpPr/>
          <p:nvPr/>
        </p:nvGrpSpPr>
        <p:grpSpPr>
          <a:xfrm rot="0">
            <a:off x="1166774" y="2951245"/>
            <a:ext cx="892235" cy="892235"/>
            <a:chOff x="0" y="0"/>
            <a:chExt cx="1189647" cy="1189647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189609" cy="1189609"/>
            </a:xfrm>
            <a:custGeom>
              <a:avLst/>
              <a:gdLst/>
              <a:ahLst/>
              <a:cxnLst/>
              <a:rect r="r" b="b" t="t" l="l"/>
              <a:pathLst>
                <a:path h="1189609" w="1189609">
                  <a:moveTo>
                    <a:pt x="0" y="198247"/>
                  </a:moveTo>
                  <a:cubicBezTo>
                    <a:pt x="0" y="88773"/>
                    <a:pt x="88773" y="0"/>
                    <a:pt x="198247" y="0"/>
                  </a:cubicBezTo>
                  <a:lnTo>
                    <a:pt x="991362" y="0"/>
                  </a:lnTo>
                  <a:cubicBezTo>
                    <a:pt x="1100836" y="0"/>
                    <a:pt x="1189609" y="88773"/>
                    <a:pt x="1189609" y="198247"/>
                  </a:cubicBezTo>
                  <a:lnTo>
                    <a:pt x="1189609" y="991362"/>
                  </a:lnTo>
                  <a:cubicBezTo>
                    <a:pt x="1189609" y="1100836"/>
                    <a:pt x="1100836" y="1189609"/>
                    <a:pt x="991362" y="1189609"/>
                  </a:cubicBezTo>
                  <a:lnTo>
                    <a:pt x="198247" y="1189609"/>
                  </a:lnTo>
                  <a:cubicBezTo>
                    <a:pt x="88773" y="1189609"/>
                    <a:pt x="0" y="1100836"/>
                    <a:pt x="0" y="991362"/>
                  </a:cubicBezTo>
                  <a:close/>
                </a:path>
              </a:pathLst>
            </a:custGeom>
            <a:solidFill>
              <a:srgbClr val="3B82F6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28575"/>
              <a:ext cx="1189647" cy="121822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81"/>
                </a:lnSpc>
              </a:pPr>
              <a:r>
                <a:rPr lang="en-US" sz="1651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1</a:t>
              </a:r>
            </a:p>
          </p:txBody>
        </p:sp>
      </p:grpSp>
      <p:sp>
        <p:nvSpPr>
          <p:cNvPr name="TextBox 11" id="11"/>
          <p:cNvSpPr txBox="true"/>
          <p:nvPr/>
        </p:nvSpPr>
        <p:spPr>
          <a:xfrm rot="0">
            <a:off x="2383546" y="2776823"/>
            <a:ext cx="10195046" cy="5662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2"/>
              </a:lnSpc>
            </a:pPr>
            <a:r>
              <a:rPr lang="en-US" sz="2251" b="true">
                <a:solidFill>
                  <a:srgbClr val="F1F5F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Arquitectura del Proyecto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3090388" y="2795873"/>
            <a:ext cx="4018016" cy="5471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161"/>
              </a:lnSpc>
            </a:pPr>
            <a:r>
              <a:rPr lang="en-US" sz="180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Puntos: 0-5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2383546" y="3423104"/>
            <a:ext cx="14313056" cy="6749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✅ 3 capas · Docker · AWS EC2 · contenerización por instancia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951338" y="4383014"/>
            <a:ext cx="16491137" cy="1460373"/>
            <a:chOff x="0" y="0"/>
            <a:chExt cx="21988183" cy="1947164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21988146" cy="1947164"/>
            </a:xfrm>
            <a:custGeom>
              <a:avLst/>
              <a:gdLst/>
              <a:ahLst/>
              <a:cxnLst/>
              <a:rect r="r" b="b" t="t" l="l"/>
              <a:pathLst>
                <a:path h="1947164" w="21988146">
                  <a:moveTo>
                    <a:pt x="0" y="324485"/>
                  </a:moveTo>
                  <a:cubicBezTo>
                    <a:pt x="0" y="145288"/>
                    <a:pt x="145288" y="0"/>
                    <a:pt x="324485" y="0"/>
                  </a:cubicBezTo>
                  <a:lnTo>
                    <a:pt x="21663661" y="0"/>
                  </a:lnTo>
                  <a:cubicBezTo>
                    <a:pt x="21842857" y="0"/>
                    <a:pt x="21988146" y="145288"/>
                    <a:pt x="21988146" y="324485"/>
                  </a:cubicBezTo>
                  <a:lnTo>
                    <a:pt x="21988146" y="1622679"/>
                  </a:lnTo>
                  <a:cubicBezTo>
                    <a:pt x="21988146" y="1801876"/>
                    <a:pt x="21842857" y="1947164"/>
                    <a:pt x="21663661" y="1947164"/>
                  </a:cubicBezTo>
                  <a:lnTo>
                    <a:pt x="324485" y="1947164"/>
                  </a:lnTo>
                  <a:cubicBezTo>
                    <a:pt x="145288" y="1947164"/>
                    <a:pt x="0" y="1801876"/>
                    <a:pt x="0" y="1622679"/>
                  </a:cubicBezTo>
                  <a:close/>
                </a:path>
              </a:pathLst>
            </a:custGeom>
            <a:solidFill>
              <a:srgbClr val="1E293B"/>
            </a:solidFill>
            <a:ln w="19065" cap="sq">
              <a:solidFill>
                <a:srgbClr val="EC4899"/>
              </a:solidFill>
              <a:prstDash val="solid"/>
              <a:miter/>
            </a:ln>
          </p:spPr>
        </p:sp>
      </p:grpSp>
      <p:grpSp>
        <p:nvGrpSpPr>
          <p:cNvPr name="Group 16" id="16"/>
          <p:cNvGrpSpPr/>
          <p:nvPr/>
        </p:nvGrpSpPr>
        <p:grpSpPr>
          <a:xfrm rot="0">
            <a:off x="1166774" y="4667088"/>
            <a:ext cx="892235" cy="892235"/>
            <a:chOff x="0" y="0"/>
            <a:chExt cx="1189647" cy="1189647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189609" cy="1189609"/>
            </a:xfrm>
            <a:custGeom>
              <a:avLst/>
              <a:gdLst/>
              <a:ahLst/>
              <a:cxnLst/>
              <a:rect r="r" b="b" t="t" l="l"/>
              <a:pathLst>
                <a:path h="1189609" w="1189609">
                  <a:moveTo>
                    <a:pt x="0" y="198247"/>
                  </a:moveTo>
                  <a:cubicBezTo>
                    <a:pt x="0" y="88773"/>
                    <a:pt x="88773" y="0"/>
                    <a:pt x="198247" y="0"/>
                  </a:cubicBezTo>
                  <a:lnTo>
                    <a:pt x="991362" y="0"/>
                  </a:lnTo>
                  <a:cubicBezTo>
                    <a:pt x="1100836" y="0"/>
                    <a:pt x="1189609" y="88773"/>
                    <a:pt x="1189609" y="198247"/>
                  </a:cubicBezTo>
                  <a:lnTo>
                    <a:pt x="1189609" y="991362"/>
                  </a:lnTo>
                  <a:cubicBezTo>
                    <a:pt x="1189609" y="1100836"/>
                    <a:pt x="1100836" y="1189609"/>
                    <a:pt x="991362" y="1189609"/>
                  </a:cubicBezTo>
                  <a:lnTo>
                    <a:pt x="198247" y="1189609"/>
                  </a:lnTo>
                  <a:cubicBezTo>
                    <a:pt x="88773" y="1189609"/>
                    <a:pt x="0" y="1100836"/>
                    <a:pt x="0" y="991362"/>
                  </a:cubicBezTo>
                  <a:close/>
                </a:path>
              </a:pathLst>
            </a:custGeom>
            <a:solidFill>
              <a:srgbClr val="EC4899"/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28575"/>
              <a:ext cx="1189647" cy="121822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81"/>
                </a:lnSpc>
              </a:pPr>
              <a:r>
                <a:rPr lang="en-US" sz="1651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2</a:t>
              </a:r>
            </a:p>
          </p:txBody>
        </p:sp>
      </p:grpSp>
      <p:sp>
        <p:nvSpPr>
          <p:cNvPr name="TextBox 19" id="19"/>
          <p:cNvSpPr txBox="true"/>
          <p:nvPr/>
        </p:nvSpPr>
        <p:spPr>
          <a:xfrm rot="0">
            <a:off x="2383546" y="4492666"/>
            <a:ext cx="10195046" cy="5662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2"/>
              </a:lnSpc>
            </a:pPr>
            <a:r>
              <a:rPr lang="en-US" sz="2251" b="true">
                <a:solidFill>
                  <a:srgbClr val="F1F5F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Implementación Funcional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3090388" y="4511716"/>
            <a:ext cx="4018016" cy="5471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161"/>
              </a:lnSpc>
            </a:pPr>
            <a:r>
              <a:rPr lang="en-US" sz="180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Puntos: 0-5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2383546" y="5138947"/>
            <a:ext cx="14313056" cy="6749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✅ Usuarios · catálogo · carrito · pedidos · admin · redes sociales · Shop the Post</a:t>
            </a:r>
          </a:p>
        </p:txBody>
      </p:sp>
      <p:grpSp>
        <p:nvGrpSpPr>
          <p:cNvPr name="Group 22" id="22"/>
          <p:cNvGrpSpPr/>
          <p:nvPr/>
        </p:nvGrpSpPr>
        <p:grpSpPr>
          <a:xfrm rot="0">
            <a:off x="951338" y="6098858"/>
            <a:ext cx="16491137" cy="1460373"/>
            <a:chOff x="0" y="0"/>
            <a:chExt cx="21988183" cy="1947164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21988146" cy="1947164"/>
            </a:xfrm>
            <a:custGeom>
              <a:avLst/>
              <a:gdLst/>
              <a:ahLst/>
              <a:cxnLst/>
              <a:rect r="r" b="b" t="t" l="l"/>
              <a:pathLst>
                <a:path h="1947164" w="21988146">
                  <a:moveTo>
                    <a:pt x="0" y="324485"/>
                  </a:moveTo>
                  <a:cubicBezTo>
                    <a:pt x="0" y="145288"/>
                    <a:pt x="145288" y="0"/>
                    <a:pt x="324485" y="0"/>
                  </a:cubicBezTo>
                  <a:lnTo>
                    <a:pt x="21663661" y="0"/>
                  </a:lnTo>
                  <a:cubicBezTo>
                    <a:pt x="21842857" y="0"/>
                    <a:pt x="21988146" y="145288"/>
                    <a:pt x="21988146" y="324485"/>
                  </a:cubicBezTo>
                  <a:lnTo>
                    <a:pt x="21988146" y="1622679"/>
                  </a:lnTo>
                  <a:cubicBezTo>
                    <a:pt x="21988146" y="1801876"/>
                    <a:pt x="21842857" y="1947164"/>
                    <a:pt x="21663661" y="1947164"/>
                  </a:cubicBezTo>
                  <a:lnTo>
                    <a:pt x="324485" y="1947164"/>
                  </a:lnTo>
                  <a:cubicBezTo>
                    <a:pt x="145288" y="1947164"/>
                    <a:pt x="0" y="1801876"/>
                    <a:pt x="0" y="1622679"/>
                  </a:cubicBezTo>
                  <a:close/>
                </a:path>
              </a:pathLst>
            </a:custGeom>
            <a:solidFill>
              <a:srgbClr val="1E293B"/>
            </a:solidFill>
            <a:ln w="19065" cap="sq">
              <a:solidFill>
                <a:srgbClr val="F59E0B"/>
              </a:solidFill>
              <a:prstDash val="solid"/>
              <a:miter/>
            </a:ln>
          </p:spPr>
        </p:sp>
      </p:grpSp>
      <p:grpSp>
        <p:nvGrpSpPr>
          <p:cNvPr name="Group 24" id="24"/>
          <p:cNvGrpSpPr/>
          <p:nvPr/>
        </p:nvGrpSpPr>
        <p:grpSpPr>
          <a:xfrm rot="0">
            <a:off x="1166774" y="6382931"/>
            <a:ext cx="892235" cy="892235"/>
            <a:chOff x="0" y="0"/>
            <a:chExt cx="1189647" cy="1189647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1189609" cy="1189609"/>
            </a:xfrm>
            <a:custGeom>
              <a:avLst/>
              <a:gdLst/>
              <a:ahLst/>
              <a:cxnLst/>
              <a:rect r="r" b="b" t="t" l="l"/>
              <a:pathLst>
                <a:path h="1189609" w="1189609">
                  <a:moveTo>
                    <a:pt x="0" y="198247"/>
                  </a:moveTo>
                  <a:cubicBezTo>
                    <a:pt x="0" y="88773"/>
                    <a:pt x="88773" y="0"/>
                    <a:pt x="198247" y="0"/>
                  </a:cubicBezTo>
                  <a:lnTo>
                    <a:pt x="991362" y="0"/>
                  </a:lnTo>
                  <a:cubicBezTo>
                    <a:pt x="1100836" y="0"/>
                    <a:pt x="1189609" y="88773"/>
                    <a:pt x="1189609" y="198247"/>
                  </a:cubicBezTo>
                  <a:lnTo>
                    <a:pt x="1189609" y="991362"/>
                  </a:lnTo>
                  <a:cubicBezTo>
                    <a:pt x="1189609" y="1100836"/>
                    <a:pt x="1100836" y="1189609"/>
                    <a:pt x="991362" y="1189609"/>
                  </a:cubicBezTo>
                  <a:lnTo>
                    <a:pt x="198247" y="1189609"/>
                  </a:lnTo>
                  <a:cubicBezTo>
                    <a:pt x="88773" y="1189609"/>
                    <a:pt x="0" y="1100836"/>
                    <a:pt x="0" y="991362"/>
                  </a:cubicBezTo>
                  <a:close/>
                </a:path>
              </a:pathLst>
            </a:custGeom>
            <a:solidFill>
              <a:srgbClr val="F59E0B"/>
            </a:solidFill>
          </p:spPr>
        </p:sp>
        <p:sp>
          <p:nvSpPr>
            <p:cNvPr name="TextBox 26" id="26"/>
            <p:cNvSpPr txBox="true"/>
            <p:nvPr/>
          </p:nvSpPr>
          <p:spPr>
            <a:xfrm>
              <a:off x="0" y="-28575"/>
              <a:ext cx="1189647" cy="121822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81"/>
                </a:lnSpc>
              </a:pPr>
              <a:r>
                <a:rPr lang="en-US" sz="1651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3</a:t>
              </a:r>
            </a:p>
          </p:txBody>
        </p:sp>
      </p:grpSp>
      <p:sp>
        <p:nvSpPr>
          <p:cNvPr name="TextBox 27" id="27"/>
          <p:cNvSpPr txBox="true"/>
          <p:nvPr/>
        </p:nvSpPr>
        <p:spPr>
          <a:xfrm rot="0">
            <a:off x="2383546" y="6208509"/>
            <a:ext cx="10195046" cy="5662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2"/>
              </a:lnSpc>
            </a:pPr>
            <a:r>
              <a:rPr lang="en-US" sz="2251" b="true">
                <a:solidFill>
                  <a:srgbClr val="F1F5F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Uso de Tecnologías Cloud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13090388" y="6227559"/>
            <a:ext cx="4018016" cy="5471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161"/>
              </a:lnSpc>
            </a:pPr>
            <a:r>
              <a:rPr lang="en-US" sz="180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Puntos: 0-5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2383546" y="6854790"/>
            <a:ext cx="14313056" cy="6749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✅ AWS EC2 Ubuntu 22.04 · Security Group · acceso operativo · script automatizado</a:t>
            </a:r>
          </a:p>
        </p:txBody>
      </p:sp>
      <p:grpSp>
        <p:nvGrpSpPr>
          <p:cNvPr name="Group 30" id="30"/>
          <p:cNvGrpSpPr/>
          <p:nvPr/>
        </p:nvGrpSpPr>
        <p:grpSpPr>
          <a:xfrm rot="0">
            <a:off x="951338" y="7814701"/>
            <a:ext cx="16491137" cy="1460373"/>
            <a:chOff x="0" y="0"/>
            <a:chExt cx="21988183" cy="1947164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21988146" cy="1947164"/>
            </a:xfrm>
            <a:custGeom>
              <a:avLst/>
              <a:gdLst/>
              <a:ahLst/>
              <a:cxnLst/>
              <a:rect r="r" b="b" t="t" l="l"/>
              <a:pathLst>
                <a:path h="1947164" w="21988146">
                  <a:moveTo>
                    <a:pt x="0" y="324485"/>
                  </a:moveTo>
                  <a:cubicBezTo>
                    <a:pt x="0" y="145288"/>
                    <a:pt x="145288" y="0"/>
                    <a:pt x="324485" y="0"/>
                  </a:cubicBezTo>
                  <a:lnTo>
                    <a:pt x="21663661" y="0"/>
                  </a:lnTo>
                  <a:cubicBezTo>
                    <a:pt x="21842857" y="0"/>
                    <a:pt x="21988146" y="145288"/>
                    <a:pt x="21988146" y="324485"/>
                  </a:cubicBezTo>
                  <a:lnTo>
                    <a:pt x="21988146" y="1622679"/>
                  </a:lnTo>
                  <a:cubicBezTo>
                    <a:pt x="21988146" y="1801876"/>
                    <a:pt x="21842857" y="1947164"/>
                    <a:pt x="21663661" y="1947164"/>
                  </a:cubicBezTo>
                  <a:lnTo>
                    <a:pt x="324485" y="1947164"/>
                  </a:lnTo>
                  <a:cubicBezTo>
                    <a:pt x="145288" y="1947164"/>
                    <a:pt x="0" y="1801876"/>
                    <a:pt x="0" y="1622679"/>
                  </a:cubicBezTo>
                  <a:close/>
                </a:path>
              </a:pathLst>
            </a:custGeom>
            <a:solidFill>
              <a:srgbClr val="1E293B"/>
            </a:solidFill>
            <a:ln w="19065" cap="sq">
              <a:solidFill>
                <a:srgbClr val="10B981"/>
              </a:solidFill>
              <a:prstDash val="solid"/>
              <a:miter/>
            </a:ln>
          </p:spPr>
        </p:sp>
      </p:grpSp>
      <p:grpSp>
        <p:nvGrpSpPr>
          <p:cNvPr name="Group 32" id="32"/>
          <p:cNvGrpSpPr/>
          <p:nvPr/>
        </p:nvGrpSpPr>
        <p:grpSpPr>
          <a:xfrm rot="0">
            <a:off x="1166774" y="8098765"/>
            <a:ext cx="892235" cy="892235"/>
            <a:chOff x="0" y="0"/>
            <a:chExt cx="1189647" cy="1189647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1189609" cy="1189609"/>
            </a:xfrm>
            <a:custGeom>
              <a:avLst/>
              <a:gdLst/>
              <a:ahLst/>
              <a:cxnLst/>
              <a:rect r="r" b="b" t="t" l="l"/>
              <a:pathLst>
                <a:path h="1189609" w="1189609">
                  <a:moveTo>
                    <a:pt x="0" y="198247"/>
                  </a:moveTo>
                  <a:cubicBezTo>
                    <a:pt x="0" y="88773"/>
                    <a:pt x="88773" y="0"/>
                    <a:pt x="198247" y="0"/>
                  </a:cubicBezTo>
                  <a:lnTo>
                    <a:pt x="991362" y="0"/>
                  </a:lnTo>
                  <a:cubicBezTo>
                    <a:pt x="1100836" y="0"/>
                    <a:pt x="1189609" y="88773"/>
                    <a:pt x="1189609" y="198247"/>
                  </a:cubicBezTo>
                  <a:lnTo>
                    <a:pt x="1189609" y="991362"/>
                  </a:lnTo>
                  <a:cubicBezTo>
                    <a:pt x="1189609" y="1100836"/>
                    <a:pt x="1100836" y="1189609"/>
                    <a:pt x="991362" y="1189609"/>
                  </a:cubicBezTo>
                  <a:lnTo>
                    <a:pt x="198247" y="1189609"/>
                  </a:lnTo>
                  <a:cubicBezTo>
                    <a:pt x="88773" y="1189609"/>
                    <a:pt x="0" y="1100836"/>
                    <a:pt x="0" y="991362"/>
                  </a:cubicBezTo>
                  <a:close/>
                </a:path>
              </a:pathLst>
            </a:custGeom>
            <a:solidFill>
              <a:srgbClr val="10B981"/>
            </a:solidFill>
          </p:spPr>
        </p:sp>
        <p:sp>
          <p:nvSpPr>
            <p:cNvPr name="TextBox 34" id="34"/>
            <p:cNvSpPr txBox="true"/>
            <p:nvPr/>
          </p:nvSpPr>
          <p:spPr>
            <a:xfrm>
              <a:off x="0" y="-28575"/>
              <a:ext cx="1189647" cy="121822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81"/>
                </a:lnSpc>
              </a:pPr>
              <a:r>
                <a:rPr lang="en-US" sz="1651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4</a:t>
              </a:r>
            </a:p>
          </p:txBody>
        </p:sp>
      </p:grpSp>
      <p:sp>
        <p:nvSpPr>
          <p:cNvPr name="TextBox 35" id="35"/>
          <p:cNvSpPr txBox="true"/>
          <p:nvPr/>
        </p:nvSpPr>
        <p:spPr>
          <a:xfrm rot="0">
            <a:off x="2383546" y="7924352"/>
            <a:ext cx="10195046" cy="5662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2"/>
              </a:lnSpc>
            </a:pPr>
            <a:r>
              <a:rPr lang="en-US" sz="2251" b="true">
                <a:solidFill>
                  <a:srgbClr val="F1F5F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Presentación y Demostración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13090388" y="7943402"/>
            <a:ext cx="4018016" cy="5471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161"/>
              </a:lnSpc>
            </a:pPr>
            <a:r>
              <a:rPr lang="en-US" sz="180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Puntos: 0-5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2383546" y="8570624"/>
            <a:ext cx="14313056" cy="6749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✅ PPT estructurado · doc completa · sistema en vivo · demo 18 min ensayada</a:t>
            </a:r>
          </a:p>
        </p:txBody>
      </p:sp>
      <p:sp>
        <p:nvSpPr>
          <p:cNvPr name="TextBox 38" id="38"/>
          <p:cNvSpPr txBox="true"/>
          <p:nvPr/>
        </p:nvSpPr>
        <p:spPr>
          <a:xfrm rot="0">
            <a:off x="599065" y="9659236"/>
            <a:ext cx="10881379" cy="5471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1"/>
              </a:lnSpc>
            </a:pPr>
            <a:r>
              <a:rPr lang="en-US" sz="150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SysMarket v2 · Sistemas Operativos USIL · Grupo 01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16522065" y="9659236"/>
            <a:ext cx="1272673" cy="5471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01"/>
              </a:lnSpc>
            </a:pPr>
            <a:r>
              <a:rPr lang="en-US" sz="150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13/18</a:t>
            </a:r>
          </a:p>
        </p:txBody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97725" cy="10295039"/>
            <a:chOff x="0" y="0"/>
            <a:chExt cx="24396967" cy="1372671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96954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24396954">
                  <a:moveTo>
                    <a:pt x="0" y="0"/>
                  </a:moveTo>
                  <a:lnTo>
                    <a:pt x="24396954" y="0"/>
                  </a:lnTo>
                  <a:lnTo>
                    <a:pt x="2439695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0F172A"/>
            </a:solidFill>
          </p:spPr>
        </p:sp>
      </p:grpSp>
      <p:sp>
        <p:nvSpPr>
          <p:cNvPr name="TextBox 4" id="4"/>
          <p:cNvSpPr txBox="true"/>
          <p:nvPr/>
        </p:nvSpPr>
        <p:spPr>
          <a:xfrm rot="0">
            <a:off x="1010869" y="592036"/>
            <a:ext cx="16372065" cy="8979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485"/>
              </a:lnSpc>
            </a:pPr>
            <a:r>
              <a:rPr lang="en-US" sz="5404" b="true">
                <a:solidFill>
                  <a:srgbClr val="3B82F6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Pruebas realizadas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10869" y="1560471"/>
            <a:ext cx="16372065" cy="5471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1"/>
              </a:lnSpc>
            </a:pPr>
            <a:r>
              <a:rPr lang="en-US" sz="1801" i="true">
                <a:solidFill>
                  <a:srgbClr val="94A3B8"/>
                </a:solidFill>
                <a:latin typeface="Calibri (MS) Italics"/>
                <a:ea typeface="Calibri (MS) Italics"/>
                <a:cs typeface="Calibri (MS) Italics"/>
                <a:sym typeface="Calibri (MS) Italics"/>
              </a:rPr>
              <a:t>21 casos en 3 categorías · 100% aprobados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951338" y="2408044"/>
            <a:ext cx="5509755" cy="7072932"/>
            <a:chOff x="0" y="0"/>
            <a:chExt cx="7346340" cy="9430576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7346315" cy="9430511"/>
            </a:xfrm>
            <a:custGeom>
              <a:avLst/>
              <a:gdLst/>
              <a:ahLst/>
              <a:cxnLst/>
              <a:rect r="r" b="b" t="t" l="l"/>
              <a:pathLst>
                <a:path h="9430511" w="7346315">
                  <a:moveTo>
                    <a:pt x="0" y="1258298"/>
                  </a:moveTo>
                  <a:cubicBezTo>
                    <a:pt x="0" y="563304"/>
                    <a:pt x="548132" y="0"/>
                    <a:pt x="1224407" y="0"/>
                  </a:cubicBezTo>
                  <a:lnTo>
                    <a:pt x="6121908" y="0"/>
                  </a:lnTo>
                  <a:cubicBezTo>
                    <a:pt x="6798183" y="0"/>
                    <a:pt x="7346315" y="563304"/>
                    <a:pt x="7346315" y="1258298"/>
                  </a:cubicBezTo>
                  <a:lnTo>
                    <a:pt x="7346315" y="8172213"/>
                  </a:lnTo>
                  <a:cubicBezTo>
                    <a:pt x="7346315" y="8867207"/>
                    <a:pt x="6798183" y="9430511"/>
                    <a:pt x="6121908" y="9430511"/>
                  </a:cubicBezTo>
                  <a:lnTo>
                    <a:pt x="1224407" y="9430511"/>
                  </a:lnTo>
                  <a:cubicBezTo>
                    <a:pt x="548132" y="9430510"/>
                    <a:pt x="0" y="8867207"/>
                    <a:pt x="0" y="8172213"/>
                  </a:cubicBezTo>
                  <a:close/>
                </a:path>
              </a:pathLst>
            </a:custGeom>
            <a:solidFill>
              <a:srgbClr val="1E293B"/>
            </a:solidFill>
            <a:ln w="19065" cap="sq">
              <a:solidFill>
                <a:srgbClr val="3B82F6"/>
              </a:solidFill>
              <a:prstDash val="solid"/>
              <a:miter/>
            </a:ln>
          </p:spPr>
        </p:sp>
      </p:grpSp>
      <p:sp>
        <p:nvSpPr>
          <p:cNvPr name="TextBox 8" id="8"/>
          <p:cNvSpPr txBox="true"/>
          <p:nvPr/>
        </p:nvSpPr>
        <p:spPr>
          <a:xfrm rot="0">
            <a:off x="1285408" y="2717721"/>
            <a:ext cx="4841624" cy="390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61"/>
              </a:lnSpc>
            </a:pPr>
            <a:r>
              <a:rPr lang="en-US" sz="2301" b="true">
                <a:solidFill>
                  <a:srgbClr val="3B82F6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E-commerce (7 casos)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326842" y="3576571"/>
            <a:ext cx="4758738" cy="2305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81"/>
              </a:lnSpc>
            </a:pPr>
            <a:r>
              <a:rPr lang="en-US" sz="2151">
                <a:solidFill>
                  <a:srgbClr val="F1F5F9"/>
                </a:solidFill>
                <a:latin typeface="Calibri (MS)"/>
                <a:ea typeface="Calibri (MS)"/>
                <a:cs typeface="Calibri (MS)"/>
                <a:sym typeface="Calibri (MS)"/>
              </a:rPr>
              <a:t>▸ Registro de usuario</a:t>
            </a:r>
          </a:p>
          <a:p>
            <a:pPr algn="l">
              <a:lnSpc>
                <a:spcPts val="2581"/>
              </a:lnSpc>
            </a:pPr>
            <a:r>
              <a:rPr lang="en-US" sz="2151">
                <a:solidFill>
                  <a:srgbClr val="F1F5F9"/>
                </a:solidFill>
                <a:latin typeface="Calibri (MS)"/>
                <a:ea typeface="Calibri (MS)"/>
                <a:cs typeface="Calibri (MS)"/>
                <a:sym typeface="Calibri (MS)"/>
              </a:rPr>
              <a:t>▸ Login válido</a:t>
            </a:r>
          </a:p>
          <a:p>
            <a:pPr algn="l">
              <a:lnSpc>
                <a:spcPts val="2581"/>
              </a:lnSpc>
            </a:pPr>
            <a:r>
              <a:rPr lang="en-US" sz="2151">
                <a:solidFill>
                  <a:srgbClr val="F1F5F9"/>
                </a:solidFill>
                <a:latin typeface="Calibri (MS)"/>
                <a:ea typeface="Calibri (MS)"/>
                <a:cs typeface="Calibri (MS)"/>
                <a:sym typeface="Calibri (MS)"/>
              </a:rPr>
              <a:t>▸ AJAX carrito</a:t>
            </a:r>
          </a:p>
          <a:p>
            <a:pPr algn="l">
              <a:lnSpc>
                <a:spcPts val="2581"/>
              </a:lnSpc>
            </a:pPr>
            <a:r>
              <a:rPr lang="en-US" sz="2151">
                <a:solidFill>
                  <a:srgbClr val="F1F5F9"/>
                </a:solidFill>
                <a:latin typeface="Calibri (MS)"/>
                <a:ea typeface="Calibri (MS)"/>
                <a:cs typeface="Calibri (MS)"/>
                <a:sym typeface="Calibri (MS)"/>
              </a:rPr>
              <a:t>▸ Modificar cantidad</a:t>
            </a:r>
          </a:p>
          <a:p>
            <a:pPr algn="l">
              <a:lnSpc>
                <a:spcPts val="2581"/>
              </a:lnSpc>
            </a:pPr>
            <a:r>
              <a:rPr lang="en-US" sz="2151">
                <a:solidFill>
                  <a:srgbClr val="F1F5F9"/>
                </a:solidFill>
                <a:latin typeface="Calibri (MS)"/>
                <a:ea typeface="Calibri (MS)"/>
                <a:cs typeface="Calibri (MS)"/>
                <a:sym typeface="Calibri (MS)"/>
              </a:rPr>
              <a:t>▸ Checkout con stock</a:t>
            </a:r>
          </a:p>
          <a:p>
            <a:pPr algn="l">
              <a:lnSpc>
                <a:spcPts val="2581"/>
              </a:lnSpc>
            </a:pPr>
            <a:r>
              <a:rPr lang="en-US" sz="2151">
                <a:solidFill>
                  <a:srgbClr val="F1F5F9"/>
                </a:solidFill>
                <a:latin typeface="Calibri (MS)"/>
                <a:ea typeface="Calibri (MS)"/>
                <a:cs typeface="Calibri (MS)"/>
                <a:sym typeface="Calibri (MS)"/>
              </a:rPr>
              <a:t>▸ Checkout sin stock</a:t>
            </a:r>
          </a:p>
          <a:p>
            <a:pPr algn="l">
              <a:lnSpc>
                <a:spcPts val="2581"/>
              </a:lnSpc>
            </a:pPr>
            <a:r>
              <a:rPr lang="en-US" sz="2151">
                <a:solidFill>
                  <a:srgbClr val="F1F5F9"/>
                </a:solidFill>
                <a:latin typeface="Calibri (MS)"/>
                <a:ea typeface="Calibri (MS)"/>
                <a:cs typeface="Calibri (MS)"/>
                <a:sym typeface="Calibri (MS)"/>
              </a:rPr>
              <a:t>▸ Acceso admin denegado</a:t>
            </a:r>
          </a:p>
        </p:txBody>
      </p:sp>
      <p:grpSp>
        <p:nvGrpSpPr>
          <p:cNvPr name="Group 10" id="10"/>
          <p:cNvGrpSpPr/>
          <p:nvPr/>
        </p:nvGrpSpPr>
        <p:grpSpPr>
          <a:xfrm rot="0">
            <a:off x="6647926" y="2408044"/>
            <a:ext cx="5509755" cy="7072932"/>
            <a:chOff x="0" y="0"/>
            <a:chExt cx="7346340" cy="9430576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7346315" cy="9430511"/>
            </a:xfrm>
            <a:custGeom>
              <a:avLst/>
              <a:gdLst/>
              <a:ahLst/>
              <a:cxnLst/>
              <a:rect r="r" b="b" t="t" l="l"/>
              <a:pathLst>
                <a:path h="9430511" w="7346315">
                  <a:moveTo>
                    <a:pt x="0" y="1258298"/>
                  </a:moveTo>
                  <a:cubicBezTo>
                    <a:pt x="0" y="563304"/>
                    <a:pt x="548132" y="0"/>
                    <a:pt x="1224407" y="0"/>
                  </a:cubicBezTo>
                  <a:lnTo>
                    <a:pt x="6121908" y="0"/>
                  </a:lnTo>
                  <a:cubicBezTo>
                    <a:pt x="6798183" y="0"/>
                    <a:pt x="7346315" y="563304"/>
                    <a:pt x="7346315" y="1258298"/>
                  </a:cubicBezTo>
                  <a:lnTo>
                    <a:pt x="7346315" y="8172213"/>
                  </a:lnTo>
                  <a:cubicBezTo>
                    <a:pt x="7346315" y="8867207"/>
                    <a:pt x="6798183" y="9430511"/>
                    <a:pt x="6121908" y="9430511"/>
                  </a:cubicBezTo>
                  <a:lnTo>
                    <a:pt x="1224407" y="9430511"/>
                  </a:lnTo>
                  <a:cubicBezTo>
                    <a:pt x="548132" y="9430510"/>
                    <a:pt x="0" y="8867207"/>
                    <a:pt x="0" y="8172213"/>
                  </a:cubicBezTo>
                  <a:close/>
                </a:path>
              </a:pathLst>
            </a:custGeom>
            <a:solidFill>
              <a:srgbClr val="1E293B"/>
            </a:solidFill>
            <a:ln w="19065" cap="sq">
              <a:solidFill>
                <a:srgbClr val="10B981"/>
              </a:solidFill>
              <a:prstDash val="solid"/>
              <a:miter/>
            </a:ln>
          </p:spPr>
        </p:sp>
      </p:grpSp>
      <p:sp>
        <p:nvSpPr>
          <p:cNvPr name="TextBox 12" id="12"/>
          <p:cNvSpPr txBox="true"/>
          <p:nvPr/>
        </p:nvSpPr>
        <p:spPr>
          <a:xfrm rot="0">
            <a:off x="6981996" y="2717721"/>
            <a:ext cx="4841624" cy="390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61"/>
              </a:lnSpc>
            </a:pPr>
            <a:r>
              <a:rPr lang="en-US" sz="2301" b="true">
                <a:solidFill>
                  <a:srgbClr val="10B981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Monitor SO (5 casos)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7023440" y="3557521"/>
            <a:ext cx="4758738" cy="1819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21"/>
              </a:lnSpc>
            </a:pPr>
            <a:r>
              <a:rPr lang="en-US" sz="2351">
                <a:solidFill>
                  <a:srgbClr val="F1F5F9"/>
                </a:solidFill>
                <a:latin typeface="Calibri (MS)"/>
                <a:ea typeface="Calibri (MS)"/>
                <a:cs typeface="Calibri (MS)"/>
                <a:sym typeface="Calibri (MS)"/>
              </a:rPr>
              <a:t>▸ 5 hilos activos en LWP</a:t>
            </a:r>
          </a:p>
          <a:p>
            <a:pPr algn="l">
              <a:lnSpc>
                <a:spcPts val="2821"/>
              </a:lnSpc>
            </a:pPr>
            <a:r>
              <a:rPr lang="en-US" sz="2351">
                <a:solidFill>
                  <a:srgbClr val="F1F5F9"/>
                </a:solidFill>
                <a:latin typeface="Calibri (MS)"/>
                <a:ea typeface="Calibri (MS)"/>
                <a:cs typeface="Calibri (MS)"/>
                <a:sym typeface="Calibri (MS)"/>
              </a:rPr>
              <a:t>▸ Stress CPU &gt; 80%</a:t>
            </a:r>
          </a:p>
          <a:p>
            <a:pPr algn="l">
              <a:lnSpc>
                <a:spcPts val="2821"/>
              </a:lnSpc>
            </a:pPr>
            <a:r>
              <a:rPr lang="en-US" sz="2351">
                <a:solidFill>
                  <a:srgbClr val="F1F5F9"/>
                </a:solidFill>
                <a:latin typeface="Calibri (MS)"/>
                <a:ea typeface="Calibri (MS)"/>
                <a:cs typeface="Calibri (MS)"/>
                <a:sym typeface="Calibri (MS)"/>
              </a:rPr>
              <a:t>▸ Lectura vs htop ±2%</a:t>
            </a:r>
          </a:p>
          <a:p>
            <a:pPr algn="l">
              <a:lnSpc>
                <a:spcPts val="2821"/>
              </a:lnSpc>
            </a:pPr>
            <a:r>
              <a:rPr lang="en-US" sz="2351">
                <a:solidFill>
                  <a:srgbClr val="F1F5F9"/>
                </a:solidFill>
                <a:latin typeface="Calibri (MS)"/>
                <a:ea typeface="Calibri (MS)"/>
                <a:cs typeface="Calibri (MS)"/>
                <a:sym typeface="Calibri (MS)"/>
              </a:rPr>
              <a:t>▸ Persistencia tras reinicio</a:t>
            </a:r>
          </a:p>
          <a:p>
            <a:pPr algn="l">
              <a:lnSpc>
                <a:spcPts val="2821"/>
              </a:lnSpc>
            </a:pPr>
            <a:r>
              <a:rPr lang="en-US" sz="2351">
                <a:solidFill>
                  <a:srgbClr val="F1F5F9"/>
                </a:solidFill>
                <a:latin typeface="Calibri (MS)"/>
                <a:ea typeface="Calibri (MS)"/>
                <a:cs typeface="Calibri (MS)"/>
                <a:sym typeface="Calibri (MS)"/>
              </a:rPr>
              <a:t>▸ 1000 ciclos sin race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12344524" y="2408044"/>
            <a:ext cx="5509755" cy="7072932"/>
            <a:chOff x="0" y="0"/>
            <a:chExt cx="7346340" cy="9430576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7346315" cy="9430511"/>
            </a:xfrm>
            <a:custGeom>
              <a:avLst/>
              <a:gdLst/>
              <a:ahLst/>
              <a:cxnLst/>
              <a:rect r="r" b="b" t="t" l="l"/>
              <a:pathLst>
                <a:path h="9430511" w="7346315">
                  <a:moveTo>
                    <a:pt x="0" y="1258298"/>
                  </a:moveTo>
                  <a:cubicBezTo>
                    <a:pt x="0" y="563304"/>
                    <a:pt x="548132" y="0"/>
                    <a:pt x="1224407" y="0"/>
                  </a:cubicBezTo>
                  <a:lnTo>
                    <a:pt x="6121908" y="0"/>
                  </a:lnTo>
                  <a:cubicBezTo>
                    <a:pt x="6798183" y="0"/>
                    <a:pt x="7346315" y="563304"/>
                    <a:pt x="7346315" y="1258298"/>
                  </a:cubicBezTo>
                  <a:lnTo>
                    <a:pt x="7346315" y="8172213"/>
                  </a:lnTo>
                  <a:cubicBezTo>
                    <a:pt x="7346315" y="8867207"/>
                    <a:pt x="6798183" y="9430511"/>
                    <a:pt x="6121908" y="9430511"/>
                  </a:cubicBezTo>
                  <a:lnTo>
                    <a:pt x="1224407" y="9430511"/>
                  </a:lnTo>
                  <a:cubicBezTo>
                    <a:pt x="548132" y="9430510"/>
                    <a:pt x="0" y="8867207"/>
                    <a:pt x="0" y="8172213"/>
                  </a:cubicBezTo>
                  <a:close/>
                </a:path>
              </a:pathLst>
            </a:custGeom>
            <a:solidFill>
              <a:srgbClr val="1E293B"/>
            </a:solidFill>
            <a:ln w="19065" cap="sq">
              <a:solidFill>
                <a:srgbClr val="EC4899"/>
              </a:solidFill>
              <a:prstDash val="solid"/>
              <a:miter/>
            </a:ln>
          </p:spPr>
        </p:sp>
      </p:grpSp>
      <p:sp>
        <p:nvSpPr>
          <p:cNvPr name="TextBox 16" id="16"/>
          <p:cNvSpPr txBox="true"/>
          <p:nvPr/>
        </p:nvSpPr>
        <p:spPr>
          <a:xfrm rot="0">
            <a:off x="12678585" y="2717721"/>
            <a:ext cx="4841624" cy="390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61"/>
              </a:lnSpc>
            </a:pPr>
            <a:r>
              <a:rPr lang="en-US" sz="2301" b="true">
                <a:solidFill>
                  <a:srgbClr val="EC489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Social Commerce (9 casos)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2720028" y="3576571"/>
            <a:ext cx="4758738" cy="29527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81"/>
              </a:lnSpc>
            </a:pPr>
            <a:r>
              <a:rPr lang="en-US" sz="2151">
                <a:solidFill>
                  <a:srgbClr val="F1F5F9"/>
                </a:solidFill>
                <a:latin typeface="Calibri (MS)"/>
                <a:ea typeface="Calibri (MS)"/>
                <a:cs typeface="Calibri (MS)"/>
                <a:sym typeface="Calibri (MS)"/>
              </a:rPr>
              <a:t>▸ Like logueado</a:t>
            </a:r>
          </a:p>
          <a:p>
            <a:pPr algn="l">
              <a:lnSpc>
                <a:spcPts val="2581"/>
              </a:lnSpc>
            </a:pPr>
            <a:r>
              <a:rPr lang="en-US" sz="2151">
                <a:solidFill>
                  <a:srgbClr val="F1F5F9"/>
                </a:solidFill>
                <a:latin typeface="Calibri (MS)"/>
                <a:ea typeface="Calibri (MS)"/>
                <a:cs typeface="Calibri (MS)"/>
                <a:sym typeface="Calibri (MS)"/>
              </a:rPr>
              <a:t>▸ Toggle de like</a:t>
            </a:r>
          </a:p>
          <a:p>
            <a:pPr algn="l">
              <a:lnSpc>
                <a:spcPts val="2581"/>
              </a:lnSpc>
            </a:pPr>
            <a:r>
              <a:rPr lang="en-US" sz="2151">
                <a:solidFill>
                  <a:srgbClr val="F1F5F9"/>
                </a:solidFill>
                <a:latin typeface="Calibri (MS)"/>
                <a:ea typeface="Calibri (MS)"/>
                <a:cs typeface="Calibri (MS)"/>
                <a:sym typeface="Calibri (MS)"/>
              </a:rPr>
              <a:t>▸ Like sin sesión</a:t>
            </a:r>
          </a:p>
          <a:p>
            <a:pPr algn="l">
              <a:lnSpc>
                <a:spcPts val="2581"/>
              </a:lnSpc>
            </a:pPr>
            <a:r>
              <a:rPr lang="en-US" sz="2151">
                <a:solidFill>
                  <a:srgbClr val="F1F5F9"/>
                </a:solidFill>
                <a:latin typeface="Calibri (MS)"/>
                <a:ea typeface="Calibri (MS)"/>
                <a:cs typeface="Calibri (MS)"/>
                <a:sym typeface="Calibri (MS)"/>
              </a:rPr>
              <a:t>▸ Reseña con rating</a:t>
            </a:r>
          </a:p>
          <a:p>
            <a:pPr algn="l">
              <a:lnSpc>
                <a:spcPts val="2581"/>
              </a:lnSpc>
            </a:pPr>
            <a:r>
              <a:rPr lang="en-US" sz="2151">
                <a:solidFill>
                  <a:srgbClr val="F1F5F9"/>
                </a:solidFill>
                <a:latin typeface="Calibri (MS)"/>
                <a:ea typeface="Calibri (MS)"/>
                <a:cs typeface="Calibri (MS)"/>
                <a:sym typeface="Calibri (MS)"/>
              </a:rPr>
              <a:t>▸ Reseña inválida</a:t>
            </a:r>
          </a:p>
          <a:p>
            <a:pPr algn="l">
              <a:lnSpc>
                <a:spcPts val="2581"/>
              </a:lnSpc>
            </a:pPr>
            <a:r>
              <a:rPr lang="en-US" sz="2151">
                <a:solidFill>
                  <a:srgbClr val="F1F5F9"/>
                </a:solidFill>
                <a:latin typeface="Calibri (MS)"/>
                <a:ea typeface="Calibri (MS)"/>
                <a:cs typeface="Calibri (MS)"/>
                <a:sym typeface="Calibri (MS)"/>
              </a:rPr>
              <a:t>▸ Publicación etiquetada</a:t>
            </a:r>
          </a:p>
          <a:p>
            <a:pPr algn="l">
              <a:lnSpc>
                <a:spcPts val="2581"/>
              </a:lnSpc>
            </a:pPr>
            <a:r>
              <a:rPr lang="en-US" sz="2151">
                <a:solidFill>
                  <a:srgbClr val="F1F5F9"/>
                </a:solidFill>
                <a:latin typeface="Calibri (MS)"/>
                <a:ea typeface="Calibri (MS)"/>
                <a:cs typeface="Calibri (MS)"/>
                <a:sym typeface="Calibri (MS)"/>
              </a:rPr>
              <a:t>▸ Shop the Post redirect</a:t>
            </a:r>
          </a:p>
          <a:p>
            <a:pPr algn="l">
              <a:lnSpc>
                <a:spcPts val="2581"/>
              </a:lnSpc>
            </a:pPr>
            <a:r>
              <a:rPr lang="en-US" sz="2151">
                <a:solidFill>
                  <a:srgbClr val="F1F5F9"/>
                </a:solidFill>
                <a:latin typeface="Calibri (MS)"/>
                <a:ea typeface="Calibri (MS)"/>
                <a:cs typeface="Calibri (MS)"/>
                <a:sym typeface="Calibri (MS)"/>
              </a:rPr>
              <a:t>▸ Productos populares</a:t>
            </a:r>
          </a:p>
          <a:p>
            <a:pPr algn="l">
              <a:lnSpc>
                <a:spcPts val="2581"/>
              </a:lnSpc>
            </a:pPr>
            <a:r>
              <a:rPr lang="en-US" sz="2151">
                <a:solidFill>
                  <a:srgbClr val="F1F5F9"/>
                </a:solidFill>
                <a:latin typeface="Calibri (MS)"/>
                <a:ea typeface="Calibri (MS)"/>
                <a:cs typeface="Calibri (MS)"/>
                <a:sym typeface="Calibri (MS)"/>
              </a:rPr>
              <a:t>▸ KPIs en admin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599065" y="9659236"/>
            <a:ext cx="10881379" cy="5471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1"/>
              </a:lnSpc>
            </a:pPr>
            <a:r>
              <a:rPr lang="en-US" sz="150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SysMarket v2 · Sistemas Operativos USIL · Grupo 01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6522065" y="9659236"/>
            <a:ext cx="1272673" cy="5471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01"/>
              </a:lnSpc>
            </a:pPr>
            <a:r>
              <a:rPr lang="en-US" sz="150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14/18</a:t>
            </a:r>
          </a:p>
        </p:txBody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97725" cy="10295039"/>
            <a:chOff x="0" y="0"/>
            <a:chExt cx="24396967" cy="1372671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96954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24396954">
                  <a:moveTo>
                    <a:pt x="0" y="0"/>
                  </a:moveTo>
                  <a:lnTo>
                    <a:pt x="24396954" y="0"/>
                  </a:lnTo>
                  <a:lnTo>
                    <a:pt x="2439695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0F172A"/>
            </a:solidFill>
          </p:spPr>
        </p:sp>
      </p:grpSp>
      <p:sp>
        <p:nvSpPr>
          <p:cNvPr name="TextBox 4" id="4"/>
          <p:cNvSpPr txBox="true"/>
          <p:nvPr/>
        </p:nvSpPr>
        <p:spPr>
          <a:xfrm rot="0">
            <a:off x="1010869" y="592036"/>
            <a:ext cx="16372065" cy="8979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485"/>
              </a:lnSpc>
            </a:pPr>
            <a:r>
              <a:rPr lang="en-US" sz="5404" b="true">
                <a:solidFill>
                  <a:srgbClr val="3B82F6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Resultados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951338" y="2324014"/>
            <a:ext cx="3999814" cy="2764412"/>
            <a:chOff x="0" y="0"/>
            <a:chExt cx="5333086" cy="3685883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5333111" cy="3685794"/>
            </a:xfrm>
            <a:custGeom>
              <a:avLst/>
              <a:gdLst/>
              <a:ahLst/>
              <a:cxnLst/>
              <a:rect r="r" b="b" t="t" l="l"/>
              <a:pathLst>
                <a:path h="3685794" w="5333111">
                  <a:moveTo>
                    <a:pt x="0" y="614299"/>
                  </a:moveTo>
                  <a:cubicBezTo>
                    <a:pt x="0" y="275082"/>
                    <a:pt x="275082" y="0"/>
                    <a:pt x="614299" y="0"/>
                  </a:cubicBezTo>
                  <a:lnTo>
                    <a:pt x="4718812" y="0"/>
                  </a:lnTo>
                  <a:cubicBezTo>
                    <a:pt x="5058156" y="0"/>
                    <a:pt x="5333111" y="275082"/>
                    <a:pt x="5333111" y="614299"/>
                  </a:cubicBezTo>
                  <a:lnTo>
                    <a:pt x="5333111" y="3071495"/>
                  </a:lnTo>
                  <a:cubicBezTo>
                    <a:pt x="5333111" y="3410839"/>
                    <a:pt x="5058029" y="3685794"/>
                    <a:pt x="4718812" y="3685794"/>
                  </a:cubicBezTo>
                  <a:lnTo>
                    <a:pt x="614299" y="3685794"/>
                  </a:lnTo>
                  <a:cubicBezTo>
                    <a:pt x="275082" y="3685921"/>
                    <a:pt x="0" y="3410839"/>
                    <a:pt x="0" y="3071495"/>
                  </a:cubicBezTo>
                  <a:close/>
                </a:path>
              </a:pathLst>
            </a:custGeom>
            <a:solidFill>
              <a:srgbClr val="1E293B"/>
            </a:solidFill>
            <a:ln w="19065" cap="sq">
              <a:solidFill>
                <a:srgbClr val="3B82F6"/>
              </a:solidFill>
              <a:prstDash val="solid"/>
              <a:miter/>
            </a:ln>
          </p:spPr>
        </p:sp>
      </p:grpSp>
      <p:sp>
        <p:nvSpPr>
          <p:cNvPr name="TextBox 7" id="7"/>
          <p:cNvSpPr txBox="true"/>
          <p:nvPr/>
        </p:nvSpPr>
        <p:spPr>
          <a:xfrm rot="0">
            <a:off x="1148134" y="2485206"/>
            <a:ext cx="3606213" cy="147554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646"/>
              </a:lnSpc>
            </a:pPr>
            <a:r>
              <a:rPr lang="en-US" sz="7205" b="true">
                <a:solidFill>
                  <a:srgbClr val="3B82F6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13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148134" y="4099922"/>
            <a:ext cx="3606213" cy="8217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61"/>
              </a:lnSpc>
            </a:pPr>
            <a:r>
              <a:rPr lang="en-US" sz="180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tablas en BD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5275259" y="2324014"/>
            <a:ext cx="3999814" cy="2764412"/>
            <a:chOff x="0" y="0"/>
            <a:chExt cx="5333086" cy="3685883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5333111" cy="3685794"/>
            </a:xfrm>
            <a:custGeom>
              <a:avLst/>
              <a:gdLst/>
              <a:ahLst/>
              <a:cxnLst/>
              <a:rect r="r" b="b" t="t" l="l"/>
              <a:pathLst>
                <a:path h="3685794" w="5333111">
                  <a:moveTo>
                    <a:pt x="0" y="614299"/>
                  </a:moveTo>
                  <a:cubicBezTo>
                    <a:pt x="0" y="275082"/>
                    <a:pt x="275082" y="0"/>
                    <a:pt x="614299" y="0"/>
                  </a:cubicBezTo>
                  <a:lnTo>
                    <a:pt x="4718812" y="0"/>
                  </a:lnTo>
                  <a:cubicBezTo>
                    <a:pt x="5058156" y="0"/>
                    <a:pt x="5333111" y="275082"/>
                    <a:pt x="5333111" y="614299"/>
                  </a:cubicBezTo>
                  <a:lnTo>
                    <a:pt x="5333111" y="3071495"/>
                  </a:lnTo>
                  <a:cubicBezTo>
                    <a:pt x="5333111" y="3410839"/>
                    <a:pt x="5058029" y="3685794"/>
                    <a:pt x="4718812" y="3685794"/>
                  </a:cubicBezTo>
                  <a:lnTo>
                    <a:pt x="614299" y="3685794"/>
                  </a:lnTo>
                  <a:cubicBezTo>
                    <a:pt x="275082" y="3685921"/>
                    <a:pt x="0" y="3410839"/>
                    <a:pt x="0" y="3071495"/>
                  </a:cubicBezTo>
                  <a:close/>
                </a:path>
              </a:pathLst>
            </a:custGeom>
            <a:solidFill>
              <a:srgbClr val="1E293B"/>
            </a:solidFill>
            <a:ln w="19065" cap="sq">
              <a:solidFill>
                <a:srgbClr val="8B5CF6"/>
              </a:solidFill>
              <a:prstDash val="solid"/>
              <a:miter/>
            </a:ln>
          </p:spPr>
        </p:sp>
      </p:grpSp>
      <p:sp>
        <p:nvSpPr>
          <p:cNvPr name="TextBox 11" id="11"/>
          <p:cNvSpPr txBox="true"/>
          <p:nvPr/>
        </p:nvSpPr>
        <p:spPr>
          <a:xfrm rot="0">
            <a:off x="5472055" y="2485206"/>
            <a:ext cx="3606213" cy="147554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646"/>
              </a:lnSpc>
            </a:pPr>
            <a:r>
              <a:rPr lang="en-US" sz="7205" b="true">
                <a:solidFill>
                  <a:srgbClr val="8B5CF6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3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5472055" y="4099922"/>
            <a:ext cx="3606213" cy="8217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61"/>
              </a:lnSpc>
            </a:pPr>
            <a:r>
              <a:rPr lang="en-US" sz="180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contenedores Docker</a:t>
            </a:r>
          </a:p>
        </p:txBody>
      </p:sp>
      <p:grpSp>
        <p:nvGrpSpPr>
          <p:cNvPr name="Group 13" id="13"/>
          <p:cNvGrpSpPr/>
          <p:nvPr/>
        </p:nvGrpSpPr>
        <p:grpSpPr>
          <a:xfrm rot="0">
            <a:off x="9599171" y="2324014"/>
            <a:ext cx="3999814" cy="2764412"/>
            <a:chOff x="0" y="0"/>
            <a:chExt cx="5333086" cy="3685883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5333111" cy="3685794"/>
            </a:xfrm>
            <a:custGeom>
              <a:avLst/>
              <a:gdLst/>
              <a:ahLst/>
              <a:cxnLst/>
              <a:rect r="r" b="b" t="t" l="l"/>
              <a:pathLst>
                <a:path h="3685794" w="5333111">
                  <a:moveTo>
                    <a:pt x="0" y="614299"/>
                  </a:moveTo>
                  <a:cubicBezTo>
                    <a:pt x="0" y="275082"/>
                    <a:pt x="275082" y="0"/>
                    <a:pt x="614299" y="0"/>
                  </a:cubicBezTo>
                  <a:lnTo>
                    <a:pt x="4718812" y="0"/>
                  </a:lnTo>
                  <a:cubicBezTo>
                    <a:pt x="5058156" y="0"/>
                    <a:pt x="5333111" y="275082"/>
                    <a:pt x="5333111" y="614299"/>
                  </a:cubicBezTo>
                  <a:lnTo>
                    <a:pt x="5333111" y="3071495"/>
                  </a:lnTo>
                  <a:cubicBezTo>
                    <a:pt x="5333111" y="3410839"/>
                    <a:pt x="5058029" y="3685794"/>
                    <a:pt x="4718812" y="3685794"/>
                  </a:cubicBezTo>
                  <a:lnTo>
                    <a:pt x="614299" y="3685794"/>
                  </a:lnTo>
                  <a:cubicBezTo>
                    <a:pt x="275082" y="3685921"/>
                    <a:pt x="0" y="3410839"/>
                    <a:pt x="0" y="3071495"/>
                  </a:cubicBezTo>
                  <a:close/>
                </a:path>
              </a:pathLst>
            </a:custGeom>
            <a:solidFill>
              <a:srgbClr val="1E293B"/>
            </a:solidFill>
            <a:ln w="19065" cap="sq">
              <a:solidFill>
                <a:srgbClr val="10B981"/>
              </a:solidFill>
              <a:prstDash val="solid"/>
              <a:miter/>
            </a:ln>
          </p:spPr>
        </p:sp>
      </p:grpSp>
      <p:sp>
        <p:nvSpPr>
          <p:cNvPr name="TextBox 15" id="15"/>
          <p:cNvSpPr txBox="true"/>
          <p:nvPr/>
        </p:nvSpPr>
        <p:spPr>
          <a:xfrm rot="0">
            <a:off x="9795977" y="2485206"/>
            <a:ext cx="3606213" cy="147554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646"/>
              </a:lnSpc>
            </a:pPr>
            <a:r>
              <a:rPr lang="en-US" sz="7205" b="true">
                <a:solidFill>
                  <a:srgbClr val="10B981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5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9795977" y="4099922"/>
            <a:ext cx="3606213" cy="8217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61"/>
              </a:lnSpc>
            </a:pPr>
            <a:r>
              <a:rPr lang="en-US" sz="180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hilos POSIX activos</a:t>
            </a:r>
          </a:p>
        </p:txBody>
      </p:sp>
      <p:grpSp>
        <p:nvGrpSpPr>
          <p:cNvPr name="Group 17" id="17"/>
          <p:cNvGrpSpPr/>
          <p:nvPr/>
        </p:nvGrpSpPr>
        <p:grpSpPr>
          <a:xfrm rot="0">
            <a:off x="13923093" y="2324014"/>
            <a:ext cx="3999814" cy="2764412"/>
            <a:chOff x="0" y="0"/>
            <a:chExt cx="5333086" cy="3685883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5333111" cy="3685794"/>
            </a:xfrm>
            <a:custGeom>
              <a:avLst/>
              <a:gdLst/>
              <a:ahLst/>
              <a:cxnLst/>
              <a:rect r="r" b="b" t="t" l="l"/>
              <a:pathLst>
                <a:path h="3685794" w="5333111">
                  <a:moveTo>
                    <a:pt x="0" y="614299"/>
                  </a:moveTo>
                  <a:cubicBezTo>
                    <a:pt x="0" y="275082"/>
                    <a:pt x="275082" y="0"/>
                    <a:pt x="614299" y="0"/>
                  </a:cubicBezTo>
                  <a:lnTo>
                    <a:pt x="4718812" y="0"/>
                  </a:lnTo>
                  <a:cubicBezTo>
                    <a:pt x="5058156" y="0"/>
                    <a:pt x="5333111" y="275082"/>
                    <a:pt x="5333111" y="614299"/>
                  </a:cubicBezTo>
                  <a:lnTo>
                    <a:pt x="5333111" y="3071495"/>
                  </a:lnTo>
                  <a:cubicBezTo>
                    <a:pt x="5333111" y="3410839"/>
                    <a:pt x="5058029" y="3685794"/>
                    <a:pt x="4718812" y="3685794"/>
                  </a:cubicBezTo>
                  <a:lnTo>
                    <a:pt x="614299" y="3685794"/>
                  </a:lnTo>
                  <a:cubicBezTo>
                    <a:pt x="275082" y="3685921"/>
                    <a:pt x="0" y="3410839"/>
                    <a:pt x="0" y="3071495"/>
                  </a:cubicBezTo>
                  <a:close/>
                </a:path>
              </a:pathLst>
            </a:custGeom>
            <a:solidFill>
              <a:srgbClr val="1E293B"/>
            </a:solidFill>
            <a:ln w="19065" cap="sq">
              <a:solidFill>
                <a:srgbClr val="F59E0B"/>
              </a:solidFill>
              <a:prstDash val="solid"/>
              <a:miter/>
            </a:ln>
          </p:spPr>
        </p:sp>
      </p:grpSp>
      <p:sp>
        <p:nvSpPr>
          <p:cNvPr name="TextBox 19" id="19"/>
          <p:cNvSpPr txBox="true"/>
          <p:nvPr/>
        </p:nvSpPr>
        <p:spPr>
          <a:xfrm rot="0">
            <a:off x="14119889" y="2485206"/>
            <a:ext cx="3606213" cy="147554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646"/>
              </a:lnSpc>
            </a:pPr>
            <a:r>
              <a:rPr lang="en-US" sz="7205" b="true">
                <a:solidFill>
                  <a:srgbClr val="F59E0B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24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4119889" y="4099922"/>
            <a:ext cx="3606213" cy="8217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61"/>
              </a:lnSpc>
            </a:pPr>
            <a:r>
              <a:rPr lang="en-US" sz="180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productos en catálogo</a:t>
            </a:r>
          </a:p>
        </p:txBody>
      </p:sp>
      <p:grpSp>
        <p:nvGrpSpPr>
          <p:cNvPr name="Group 21" id="21"/>
          <p:cNvGrpSpPr/>
          <p:nvPr/>
        </p:nvGrpSpPr>
        <p:grpSpPr>
          <a:xfrm rot="0">
            <a:off x="951338" y="5618426"/>
            <a:ext cx="3999814" cy="2764412"/>
            <a:chOff x="0" y="0"/>
            <a:chExt cx="5333086" cy="3685883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5333111" cy="3685794"/>
            </a:xfrm>
            <a:custGeom>
              <a:avLst/>
              <a:gdLst/>
              <a:ahLst/>
              <a:cxnLst/>
              <a:rect r="r" b="b" t="t" l="l"/>
              <a:pathLst>
                <a:path h="3685794" w="5333111">
                  <a:moveTo>
                    <a:pt x="0" y="614299"/>
                  </a:moveTo>
                  <a:cubicBezTo>
                    <a:pt x="0" y="275082"/>
                    <a:pt x="275082" y="0"/>
                    <a:pt x="614299" y="0"/>
                  </a:cubicBezTo>
                  <a:lnTo>
                    <a:pt x="4718812" y="0"/>
                  </a:lnTo>
                  <a:cubicBezTo>
                    <a:pt x="5058156" y="0"/>
                    <a:pt x="5333111" y="275082"/>
                    <a:pt x="5333111" y="614299"/>
                  </a:cubicBezTo>
                  <a:lnTo>
                    <a:pt x="5333111" y="3071495"/>
                  </a:lnTo>
                  <a:cubicBezTo>
                    <a:pt x="5333111" y="3410839"/>
                    <a:pt x="5058029" y="3685794"/>
                    <a:pt x="4718812" y="3685794"/>
                  </a:cubicBezTo>
                  <a:lnTo>
                    <a:pt x="614299" y="3685794"/>
                  </a:lnTo>
                  <a:cubicBezTo>
                    <a:pt x="275082" y="3685921"/>
                    <a:pt x="0" y="3410839"/>
                    <a:pt x="0" y="3071495"/>
                  </a:cubicBezTo>
                  <a:close/>
                </a:path>
              </a:pathLst>
            </a:custGeom>
            <a:solidFill>
              <a:srgbClr val="1E293B"/>
            </a:solidFill>
            <a:ln w="19065" cap="sq">
              <a:solidFill>
                <a:srgbClr val="EC4899"/>
              </a:solidFill>
              <a:prstDash val="solid"/>
              <a:miter/>
            </a:ln>
          </p:spPr>
        </p:sp>
      </p:grpSp>
      <p:sp>
        <p:nvSpPr>
          <p:cNvPr name="TextBox 23" id="23"/>
          <p:cNvSpPr txBox="true"/>
          <p:nvPr/>
        </p:nvSpPr>
        <p:spPr>
          <a:xfrm rot="0">
            <a:off x="1148134" y="5779618"/>
            <a:ext cx="3606213" cy="147554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646"/>
              </a:lnSpc>
            </a:pPr>
            <a:r>
              <a:rPr lang="en-US" sz="7205" b="true">
                <a:solidFill>
                  <a:srgbClr val="EC489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21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148134" y="7394334"/>
            <a:ext cx="3606213" cy="8217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61"/>
              </a:lnSpc>
            </a:pPr>
            <a:r>
              <a:rPr lang="en-US" sz="180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casos de prueba</a:t>
            </a:r>
          </a:p>
        </p:txBody>
      </p:sp>
      <p:grpSp>
        <p:nvGrpSpPr>
          <p:cNvPr name="Group 25" id="25"/>
          <p:cNvGrpSpPr/>
          <p:nvPr/>
        </p:nvGrpSpPr>
        <p:grpSpPr>
          <a:xfrm rot="0">
            <a:off x="5275259" y="5618426"/>
            <a:ext cx="3999814" cy="2764412"/>
            <a:chOff x="0" y="0"/>
            <a:chExt cx="5333086" cy="3685883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5333111" cy="3685794"/>
            </a:xfrm>
            <a:custGeom>
              <a:avLst/>
              <a:gdLst/>
              <a:ahLst/>
              <a:cxnLst/>
              <a:rect r="r" b="b" t="t" l="l"/>
              <a:pathLst>
                <a:path h="3685794" w="5333111">
                  <a:moveTo>
                    <a:pt x="0" y="614299"/>
                  </a:moveTo>
                  <a:cubicBezTo>
                    <a:pt x="0" y="275082"/>
                    <a:pt x="275082" y="0"/>
                    <a:pt x="614299" y="0"/>
                  </a:cubicBezTo>
                  <a:lnTo>
                    <a:pt x="4718812" y="0"/>
                  </a:lnTo>
                  <a:cubicBezTo>
                    <a:pt x="5058156" y="0"/>
                    <a:pt x="5333111" y="275082"/>
                    <a:pt x="5333111" y="614299"/>
                  </a:cubicBezTo>
                  <a:lnTo>
                    <a:pt x="5333111" y="3071495"/>
                  </a:lnTo>
                  <a:cubicBezTo>
                    <a:pt x="5333111" y="3410839"/>
                    <a:pt x="5058029" y="3685794"/>
                    <a:pt x="4718812" y="3685794"/>
                  </a:cubicBezTo>
                  <a:lnTo>
                    <a:pt x="614299" y="3685794"/>
                  </a:lnTo>
                  <a:cubicBezTo>
                    <a:pt x="275082" y="3685921"/>
                    <a:pt x="0" y="3410839"/>
                    <a:pt x="0" y="3071495"/>
                  </a:cubicBezTo>
                  <a:close/>
                </a:path>
              </a:pathLst>
            </a:custGeom>
            <a:solidFill>
              <a:srgbClr val="1E293B"/>
            </a:solidFill>
            <a:ln w="19065" cap="sq">
              <a:solidFill>
                <a:srgbClr val="3B82F6"/>
              </a:solidFill>
              <a:prstDash val="solid"/>
              <a:miter/>
            </a:ln>
          </p:spPr>
        </p:sp>
      </p:grpSp>
      <p:sp>
        <p:nvSpPr>
          <p:cNvPr name="TextBox 27" id="27"/>
          <p:cNvSpPr txBox="true"/>
          <p:nvPr/>
        </p:nvSpPr>
        <p:spPr>
          <a:xfrm rot="0">
            <a:off x="5472055" y="5779618"/>
            <a:ext cx="3606213" cy="147554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646"/>
              </a:lnSpc>
            </a:pPr>
            <a:r>
              <a:rPr lang="en-US" sz="7205" b="true">
                <a:solidFill>
                  <a:srgbClr val="3B82F6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~5s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5472055" y="7394334"/>
            <a:ext cx="3606213" cy="8217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61"/>
              </a:lnSpc>
            </a:pPr>
            <a:r>
              <a:rPr lang="en-US" sz="180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intervalo de muestreo</a:t>
            </a:r>
          </a:p>
        </p:txBody>
      </p:sp>
      <p:grpSp>
        <p:nvGrpSpPr>
          <p:cNvPr name="Group 29" id="29"/>
          <p:cNvGrpSpPr/>
          <p:nvPr/>
        </p:nvGrpSpPr>
        <p:grpSpPr>
          <a:xfrm rot="0">
            <a:off x="9599171" y="5618426"/>
            <a:ext cx="3999814" cy="2764412"/>
            <a:chOff x="0" y="0"/>
            <a:chExt cx="5333086" cy="3685883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5333111" cy="3685794"/>
            </a:xfrm>
            <a:custGeom>
              <a:avLst/>
              <a:gdLst/>
              <a:ahLst/>
              <a:cxnLst/>
              <a:rect r="r" b="b" t="t" l="l"/>
              <a:pathLst>
                <a:path h="3685794" w="5333111">
                  <a:moveTo>
                    <a:pt x="0" y="614299"/>
                  </a:moveTo>
                  <a:cubicBezTo>
                    <a:pt x="0" y="275082"/>
                    <a:pt x="275082" y="0"/>
                    <a:pt x="614299" y="0"/>
                  </a:cubicBezTo>
                  <a:lnTo>
                    <a:pt x="4718812" y="0"/>
                  </a:lnTo>
                  <a:cubicBezTo>
                    <a:pt x="5058156" y="0"/>
                    <a:pt x="5333111" y="275082"/>
                    <a:pt x="5333111" y="614299"/>
                  </a:cubicBezTo>
                  <a:lnTo>
                    <a:pt x="5333111" y="3071495"/>
                  </a:lnTo>
                  <a:cubicBezTo>
                    <a:pt x="5333111" y="3410839"/>
                    <a:pt x="5058029" y="3685794"/>
                    <a:pt x="4718812" y="3685794"/>
                  </a:cubicBezTo>
                  <a:lnTo>
                    <a:pt x="614299" y="3685794"/>
                  </a:lnTo>
                  <a:cubicBezTo>
                    <a:pt x="275082" y="3685921"/>
                    <a:pt x="0" y="3410839"/>
                    <a:pt x="0" y="3071495"/>
                  </a:cubicBezTo>
                  <a:close/>
                </a:path>
              </a:pathLst>
            </a:custGeom>
            <a:solidFill>
              <a:srgbClr val="1E293B"/>
            </a:solidFill>
            <a:ln w="19065" cap="sq">
              <a:solidFill>
                <a:srgbClr val="10B981"/>
              </a:solidFill>
              <a:prstDash val="solid"/>
              <a:miter/>
            </a:ln>
          </p:spPr>
        </p:sp>
      </p:grpSp>
      <p:sp>
        <p:nvSpPr>
          <p:cNvPr name="TextBox 31" id="31"/>
          <p:cNvSpPr txBox="true"/>
          <p:nvPr/>
        </p:nvSpPr>
        <p:spPr>
          <a:xfrm rot="0">
            <a:off x="9795977" y="5779618"/>
            <a:ext cx="3606213" cy="147554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646"/>
              </a:lnSpc>
            </a:pPr>
            <a:r>
              <a:rPr lang="en-US" sz="7205" b="true">
                <a:solidFill>
                  <a:srgbClr val="10B981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99%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9795977" y="7394334"/>
            <a:ext cx="3606213" cy="8217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61"/>
              </a:lnSpc>
            </a:pPr>
            <a:r>
              <a:rPr lang="en-US" sz="180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uptime objetivo</a:t>
            </a:r>
          </a:p>
        </p:txBody>
      </p:sp>
      <p:grpSp>
        <p:nvGrpSpPr>
          <p:cNvPr name="Group 33" id="33"/>
          <p:cNvGrpSpPr/>
          <p:nvPr/>
        </p:nvGrpSpPr>
        <p:grpSpPr>
          <a:xfrm rot="0">
            <a:off x="13923093" y="5618426"/>
            <a:ext cx="3999814" cy="2764412"/>
            <a:chOff x="0" y="0"/>
            <a:chExt cx="5333086" cy="3685883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5333111" cy="3685794"/>
            </a:xfrm>
            <a:custGeom>
              <a:avLst/>
              <a:gdLst/>
              <a:ahLst/>
              <a:cxnLst/>
              <a:rect r="r" b="b" t="t" l="l"/>
              <a:pathLst>
                <a:path h="3685794" w="5333111">
                  <a:moveTo>
                    <a:pt x="0" y="614299"/>
                  </a:moveTo>
                  <a:cubicBezTo>
                    <a:pt x="0" y="275082"/>
                    <a:pt x="275082" y="0"/>
                    <a:pt x="614299" y="0"/>
                  </a:cubicBezTo>
                  <a:lnTo>
                    <a:pt x="4718812" y="0"/>
                  </a:lnTo>
                  <a:cubicBezTo>
                    <a:pt x="5058156" y="0"/>
                    <a:pt x="5333111" y="275082"/>
                    <a:pt x="5333111" y="614299"/>
                  </a:cubicBezTo>
                  <a:lnTo>
                    <a:pt x="5333111" y="3071495"/>
                  </a:lnTo>
                  <a:cubicBezTo>
                    <a:pt x="5333111" y="3410839"/>
                    <a:pt x="5058029" y="3685794"/>
                    <a:pt x="4718812" y="3685794"/>
                  </a:cubicBezTo>
                  <a:lnTo>
                    <a:pt x="614299" y="3685794"/>
                  </a:lnTo>
                  <a:cubicBezTo>
                    <a:pt x="275082" y="3685921"/>
                    <a:pt x="0" y="3410839"/>
                    <a:pt x="0" y="3071495"/>
                  </a:cubicBezTo>
                  <a:close/>
                </a:path>
              </a:pathLst>
            </a:custGeom>
            <a:solidFill>
              <a:srgbClr val="1E293B"/>
            </a:solidFill>
            <a:ln w="19065" cap="sq">
              <a:solidFill>
                <a:srgbClr val="F59E0B"/>
              </a:solidFill>
              <a:prstDash val="solid"/>
              <a:miter/>
            </a:ln>
          </p:spPr>
        </p:sp>
      </p:grpSp>
      <p:sp>
        <p:nvSpPr>
          <p:cNvPr name="TextBox 35" id="35"/>
          <p:cNvSpPr txBox="true"/>
          <p:nvPr/>
        </p:nvSpPr>
        <p:spPr>
          <a:xfrm rot="0">
            <a:off x="14119889" y="5779618"/>
            <a:ext cx="3606213" cy="147554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646"/>
              </a:lnSpc>
            </a:pPr>
            <a:r>
              <a:rPr lang="en-US" sz="7205" b="true">
                <a:solidFill>
                  <a:srgbClr val="F59E0B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$0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14119889" y="7394334"/>
            <a:ext cx="3606213" cy="8217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61"/>
              </a:lnSpc>
            </a:pPr>
            <a:r>
              <a:rPr lang="en-US" sz="180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costo (Free Tier)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599065" y="9659236"/>
            <a:ext cx="10881379" cy="5471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1"/>
              </a:lnSpc>
            </a:pPr>
            <a:r>
              <a:rPr lang="en-US" sz="150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SysMarket v2 · Sistemas Operativos USIL · Grupo 01</a:t>
            </a:r>
          </a:p>
        </p:txBody>
      </p:sp>
      <p:sp>
        <p:nvSpPr>
          <p:cNvPr name="TextBox 38" id="38"/>
          <p:cNvSpPr txBox="true"/>
          <p:nvPr/>
        </p:nvSpPr>
        <p:spPr>
          <a:xfrm rot="0">
            <a:off x="16522065" y="9659236"/>
            <a:ext cx="1272673" cy="5471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01"/>
              </a:lnSpc>
            </a:pPr>
            <a:r>
              <a:rPr lang="en-US" sz="150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15/18</a:t>
            </a:r>
          </a:p>
        </p:txBody>
      </p: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97725" cy="10295039"/>
            <a:chOff x="0" y="0"/>
            <a:chExt cx="24396967" cy="1372671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96954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24396954">
                  <a:moveTo>
                    <a:pt x="0" y="0"/>
                  </a:moveTo>
                  <a:lnTo>
                    <a:pt x="24396954" y="0"/>
                  </a:lnTo>
                  <a:lnTo>
                    <a:pt x="2439695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0F172A"/>
            </a:solidFill>
          </p:spPr>
        </p:sp>
      </p:grpSp>
      <p:sp>
        <p:nvSpPr>
          <p:cNvPr name="TextBox 4" id="4"/>
          <p:cNvSpPr txBox="true"/>
          <p:nvPr/>
        </p:nvSpPr>
        <p:spPr>
          <a:xfrm rot="0">
            <a:off x="1010869" y="592036"/>
            <a:ext cx="16372065" cy="8979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485"/>
              </a:lnSpc>
            </a:pPr>
            <a:r>
              <a:rPr lang="en-US" sz="5404" b="true">
                <a:solidFill>
                  <a:srgbClr val="3B82F6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Plan de demostración (18 min)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960872" y="2333539"/>
            <a:ext cx="754971" cy="549069"/>
            <a:chOff x="0" y="0"/>
            <a:chExt cx="1006627" cy="732092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006602" cy="732155"/>
            </a:xfrm>
            <a:custGeom>
              <a:avLst/>
              <a:gdLst/>
              <a:ahLst/>
              <a:cxnLst/>
              <a:rect r="r" b="b" t="t" l="l"/>
              <a:pathLst>
                <a:path h="732155" w="1006602">
                  <a:moveTo>
                    <a:pt x="0" y="122047"/>
                  </a:moveTo>
                  <a:cubicBezTo>
                    <a:pt x="0" y="54610"/>
                    <a:pt x="54610" y="0"/>
                    <a:pt x="122047" y="0"/>
                  </a:cubicBezTo>
                  <a:lnTo>
                    <a:pt x="884555" y="0"/>
                  </a:lnTo>
                  <a:cubicBezTo>
                    <a:pt x="951992" y="0"/>
                    <a:pt x="1006602" y="54610"/>
                    <a:pt x="1006602" y="122047"/>
                  </a:cubicBezTo>
                  <a:lnTo>
                    <a:pt x="1006602" y="610108"/>
                  </a:lnTo>
                  <a:cubicBezTo>
                    <a:pt x="1006602" y="677545"/>
                    <a:pt x="951992" y="732155"/>
                    <a:pt x="884555" y="732155"/>
                  </a:cubicBezTo>
                  <a:lnTo>
                    <a:pt x="122047" y="732155"/>
                  </a:lnTo>
                  <a:cubicBezTo>
                    <a:pt x="54610" y="732155"/>
                    <a:pt x="0" y="677418"/>
                    <a:pt x="0" y="610108"/>
                  </a:cubicBezTo>
                  <a:close/>
                </a:path>
              </a:pathLst>
            </a:custGeom>
            <a:solidFill>
              <a:srgbClr val="3B82F6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28575"/>
              <a:ext cx="1006627" cy="76066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81"/>
                </a:lnSpc>
              </a:pPr>
              <a:r>
                <a:rPr lang="en-US" sz="1651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01</a:t>
              </a:r>
            </a:p>
          </p:txBody>
        </p:sp>
      </p:grpSp>
      <p:sp>
        <p:nvSpPr>
          <p:cNvPr name="TextBox 8" id="8"/>
          <p:cNvSpPr txBox="true"/>
          <p:nvPr/>
        </p:nvSpPr>
        <p:spPr>
          <a:xfrm rot="0">
            <a:off x="2040379" y="2374554"/>
            <a:ext cx="12940389" cy="4880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1"/>
              </a:lnSpc>
            </a:pPr>
            <a:r>
              <a:rPr lang="en-US" sz="2101">
                <a:solidFill>
                  <a:srgbClr val="F1F5F9"/>
                </a:solidFill>
                <a:latin typeface="Calibri (MS)"/>
                <a:ea typeface="Calibri (MS)"/>
                <a:cs typeface="Calibri (MS)"/>
                <a:sym typeface="Calibri (MS)"/>
              </a:rPr>
              <a:t>Apertura del sitio en AWS · catálogo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5149398" y="2384079"/>
            <a:ext cx="1959007" cy="4785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161"/>
              </a:lnSpc>
            </a:pPr>
            <a:r>
              <a:rPr lang="en-US" sz="180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1 min</a:t>
            </a:r>
          </a:p>
        </p:txBody>
      </p:sp>
      <p:grpSp>
        <p:nvGrpSpPr>
          <p:cNvPr name="Group 10" id="10"/>
          <p:cNvGrpSpPr/>
          <p:nvPr/>
        </p:nvGrpSpPr>
        <p:grpSpPr>
          <a:xfrm rot="0">
            <a:off x="960872" y="3033608"/>
            <a:ext cx="754971" cy="549069"/>
            <a:chOff x="0" y="0"/>
            <a:chExt cx="1006627" cy="732092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006602" cy="732155"/>
            </a:xfrm>
            <a:custGeom>
              <a:avLst/>
              <a:gdLst/>
              <a:ahLst/>
              <a:cxnLst/>
              <a:rect r="r" b="b" t="t" l="l"/>
              <a:pathLst>
                <a:path h="732155" w="1006602">
                  <a:moveTo>
                    <a:pt x="0" y="122047"/>
                  </a:moveTo>
                  <a:cubicBezTo>
                    <a:pt x="0" y="54610"/>
                    <a:pt x="54610" y="0"/>
                    <a:pt x="122047" y="0"/>
                  </a:cubicBezTo>
                  <a:lnTo>
                    <a:pt x="884555" y="0"/>
                  </a:lnTo>
                  <a:cubicBezTo>
                    <a:pt x="951992" y="0"/>
                    <a:pt x="1006602" y="54610"/>
                    <a:pt x="1006602" y="122047"/>
                  </a:cubicBezTo>
                  <a:lnTo>
                    <a:pt x="1006602" y="610108"/>
                  </a:lnTo>
                  <a:cubicBezTo>
                    <a:pt x="1006602" y="677545"/>
                    <a:pt x="951992" y="732155"/>
                    <a:pt x="884555" y="732155"/>
                  </a:cubicBezTo>
                  <a:lnTo>
                    <a:pt x="122047" y="732155"/>
                  </a:lnTo>
                  <a:cubicBezTo>
                    <a:pt x="54610" y="732155"/>
                    <a:pt x="0" y="677418"/>
                    <a:pt x="0" y="610108"/>
                  </a:cubicBezTo>
                  <a:close/>
                </a:path>
              </a:pathLst>
            </a:custGeom>
            <a:solidFill>
              <a:srgbClr val="8B5CF6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28575"/>
              <a:ext cx="1006627" cy="76066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81"/>
                </a:lnSpc>
              </a:pPr>
              <a:r>
                <a:rPr lang="en-US" sz="1651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02</a:t>
              </a: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2040379" y="3074613"/>
            <a:ext cx="12940389" cy="4880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1"/>
              </a:lnSpc>
            </a:pPr>
            <a:r>
              <a:rPr lang="en-US" sz="2101">
                <a:solidFill>
                  <a:srgbClr val="F1F5F9"/>
                </a:solidFill>
                <a:latin typeface="Calibri (MS)"/>
                <a:ea typeface="Calibri (MS)"/>
                <a:cs typeface="Calibri (MS)"/>
                <a:sym typeface="Calibri (MS)"/>
              </a:rPr>
              <a:t>Registro de usuario en vivo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5149398" y="3084138"/>
            <a:ext cx="1959007" cy="4785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161"/>
              </a:lnSpc>
            </a:pPr>
            <a:r>
              <a:rPr lang="en-US" sz="180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1 min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960872" y="3733667"/>
            <a:ext cx="754971" cy="549069"/>
            <a:chOff x="0" y="0"/>
            <a:chExt cx="1006627" cy="732092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006602" cy="732155"/>
            </a:xfrm>
            <a:custGeom>
              <a:avLst/>
              <a:gdLst/>
              <a:ahLst/>
              <a:cxnLst/>
              <a:rect r="r" b="b" t="t" l="l"/>
              <a:pathLst>
                <a:path h="732155" w="1006602">
                  <a:moveTo>
                    <a:pt x="0" y="122047"/>
                  </a:moveTo>
                  <a:cubicBezTo>
                    <a:pt x="0" y="54610"/>
                    <a:pt x="54610" y="0"/>
                    <a:pt x="122047" y="0"/>
                  </a:cubicBezTo>
                  <a:lnTo>
                    <a:pt x="884555" y="0"/>
                  </a:lnTo>
                  <a:cubicBezTo>
                    <a:pt x="951992" y="0"/>
                    <a:pt x="1006602" y="54610"/>
                    <a:pt x="1006602" y="122047"/>
                  </a:cubicBezTo>
                  <a:lnTo>
                    <a:pt x="1006602" y="610108"/>
                  </a:lnTo>
                  <a:cubicBezTo>
                    <a:pt x="1006602" y="677545"/>
                    <a:pt x="951992" y="732155"/>
                    <a:pt x="884555" y="732155"/>
                  </a:cubicBezTo>
                  <a:lnTo>
                    <a:pt x="122047" y="732155"/>
                  </a:lnTo>
                  <a:cubicBezTo>
                    <a:pt x="54610" y="732155"/>
                    <a:pt x="0" y="677418"/>
                    <a:pt x="0" y="610108"/>
                  </a:cubicBezTo>
                  <a:close/>
                </a:path>
              </a:pathLst>
            </a:custGeom>
            <a:solidFill>
              <a:srgbClr val="10B981"/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28575"/>
              <a:ext cx="1006627" cy="76066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81"/>
                </a:lnSpc>
              </a:pPr>
              <a:r>
                <a:rPr lang="en-US" sz="1651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03</a:t>
              </a: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2040379" y="3774672"/>
            <a:ext cx="12940389" cy="4880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1"/>
              </a:lnSpc>
            </a:pPr>
            <a:r>
              <a:rPr lang="en-US" sz="2101">
                <a:solidFill>
                  <a:srgbClr val="F1F5F9"/>
                </a:solidFill>
                <a:latin typeface="Calibri (MS)"/>
                <a:ea typeface="Calibri (MS)"/>
                <a:cs typeface="Calibri (MS)"/>
                <a:sym typeface="Calibri (MS)"/>
              </a:rPr>
              <a:t>Carrito · checkout exitoso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5149398" y="3784197"/>
            <a:ext cx="1959007" cy="4785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161"/>
              </a:lnSpc>
            </a:pPr>
            <a:r>
              <a:rPr lang="en-US" sz="180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2 min</a:t>
            </a:r>
          </a:p>
        </p:txBody>
      </p:sp>
      <p:grpSp>
        <p:nvGrpSpPr>
          <p:cNvPr name="Group 20" id="20"/>
          <p:cNvGrpSpPr/>
          <p:nvPr/>
        </p:nvGrpSpPr>
        <p:grpSpPr>
          <a:xfrm rot="0">
            <a:off x="960872" y="4433735"/>
            <a:ext cx="754971" cy="549069"/>
            <a:chOff x="0" y="0"/>
            <a:chExt cx="1006627" cy="732092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1006602" cy="732155"/>
            </a:xfrm>
            <a:custGeom>
              <a:avLst/>
              <a:gdLst/>
              <a:ahLst/>
              <a:cxnLst/>
              <a:rect r="r" b="b" t="t" l="l"/>
              <a:pathLst>
                <a:path h="732155" w="1006602">
                  <a:moveTo>
                    <a:pt x="0" y="122047"/>
                  </a:moveTo>
                  <a:cubicBezTo>
                    <a:pt x="0" y="54610"/>
                    <a:pt x="54610" y="0"/>
                    <a:pt x="122047" y="0"/>
                  </a:cubicBezTo>
                  <a:lnTo>
                    <a:pt x="884555" y="0"/>
                  </a:lnTo>
                  <a:cubicBezTo>
                    <a:pt x="951992" y="0"/>
                    <a:pt x="1006602" y="54610"/>
                    <a:pt x="1006602" y="122047"/>
                  </a:cubicBezTo>
                  <a:lnTo>
                    <a:pt x="1006602" y="610108"/>
                  </a:lnTo>
                  <a:cubicBezTo>
                    <a:pt x="1006602" y="677545"/>
                    <a:pt x="951992" y="732155"/>
                    <a:pt x="884555" y="732155"/>
                  </a:cubicBezTo>
                  <a:lnTo>
                    <a:pt x="122047" y="732155"/>
                  </a:lnTo>
                  <a:cubicBezTo>
                    <a:pt x="54610" y="732155"/>
                    <a:pt x="0" y="677418"/>
                    <a:pt x="0" y="610108"/>
                  </a:cubicBezTo>
                  <a:close/>
                </a:path>
              </a:pathLst>
            </a:custGeom>
            <a:solidFill>
              <a:srgbClr val="EC4899"/>
            </a:solidFill>
          </p:spPr>
        </p:sp>
        <p:sp>
          <p:nvSpPr>
            <p:cNvPr name="TextBox 22" id="22"/>
            <p:cNvSpPr txBox="true"/>
            <p:nvPr/>
          </p:nvSpPr>
          <p:spPr>
            <a:xfrm>
              <a:off x="0" y="-28575"/>
              <a:ext cx="1006627" cy="76066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81"/>
                </a:lnSpc>
              </a:pPr>
              <a:r>
                <a:rPr lang="en-US" sz="1651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04</a:t>
              </a:r>
            </a:p>
          </p:txBody>
        </p:sp>
      </p:grpSp>
      <p:sp>
        <p:nvSpPr>
          <p:cNvPr name="TextBox 23" id="23"/>
          <p:cNvSpPr txBox="true"/>
          <p:nvPr/>
        </p:nvSpPr>
        <p:spPr>
          <a:xfrm rot="0">
            <a:off x="2040379" y="4474740"/>
            <a:ext cx="12940389" cy="4880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1"/>
              </a:lnSpc>
            </a:pPr>
            <a:r>
              <a:rPr lang="en-US" sz="2101">
                <a:solidFill>
                  <a:srgbClr val="F1F5F9"/>
                </a:solidFill>
                <a:latin typeface="Calibri (MS)"/>
                <a:ea typeface="Calibri (MS)"/>
                <a:cs typeface="Calibri (MS)"/>
                <a:sym typeface="Calibri (MS)"/>
              </a:rPr>
              <a:t>Like + reseña con estrellas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5149398" y="4484265"/>
            <a:ext cx="1959007" cy="4785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161"/>
              </a:lnSpc>
            </a:pPr>
            <a:r>
              <a:rPr lang="en-US" sz="180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2 min</a:t>
            </a:r>
          </a:p>
        </p:txBody>
      </p:sp>
      <p:grpSp>
        <p:nvGrpSpPr>
          <p:cNvPr name="Group 25" id="25"/>
          <p:cNvGrpSpPr/>
          <p:nvPr/>
        </p:nvGrpSpPr>
        <p:grpSpPr>
          <a:xfrm rot="0">
            <a:off x="960872" y="5133794"/>
            <a:ext cx="754971" cy="549069"/>
            <a:chOff x="0" y="0"/>
            <a:chExt cx="1006627" cy="732092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1006602" cy="732155"/>
            </a:xfrm>
            <a:custGeom>
              <a:avLst/>
              <a:gdLst/>
              <a:ahLst/>
              <a:cxnLst/>
              <a:rect r="r" b="b" t="t" l="l"/>
              <a:pathLst>
                <a:path h="732155" w="1006602">
                  <a:moveTo>
                    <a:pt x="0" y="122047"/>
                  </a:moveTo>
                  <a:cubicBezTo>
                    <a:pt x="0" y="54610"/>
                    <a:pt x="54610" y="0"/>
                    <a:pt x="122047" y="0"/>
                  </a:cubicBezTo>
                  <a:lnTo>
                    <a:pt x="884555" y="0"/>
                  </a:lnTo>
                  <a:cubicBezTo>
                    <a:pt x="951992" y="0"/>
                    <a:pt x="1006602" y="54610"/>
                    <a:pt x="1006602" y="122047"/>
                  </a:cubicBezTo>
                  <a:lnTo>
                    <a:pt x="1006602" y="610108"/>
                  </a:lnTo>
                  <a:cubicBezTo>
                    <a:pt x="1006602" y="677545"/>
                    <a:pt x="951992" y="732155"/>
                    <a:pt x="884555" y="732155"/>
                  </a:cubicBezTo>
                  <a:lnTo>
                    <a:pt x="122047" y="732155"/>
                  </a:lnTo>
                  <a:cubicBezTo>
                    <a:pt x="54610" y="732155"/>
                    <a:pt x="0" y="677418"/>
                    <a:pt x="0" y="610108"/>
                  </a:cubicBezTo>
                  <a:close/>
                </a:path>
              </a:pathLst>
            </a:custGeom>
            <a:solidFill>
              <a:srgbClr val="F59E0B"/>
            </a:solidFill>
          </p:spPr>
        </p:sp>
        <p:sp>
          <p:nvSpPr>
            <p:cNvPr name="TextBox 27" id="27"/>
            <p:cNvSpPr txBox="true"/>
            <p:nvPr/>
          </p:nvSpPr>
          <p:spPr>
            <a:xfrm>
              <a:off x="0" y="-28575"/>
              <a:ext cx="1006627" cy="76066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81"/>
                </a:lnSpc>
              </a:pPr>
              <a:r>
                <a:rPr lang="en-US" sz="1651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05</a:t>
              </a:r>
            </a:p>
          </p:txBody>
        </p:sp>
      </p:grpSp>
      <p:sp>
        <p:nvSpPr>
          <p:cNvPr name="TextBox 28" id="28"/>
          <p:cNvSpPr txBox="true"/>
          <p:nvPr/>
        </p:nvSpPr>
        <p:spPr>
          <a:xfrm rot="0">
            <a:off x="2040379" y="5174799"/>
            <a:ext cx="12940389" cy="4880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1"/>
              </a:lnSpc>
            </a:pPr>
            <a:r>
              <a:rPr lang="en-US" sz="2101">
                <a:solidFill>
                  <a:srgbClr val="F1F5F9"/>
                </a:solidFill>
                <a:latin typeface="Calibri (MS)"/>
                <a:ea typeface="Calibri (MS)"/>
                <a:cs typeface="Calibri (MS)"/>
                <a:sym typeface="Calibri (MS)"/>
              </a:rPr>
              <a:t>Publicación con Shop the Post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15149398" y="5184324"/>
            <a:ext cx="1959007" cy="4785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161"/>
              </a:lnSpc>
            </a:pPr>
            <a:r>
              <a:rPr lang="en-US" sz="180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2 min</a:t>
            </a:r>
          </a:p>
        </p:txBody>
      </p:sp>
      <p:grpSp>
        <p:nvGrpSpPr>
          <p:cNvPr name="Group 30" id="30"/>
          <p:cNvGrpSpPr/>
          <p:nvPr/>
        </p:nvGrpSpPr>
        <p:grpSpPr>
          <a:xfrm rot="0">
            <a:off x="960872" y="5833853"/>
            <a:ext cx="754971" cy="549069"/>
            <a:chOff x="0" y="0"/>
            <a:chExt cx="1006627" cy="732092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1006602" cy="732155"/>
            </a:xfrm>
            <a:custGeom>
              <a:avLst/>
              <a:gdLst/>
              <a:ahLst/>
              <a:cxnLst/>
              <a:rect r="r" b="b" t="t" l="l"/>
              <a:pathLst>
                <a:path h="732155" w="1006602">
                  <a:moveTo>
                    <a:pt x="0" y="122047"/>
                  </a:moveTo>
                  <a:cubicBezTo>
                    <a:pt x="0" y="54610"/>
                    <a:pt x="54610" y="0"/>
                    <a:pt x="122047" y="0"/>
                  </a:cubicBezTo>
                  <a:lnTo>
                    <a:pt x="884555" y="0"/>
                  </a:lnTo>
                  <a:cubicBezTo>
                    <a:pt x="951992" y="0"/>
                    <a:pt x="1006602" y="54610"/>
                    <a:pt x="1006602" y="122047"/>
                  </a:cubicBezTo>
                  <a:lnTo>
                    <a:pt x="1006602" y="610108"/>
                  </a:lnTo>
                  <a:cubicBezTo>
                    <a:pt x="1006602" y="677545"/>
                    <a:pt x="951992" y="732155"/>
                    <a:pt x="884555" y="732155"/>
                  </a:cubicBezTo>
                  <a:lnTo>
                    <a:pt x="122047" y="732155"/>
                  </a:lnTo>
                  <a:cubicBezTo>
                    <a:pt x="54610" y="732155"/>
                    <a:pt x="0" y="677418"/>
                    <a:pt x="0" y="610108"/>
                  </a:cubicBezTo>
                  <a:close/>
                </a:path>
              </a:pathLst>
            </a:custGeom>
            <a:solidFill>
              <a:srgbClr val="3B82F6"/>
            </a:solidFill>
          </p:spPr>
        </p:sp>
        <p:sp>
          <p:nvSpPr>
            <p:cNvPr name="TextBox 32" id="32"/>
            <p:cNvSpPr txBox="true"/>
            <p:nvPr/>
          </p:nvSpPr>
          <p:spPr>
            <a:xfrm>
              <a:off x="0" y="-28575"/>
              <a:ext cx="1006627" cy="76066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81"/>
                </a:lnSpc>
              </a:pPr>
              <a:r>
                <a:rPr lang="en-US" sz="1651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06</a:t>
              </a:r>
            </a:p>
          </p:txBody>
        </p:sp>
      </p:grpSp>
      <p:sp>
        <p:nvSpPr>
          <p:cNvPr name="TextBox 33" id="33"/>
          <p:cNvSpPr txBox="true"/>
          <p:nvPr/>
        </p:nvSpPr>
        <p:spPr>
          <a:xfrm rot="0">
            <a:off x="2040379" y="5874868"/>
            <a:ext cx="12940389" cy="4880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1"/>
              </a:lnSpc>
            </a:pPr>
            <a:r>
              <a:rPr lang="en-US" sz="2101">
                <a:solidFill>
                  <a:srgbClr val="F1F5F9"/>
                </a:solidFill>
                <a:latin typeface="Calibri (MS)"/>
                <a:ea typeface="Calibri (MS)"/>
                <a:cs typeface="Calibri (MS)"/>
                <a:sym typeface="Calibri (MS)"/>
              </a:rPr>
              <a:t>Panel admin · KPIs sociales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15149398" y="5884393"/>
            <a:ext cx="1959007" cy="4785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161"/>
              </a:lnSpc>
            </a:pPr>
            <a:r>
              <a:rPr lang="en-US" sz="180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1 min</a:t>
            </a:r>
          </a:p>
        </p:txBody>
      </p:sp>
      <p:grpSp>
        <p:nvGrpSpPr>
          <p:cNvPr name="Group 35" id="35"/>
          <p:cNvGrpSpPr/>
          <p:nvPr/>
        </p:nvGrpSpPr>
        <p:grpSpPr>
          <a:xfrm rot="0">
            <a:off x="960872" y="6533921"/>
            <a:ext cx="754971" cy="549069"/>
            <a:chOff x="0" y="0"/>
            <a:chExt cx="1006627" cy="732092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1006602" cy="732155"/>
            </a:xfrm>
            <a:custGeom>
              <a:avLst/>
              <a:gdLst/>
              <a:ahLst/>
              <a:cxnLst/>
              <a:rect r="r" b="b" t="t" l="l"/>
              <a:pathLst>
                <a:path h="732155" w="1006602">
                  <a:moveTo>
                    <a:pt x="0" y="122047"/>
                  </a:moveTo>
                  <a:cubicBezTo>
                    <a:pt x="0" y="54610"/>
                    <a:pt x="54610" y="0"/>
                    <a:pt x="122047" y="0"/>
                  </a:cubicBezTo>
                  <a:lnTo>
                    <a:pt x="884555" y="0"/>
                  </a:lnTo>
                  <a:cubicBezTo>
                    <a:pt x="951992" y="0"/>
                    <a:pt x="1006602" y="54610"/>
                    <a:pt x="1006602" y="122047"/>
                  </a:cubicBezTo>
                  <a:lnTo>
                    <a:pt x="1006602" y="610108"/>
                  </a:lnTo>
                  <a:cubicBezTo>
                    <a:pt x="1006602" y="677545"/>
                    <a:pt x="951992" y="732155"/>
                    <a:pt x="884555" y="732155"/>
                  </a:cubicBezTo>
                  <a:lnTo>
                    <a:pt x="122047" y="732155"/>
                  </a:lnTo>
                  <a:cubicBezTo>
                    <a:pt x="54610" y="732155"/>
                    <a:pt x="0" y="677418"/>
                    <a:pt x="0" y="610108"/>
                  </a:cubicBezTo>
                  <a:close/>
                </a:path>
              </a:pathLst>
            </a:custGeom>
            <a:solidFill>
              <a:srgbClr val="10B981"/>
            </a:solidFill>
          </p:spPr>
        </p:sp>
        <p:sp>
          <p:nvSpPr>
            <p:cNvPr name="TextBox 37" id="37"/>
            <p:cNvSpPr txBox="true"/>
            <p:nvPr/>
          </p:nvSpPr>
          <p:spPr>
            <a:xfrm>
              <a:off x="0" y="-28575"/>
              <a:ext cx="1006627" cy="76066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81"/>
                </a:lnSpc>
              </a:pPr>
              <a:r>
                <a:rPr lang="en-US" sz="1651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07</a:t>
              </a:r>
            </a:p>
          </p:txBody>
        </p:sp>
      </p:grpSp>
      <p:sp>
        <p:nvSpPr>
          <p:cNvPr name="TextBox 38" id="38"/>
          <p:cNvSpPr txBox="true"/>
          <p:nvPr/>
        </p:nvSpPr>
        <p:spPr>
          <a:xfrm rot="0">
            <a:off x="2040379" y="6574927"/>
            <a:ext cx="12940389" cy="4880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1"/>
              </a:lnSpc>
            </a:pPr>
            <a:r>
              <a:rPr lang="en-US" sz="2101">
                <a:solidFill>
                  <a:srgbClr val="F1F5F9"/>
                </a:solidFill>
                <a:latin typeface="Calibri (MS)"/>
                <a:ea typeface="Calibri (MS)"/>
                <a:cs typeface="Calibri (MS)"/>
                <a:sym typeface="Calibri (MS)"/>
              </a:rPr>
              <a:t>Monitor SO · gráficas en tiempo real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15149398" y="6584452"/>
            <a:ext cx="1959007" cy="4785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161"/>
              </a:lnSpc>
            </a:pPr>
            <a:r>
              <a:rPr lang="en-US" sz="180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2 min</a:t>
            </a:r>
          </a:p>
        </p:txBody>
      </p:sp>
      <p:grpSp>
        <p:nvGrpSpPr>
          <p:cNvPr name="Group 40" id="40"/>
          <p:cNvGrpSpPr/>
          <p:nvPr/>
        </p:nvGrpSpPr>
        <p:grpSpPr>
          <a:xfrm rot="0">
            <a:off x="960872" y="7233980"/>
            <a:ext cx="754971" cy="549069"/>
            <a:chOff x="0" y="0"/>
            <a:chExt cx="1006627" cy="732092"/>
          </a:xfrm>
        </p:grpSpPr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1006602" cy="732155"/>
            </a:xfrm>
            <a:custGeom>
              <a:avLst/>
              <a:gdLst/>
              <a:ahLst/>
              <a:cxnLst/>
              <a:rect r="r" b="b" t="t" l="l"/>
              <a:pathLst>
                <a:path h="732155" w="1006602">
                  <a:moveTo>
                    <a:pt x="0" y="122047"/>
                  </a:moveTo>
                  <a:cubicBezTo>
                    <a:pt x="0" y="54610"/>
                    <a:pt x="54610" y="0"/>
                    <a:pt x="122047" y="0"/>
                  </a:cubicBezTo>
                  <a:lnTo>
                    <a:pt x="884555" y="0"/>
                  </a:lnTo>
                  <a:cubicBezTo>
                    <a:pt x="951992" y="0"/>
                    <a:pt x="1006602" y="54610"/>
                    <a:pt x="1006602" y="122047"/>
                  </a:cubicBezTo>
                  <a:lnTo>
                    <a:pt x="1006602" y="610108"/>
                  </a:lnTo>
                  <a:cubicBezTo>
                    <a:pt x="1006602" y="677545"/>
                    <a:pt x="951992" y="732155"/>
                    <a:pt x="884555" y="732155"/>
                  </a:cubicBezTo>
                  <a:lnTo>
                    <a:pt x="122047" y="732155"/>
                  </a:lnTo>
                  <a:cubicBezTo>
                    <a:pt x="54610" y="732155"/>
                    <a:pt x="0" y="677418"/>
                    <a:pt x="0" y="610108"/>
                  </a:cubicBezTo>
                  <a:close/>
                </a:path>
              </a:pathLst>
            </a:custGeom>
            <a:solidFill>
              <a:srgbClr val="8B5CF6"/>
            </a:solidFill>
          </p:spPr>
        </p:sp>
        <p:sp>
          <p:nvSpPr>
            <p:cNvPr name="TextBox 42" id="42"/>
            <p:cNvSpPr txBox="true"/>
            <p:nvPr/>
          </p:nvSpPr>
          <p:spPr>
            <a:xfrm>
              <a:off x="0" y="-28575"/>
              <a:ext cx="1006627" cy="76066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81"/>
                </a:lnSpc>
              </a:pPr>
              <a:r>
                <a:rPr lang="en-US" sz="1651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08</a:t>
              </a:r>
            </a:p>
          </p:txBody>
        </p:sp>
      </p:grpSp>
      <p:sp>
        <p:nvSpPr>
          <p:cNvPr name="TextBox 43" id="43"/>
          <p:cNvSpPr txBox="true"/>
          <p:nvPr/>
        </p:nvSpPr>
        <p:spPr>
          <a:xfrm rot="0">
            <a:off x="2040379" y="7274995"/>
            <a:ext cx="12940389" cy="4880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1"/>
              </a:lnSpc>
            </a:pPr>
            <a:r>
              <a:rPr lang="en-US" sz="2101">
                <a:solidFill>
                  <a:srgbClr val="F1F5F9"/>
                </a:solidFill>
                <a:latin typeface="Calibri (MS)"/>
                <a:ea typeface="Calibri (MS)"/>
                <a:cs typeface="Calibri (MS)"/>
                <a:sym typeface="Calibri (MS)"/>
              </a:rPr>
              <a:t>SSH · docker ps · 5 hilos · /proc/stat</a:t>
            </a:r>
          </a:p>
        </p:txBody>
      </p:sp>
      <p:sp>
        <p:nvSpPr>
          <p:cNvPr name="TextBox 44" id="44"/>
          <p:cNvSpPr txBox="true"/>
          <p:nvPr/>
        </p:nvSpPr>
        <p:spPr>
          <a:xfrm rot="0">
            <a:off x="15149398" y="7284520"/>
            <a:ext cx="1959007" cy="4785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161"/>
              </a:lnSpc>
            </a:pPr>
            <a:r>
              <a:rPr lang="en-US" sz="180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3 min</a:t>
            </a:r>
          </a:p>
        </p:txBody>
      </p:sp>
      <p:grpSp>
        <p:nvGrpSpPr>
          <p:cNvPr name="Group 45" id="45"/>
          <p:cNvGrpSpPr/>
          <p:nvPr/>
        </p:nvGrpSpPr>
        <p:grpSpPr>
          <a:xfrm rot="0">
            <a:off x="960872" y="7934049"/>
            <a:ext cx="754971" cy="549069"/>
            <a:chOff x="0" y="0"/>
            <a:chExt cx="1006627" cy="732092"/>
          </a:xfrm>
        </p:grpSpPr>
        <p:sp>
          <p:nvSpPr>
            <p:cNvPr name="Freeform 46" id="46"/>
            <p:cNvSpPr/>
            <p:nvPr/>
          </p:nvSpPr>
          <p:spPr>
            <a:xfrm flipH="false" flipV="false" rot="0">
              <a:off x="0" y="0"/>
              <a:ext cx="1006602" cy="732155"/>
            </a:xfrm>
            <a:custGeom>
              <a:avLst/>
              <a:gdLst/>
              <a:ahLst/>
              <a:cxnLst/>
              <a:rect r="r" b="b" t="t" l="l"/>
              <a:pathLst>
                <a:path h="732155" w="1006602">
                  <a:moveTo>
                    <a:pt x="0" y="122047"/>
                  </a:moveTo>
                  <a:cubicBezTo>
                    <a:pt x="0" y="54610"/>
                    <a:pt x="54610" y="0"/>
                    <a:pt x="122047" y="0"/>
                  </a:cubicBezTo>
                  <a:lnTo>
                    <a:pt x="884555" y="0"/>
                  </a:lnTo>
                  <a:cubicBezTo>
                    <a:pt x="951992" y="0"/>
                    <a:pt x="1006602" y="54610"/>
                    <a:pt x="1006602" y="122047"/>
                  </a:cubicBezTo>
                  <a:lnTo>
                    <a:pt x="1006602" y="610108"/>
                  </a:lnTo>
                  <a:cubicBezTo>
                    <a:pt x="1006602" y="677545"/>
                    <a:pt x="951992" y="732155"/>
                    <a:pt x="884555" y="732155"/>
                  </a:cubicBezTo>
                  <a:lnTo>
                    <a:pt x="122047" y="732155"/>
                  </a:lnTo>
                  <a:cubicBezTo>
                    <a:pt x="54610" y="732155"/>
                    <a:pt x="0" y="677418"/>
                    <a:pt x="0" y="610108"/>
                  </a:cubicBezTo>
                  <a:close/>
                </a:path>
              </a:pathLst>
            </a:custGeom>
            <a:solidFill>
              <a:srgbClr val="F59E0B"/>
            </a:solidFill>
          </p:spPr>
        </p:sp>
        <p:sp>
          <p:nvSpPr>
            <p:cNvPr name="TextBox 47" id="47"/>
            <p:cNvSpPr txBox="true"/>
            <p:nvPr/>
          </p:nvSpPr>
          <p:spPr>
            <a:xfrm>
              <a:off x="0" y="-28575"/>
              <a:ext cx="1006627" cy="76066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81"/>
                </a:lnSpc>
              </a:pPr>
              <a:r>
                <a:rPr lang="en-US" sz="1651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09</a:t>
              </a:r>
            </a:p>
          </p:txBody>
        </p:sp>
      </p:grpSp>
      <p:sp>
        <p:nvSpPr>
          <p:cNvPr name="TextBox 48" id="48"/>
          <p:cNvSpPr txBox="true"/>
          <p:nvPr/>
        </p:nvSpPr>
        <p:spPr>
          <a:xfrm rot="0">
            <a:off x="2040379" y="7975054"/>
            <a:ext cx="12940389" cy="4880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1"/>
              </a:lnSpc>
            </a:pPr>
            <a:r>
              <a:rPr lang="en-US" sz="2101">
                <a:solidFill>
                  <a:srgbClr val="F1F5F9"/>
                </a:solidFill>
                <a:latin typeface="Calibri (MS)"/>
                <a:ea typeface="Calibri (MS)"/>
                <a:cs typeface="Calibri (MS)"/>
                <a:sym typeface="Calibri (MS)"/>
              </a:rPr>
              <a:t>Stress CPU · monitor reacciona</a:t>
            </a:r>
          </a:p>
        </p:txBody>
      </p:sp>
      <p:sp>
        <p:nvSpPr>
          <p:cNvPr name="TextBox 49" id="49"/>
          <p:cNvSpPr txBox="true"/>
          <p:nvPr/>
        </p:nvSpPr>
        <p:spPr>
          <a:xfrm rot="0">
            <a:off x="15149398" y="7984579"/>
            <a:ext cx="1959007" cy="4785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161"/>
              </a:lnSpc>
            </a:pPr>
            <a:r>
              <a:rPr lang="en-US" sz="180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2 min</a:t>
            </a:r>
          </a:p>
        </p:txBody>
      </p:sp>
      <p:grpSp>
        <p:nvGrpSpPr>
          <p:cNvPr name="Group 50" id="50"/>
          <p:cNvGrpSpPr/>
          <p:nvPr/>
        </p:nvGrpSpPr>
        <p:grpSpPr>
          <a:xfrm rot="0">
            <a:off x="960872" y="8634108"/>
            <a:ext cx="754971" cy="549069"/>
            <a:chOff x="0" y="0"/>
            <a:chExt cx="1006627" cy="732092"/>
          </a:xfrm>
        </p:grpSpPr>
        <p:sp>
          <p:nvSpPr>
            <p:cNvPr name="Freeform 51" id="51"/>
            <p:cNvSpPr/>
            <p:nvPr/>
          </p:nvSpPr>
          <p:spPr>
            <a:xfrm flipH="false" flipV="false" rot="0">
              <a:off x="0" y="0"/>
              <a:ext cx="1006602" cy="732155"/>
            </a:xfrm>
            <a:custGeom>
              <a:avLst/>
              <a:gdLst/>
              <a:ahLst/>
              <a:cxnLst/>
              <a:rect r="r" b="b" t="t" l="l"/>
              <a:pathLst>
                <a:path h="732155" w="1006602">
                  <a:moveTo>
                    <a:pt x="0" y="122047"/>
                  </a:moveTo>
                  <a:cubicBezTo>
                    <a:pt x="0" y="54610"/>
                    <a:pt x="54610" y="0"/>
                    <a:pt x="122047" y="0"/>
                  </a:cubicBezTo>
                  <a:lnTo>
                    <a:pt x="884555" y="0"/>
                  </a:lnTo>
                  <a:cubicBezTo>
                    <a:pt x="951992" y="0"/>
                    <a:pt x="1006602" y="54610"/>
                    <a:pt x="1006602" y="122047"/>
                  </a:cubicBezTo>
                  <a:lnTo>
                    <a:pt x="1006602" y="610108"/>
                  </a:lnTo>
                  <a:cubicBezTo>
                    <a:pt x="1006602" y="677545"/>
                    <a:pt x="951992" y="732155"/>
                    <a:pt x="884555" y="732155"/>
                  </a:cubicBezTo>
                  <a:lnTo>
                    <a:pt x="122047" y="732155"/>
                  </a:lnTo>
                  <a:cubicBezTo>
                    <a:pt x="54610" y="732155"/>
                    <a:pt x="0" y="677418"/>
                    <a:pt x="0" y="610108"/>
                  </a:cubicBezTo>
                  <a:close/>
                </a:path>
              </a:pathLst>
            </a:custGeom>
            <a:solidFill>
              <a:srgbClr val="EC4899"/>
            </a:solidFill>
          </p:spPr>
        </p:sp>
        <p:sp>
          <p:nvSpPr>
            <p:cNvPr name="TextBox 52" id="52"/>
            <p:cNvSpPr txBox="true"/>
            <p:nvPr/>
          </p:nvSpPr>
          <p:spPr>
            <a:xfrm>
              <a:off x="0" y="-28575"/>
              <a:ext cx="1006627" cy="76066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81"/>
                </a:lnSpc>
              </a:pPr>
              <a:r>
                <a:rPr lang="en-US" sz="1651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10</a:t>
              </a:r>
            </a:p>
          </p:txBody>
        </p:sp>
      </p:grpSp>
      <p:sp>
        <p:nvSpPr>
          <p:cNvPr name="TextBox 53" id="53"/>
          <p:cNvSpPr txBox="true"/>
          <p:nvPr/>
        </p:nvSpPr>
        <p:spPr>
          <a:xfrm rot="0">
            <a:off x="2040379" y="8675122"/>
            <a:ext cx="12940389" cy="4880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1"/>
              </a:lnSpc>
            </a:pPr>
            <a:r>
              <a:rPr lang="en-US" sz="2101">
                <a:solidFill>
                  <a:srgbClr val="F1F5F9"/>
                </a:solidFill>
                <a:latin typeface="Calibri (MS)"/>
                <a:ea typeface="Calibri (MS)"/>
                <a:cs typeface="Calibri (MS)"/>
                <a:sym typeface="Calibri (MS)"/>
              </a:rPr>
              <a:t>Recorrido del repo GitHub</a:t>
            </a:r>
          </a:p>
        </p:txBody>
      </p:sp>
      <p:sp>
        <p:nvSpPr>
          <p:cNvPr name="TextBox 54" id="54"/>
          <p:cNvSpPr txBox="true"/>
          <p:nvPr/>
        </p:nvSpPr>
        <p:spPr>
          <a:xfrm rot="0">
            <a:off x="15149398" y="8684647"/>
            <a:ext cx="1959007" cy="4785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161"/>
              </a:lnSpc>
            </a:pPr>
            <a:r>
              <a:rPr lang="en-US" sz="180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2 min</a:t>
            </a:r>
          </a:p>
        </p:txBody>
      </p:sp>
      <p:sp>
        <p:nvSpPr>
          <p:cNvPr name="TextBox 55" id="55"/>
          <p:cNvSpPr txBox="true"/>
          <p:nvPr/>
        </p:nvSpPr>
        <p:spPr>
          <a:xfrm rot="0">
            <a:off x="599065" y="9659236"/>
            <a:ext cx="10881379" cy="5471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1"/>
              </a:lnSpc>
            </a:pPr>
            <a:r>
              <a:rPr lang="en-US" sz="150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SysMarket v2 · Sistemas Operativos USIL · Grupo 01</a:t>
            </a:r>
          </a:p>
        </p:txBody>
      </p:sp>
      <p:sp>
        <p:nvSpPr>
          <p:cNvPr name="TextBox 56" id="56"/>
          <p:cNvSpPr txBox="true"/>
          <p:nvPr/>
        </p:nvSpPr>
        <p:spPr>
          <a:xfrm rot="0">
            <a:off x="16522065" y="9659236"/>
            <a:ext cx="1272673" cy="5471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01"/>
              </a:lnSpc>
            </a:pPr>
            <a:r>
              <a:rPr lang="en-US" sz="150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16/18</a:t>
            </a:r>
          </a:p>
        </p:txBody>
      </p:sp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97725" cy="10295039"/>
            <a:chOff x="0" y="0"/>
            <a:chExt cx="24396967" cy="1372671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96954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24396954">
                  <a:moveTo>
                    <a:pt x="0" y="0"/>
                  </a:moveTo>
                  <a:lnTo>
                    <a:pt x="24396954" y="0"/>
                  </a:lnTo>
                  <a:lnTo>
                    <a:pt x="2439695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0F172A"/>
            </a:solidFill>
          </p:spPr>
        </p:sp>
      </p:grpSp>
      <p:sp>
        <p:nvSpPr>
          <p:cNvPr name="TextBox 4" id="4"/>
          <p:cNvSpPr txBox="true"/>
          <p:nvPr/>
        </p:nvSpPr>
        <p:spPr>
          <a:xfrm rot="0">
            <a:off x="1010869" y="592036"/>
            <a:ext cx="16372065" cy="8979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485"/>
              </a:lnSpc>
            </a:pPr>
            <a:r>
              <a:rPr lang="en-US" sz="5404" b="true">
                <a:solidFill>
                  <a:srgbClr val="3B82F6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Conclusiones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951338" y="2324014"/>
            <a:ext cx="16491137" cy="1185834"/>
            <a:chOff x="0" y="0"/>
            <a:chExt cx="21988183" cy="1581112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1988145" cy="1581150"/>
            </a:xfrm>
            <a:custGeom>
              <a:avLst/>
              <a:gdLst/>
              <a:ahLst/>
              <a:cxnLst/>
              <a:rect r="r" b="b" t="t" l="l"/>
              <a:pathLst>
                <a:path h="1581150" w="21988145">
                  <a:moveTo>
                    <a:pt x="0" y="263525"/>
                  </a:moveTo>
                  <a:cubicBezTo>
                    <a:pt x="0" y="117983"/>
                    <a:pt x="117983" y="0"/>
                    <a:pt x="263525" y="0"/>
                  </a:cubicBezTo>
                  <a:lnTo>
                    <a:pt x="21724620" y="0"/>
                  </a:lnTo>
                  <a:cubicBezTo>
                    <a:pt x="21870161" y="0"/>
                    <a:pt x="21988145" y="117983"/>
                    <a:pt x="21988145" y="263525"/>
                  </a:cubicBezTo>
                  <a:lnTo>
                    <a:pt x="21988145" y="1317625"/>
                  </a:lnTo>
                  <a:cubicBezTo>
                    <a:pt x="21988145" y="1463167"/>
                    <a:pt x="21870161" y="1581150"/>
                    <a:pt x="21724620" y="1581150"/>
                  </a:cubicBezTo>
                  <a:lnTo>
                    <a:pt x="263525" y="1581150"/>
                  </a:lnTo>
                  <a:cubicBezTo>
                    <a:pt x="117983" y="1581150"/>
                    <a:pt x="0" y="1463167"/>
                    <a:pt x="0" y="1317625"/>
                  </a:cubicBezTo>
                  <a:close/>
                </a:path>
              </a:pathLst>
            </a:custGeom>
            <a:solidFill>
              <a:srgbClr val="1E293B"/>
            </a:solidFill>
            <a:ln w="19065" cap="sq">
              <a:solidFill>
                <a:srgbClr val="3B82F6"/>
              </a:solidFill>
              <a:prstDash val="solid"/>
              <a:miter/>
            </a:ln>
          </p:spPr>
        </p:sp>
      </p:grpSp>
      <p:grpSp>
        <p:nvGrpSpPr>
          <p:cNvPr name="Group 7" id="7"/>
          <p:cNvGrpSpPr/>
          <p:nvPr/>
        </p:nvGrpSpPr>
        <p:grpSpPr>
          <a:xfrm rot="0">
            <a:off x="1166774" y="2608078"/>
            <a:ext cx="686333" cy="617706"/>
            <a:chOff x="0" y="0"/>
            <a:chExt cx="915111" cy="823608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915162" cy="823595"/>
            </a:xfrm>
            <a:custGeom>
              <a:avLst/>
              <a:gdLst/>
              <a:ahLst/>
              <a:cxnLst/>
              <a:rect r="r" b="b" t="t" l="l"/>
              <a:pathLst>
                <a:path h="823595" w="915162">
                  <a:moveTo>
                    <a:pt x="0" y="137287"/>
                  </a:moveTo>
                  <a:cubicBezTo>
                    <a:pt x="0" y="61468"/>
                    <a:pt x="61468" y="0"/>
                    <a:pt x="137287" y="0"/>
                  </a:cubicBezTo>
                  <a:lnTo>
                    <a:pt x="777875" y="0"/>
                  </a:lnTo>
                  <a:cubicBezTo>
                    <a:pt x="853694" y="0"/>
                    <a:pt x="915162" y="61468"/>
                    <a:pt x="915162" y="137287"/>
                  </a:cubicBezTo>
                  <a:lnTo>
                    <a:pt x="915162" y="686308"/>
                  </a:lnTo>
                  <a:cubicBezTo>
                    <a:pt x="915162" y="762127"/>
                    <a:pt x="853694" y="823595"/>
                    <a:pt x="777875" y="823595"/>
                  </a:cubicBezTo>
                  <a:lnTo>
                    <a:pt x="137287" y="823595"/>
                  </a:lnTo>
                  <a:cubicBezTo>
                    <a:pt x="61468" y="823595"/>
                    <a:pt x="0" y="762127"/>
                    <a:pt x="0" y="686308"/>
                  </a:cubicBezTo>
                  <a:close/>
                </a:path>
              </a:pathLst>
            </a:custGeom>
            <a:solidFill>
              <a:srgbClr val="3B82F6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28575"/>
              <a:ext cx="915111" cy="85218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81"/>
                </a:lnSpc>
              </a:pPr>
              <a:r>
                <a:rPr lang="en-US" sz="1651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1</a:t>
              </a:r>
            </a:p>
          </p:txBody>
        </p:sp>
      </p:grpSp>
      <p:sp>
        <p:nvSpPr>
          <p:cNvPr name="TextBox 10" id="10"/>
          <p:cNvSpPr txBox="true"/>
          <p:nvPr/>
        </p:nvSpPr>
        <p:spPr>
          <a:xfrm rot="0">
            <a:off x="2109006" y="2511819"/>
            <a:ext cx="14587595" cy="8998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1"/>
              </a:lnSpc>
            </a:pPr>
            <a:r>
              <a:rPr lang="en-US" sz="2101">
                <a:solidFill>
                  <a:srgbClr val="F1F5F9"/>
                </a:solidFill>
                <a:latin typeface="Calibri (MS)"/>
                <a:ea typeface="Calibri (MS)"/>
                <a:cs typeface="Calibri (MS)"/>
                <a:sym typeface="Calibri (MS)"/>
              </a:rPr>
              <a:t>Conceptos del curso materializados en código verificable: 5 hilos POSIX, mutex, /proc, syscall statvfs().</a:t>
            </a:r>
          </a:p>
        </p:txBody>
      </p:sp>
      <p:grpSp>
        <p:nvGrpSpPr>
          <p:cNvPr name="Group 11" id="11"/>
          <p:cNvGrpSpPr/>
          <p:nvPr/>
        </p:nvGrpSpPr>
        <p:grpSpPr>
          <a:xfrm rot="0">
            <a:off x="951338" y="3765318"/>
            <a:ext cx="16491137" cy="1185834"/>
            <a:chOff x="0" y="0"/>
            <a:chExt cx="21988183" cy="1581112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21988145" cy="1581150"/>
            </a:xfrm>
            <a:custGeom>
              <a:avLst/>
              <a:gdLst/>
              <a:ahLst/>
              <a:cxnLst/>
              <a:rect r="r" b="b" t="t" l="l"/>
              <a:pathLst>
                <a:path h="1581150" w="21988145">
                  <a:moveTo>
                    <a:pt x="0" y="263525"/>
                  </a:moveTo>
                  <a:cubicBezTo>
                    <a:pt x="0" y="117983"/>
                    <a:pt x="117983" y="0"/>
                    <a:pt x="263525" y="0"/>
                  </a:cubicBezTo>
                  <a:lnTo>
                    <a:pt x="21724620" y="0"/>
                  </a:lnTo>
                  <a:cubicBezTo>
                    <a:pt x="21870161" y="0"/>
                    <a:pt x="21988145" y="117983"/>
                    <a:pt x="21988145" y="263525"/>
                  </a:cubicBezTo>
                  <a:lnTo>
                    <a:pt x="21988145" y="1317625"/>
                  </a:lnTo>
                  <a:cubicBezTo>
                    <a:pt x="21988145" y="1463167"/>
                    <a:pt x="21870161" y="1581150"/>
                    <a:pt x="21724620" y="1581150"/>
                  </a:cubicBezTo>
                  <a:lnTo>
                    <a:pt x="263525" y="1581150"/>
                  </a:lnTo>
                  <a:cubicBezTo>
                    <a:pt x="117983" y="1581150"/>
                    <a:pt x="0" y="1463167"/>
                    <a:pt x="0" y="1317625"/>
                  </a:cubicBezTo>
                  <a:close/>
                </a:path>
              </a:pathLst>
            </a:custGeom>
            <a:solidFill>
              <a:srgbClr val="1E293B"/>
            </a:solidFill>
            <a:ln w="19065" cap="sq">
              <a:solidFill>
                <a:srgbClr val="3B82F6"/>
              </a:solidFill>
              <a:prstDash val="solid"/>
              <a:miter/>
            </a:ln>
          </p:spPr>
        </p:sp>
      </p:grpSp>
      <p:grpSp>
        <p:nvGrpSpPr>
          <p:cNvPr name="Group 13" id="13"/>
          <p:cNvGrpSpPr/>
          <p:nvPr/>
        </p:nvGrpSpPr>
        <p:grpSpPr>
          <a:xfrm rot="0">
            <a:off x="1166774" y="4049382"/>
            <a:ext cx="686333" cy="617706"/>
            <a:chOff x="0" y="0"/>
            <a:chExt cx="915111" cy="823608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915162" cy="823595"/>
            </a:xfrm>
            <a:custGeom>
              <a:avLst/>
              <a:gdLst/>
              <a:ahLst/>
              <a:cxnLst/>
              <a:rect r="r" b="b" t="t" l="l"/>
              <a:pathLst>
                <a:path h="823595" w="915162">
                  <a:moveTo>
                    <a:pt x="0" y="137287"/>
                  </a:moveTo>
                  <a:cubicBezTo>
                    <a:pt x="0" y="61468"/>
                    <a:pt x="61468" y="0"/>
                    <a:pt x="137287" y="0"/>
                  </a:cubicBezTo>
                  <a:lnTo>
                    <a:pt x="777875" y="0"/>
                  </a:lnTo>
                  <a:cubicBezTo>
                    <a:pt x="853694" y="0"/>
                    <a:pt x="915162" y="61468"/>
                    <a:pt x="915162" y="137287"/>
                  </a:cubicBezTo>
                  <a:lnTo>
                    <a:pt x="915162" y="686308"/>
                  </a:lnTo>
                  <a:cubicBezTo>
                    <a:pt x="915162" y="762127"/>
                    <a:pt x="853694" y="823595"/>
                    <a:pt x="777875" y="823595"/>
                  </a:cubicBezTo>
                  <a:lnTo>
                    <a:pt x="137287" y="823595"/>
                  </a:lnTo>
                  <a:cubicBezTo>
                    <a:pt x="61468" y="823595"/>
                    <a:pt x="0" y="762127"/>
                    <a:pt x="0" y="686308"/>
                  </a:cubicBezTo>
                  <a:close/>
                </a:path>
              </a:pathLst>
            </a:custGeom>
            <a:solidFill>
              <a:srgbClr val="3B82F6"/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28575"/>
              <a:ext cx="915111" cy="85218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81"/>
                </a:lnSpc>
              </a:pPr>
              <a:r>
                <a:rPr lang="en-US" sz="1651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2</a:t>
              </a:r>
            </a:p>
          </p:txBody>
        </p:sp>
      </p:grpSp>
      <p:sp>
        <p:nvSpPr>
          <p:cNvPr name="TextBox 16" id="16"/>
          <p:cNvSpPr txBox="true"/>
          <p:nvPr/>
        </p:nvSpPr>
        <p:spPr>
          <a:xfrm rot="0">
            <a:off x="2109006" y="3953123"/>
            <a:ext cx="14587595" cy="8998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1"/>
              </a:lnSpc>
            </a:pPr>
            <a:r>
              <a:rPr lang="en-US" sz="2101">
                <a:solidFill>
                  <a:srgbClr val="F1F5F9"/>
                </a:solidFill>
                <a:latin typeface="Calibri (MS)"/>
                <a:ea typeface="Calibri (MS)"/>
                <a:cs typeface="Calibri (MS)"/>
                <a:sym typeface="Calibri (MS)"/>
              </a:rPr>
              <a:t>Arquitectura de 3 capas desplegable con un solo comando docker compose up — portable a cualquier servidor.</a:t>
            </a:r>
          </a:p>
        </p:txBody>
      </p:sp>
      <p:grpSp>
        <p:nvGrpSpPr>
          <p:cNvPr name="Group 17" id="17"/>
          <p:cNvGrpSpPr/>
          <p:nvPr/>
        </p:nvGrpSpPr>
        <p:grpSpPr>
          <a:xfrm rot="0">
            <a:off x="951338" y="5206622"/>
            <a:ext cx="16491137" cy="1185834"/>
            <a:chOff x="0" y="0"/>
            <a:chExt cx="21988183" cy="1581112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21988145" cy="1581150"/>
            </a:xfrm>
            <a:custGeom>
              <a:avLst/>
              <a:gdLst/>
              <a:ahLst/>
              <a:cxnLst/>
              <a:rect r="r" b="b" t="t" l="l"/>
              <a:pathLst>
                <a:path h="1581150" w="21988145">
                  <a:moveTo>
                    <a:pt x="0" y="263525"/>
                  </a:moveTo>
                  <a:cubicBezTo>
                    <a:pt x="0" y="117983"/>
                    <a:pt x="117983" y="0"/>
                    <a:pt x="263525" y="0"/>
                  </a:cubicBezTo>
                  <a:lnTo>
                    <a:pt x="21724620" y="0"/>
                  </a:lnTo>
                  <a:cubicBezTo>
                    <a:pt x="21870161" y="0"/>
                    <a:pt x="21988145" y="117983"/>
                    <a:pt x="21988145" y="263525"/>
                  </a:cubicBezTo>
                  <a:lnTo>
                    <a:pt x="21988145" y="1317625"/>
                  </a:lnTo>
                  <a:cubicBezTo>
                    <a:pt x="21988145" y="1463167"/>
                    <a:pt x="21870161" y="1581150"/>
                    <a:pt x="21724620" y="1581150"/>
                  </a:cubicBezTo>
                  <a:lnTo>
                    <a:pt x="263525" y="1581150"/>
                  </a:lnTo>
                  <a:cubicBezTo>
                    <a:pt x="117983" y="1581150"/>
                    <a:pt x="0" y="1463167"/>
                    <a:pt x="0" y="1317625"/>
                  </a:cubicBezTo>
                  <a:close/>
                </a:path>
              </a:pathLst>
            </a:custGeom>
            <a:solidFill>
              <a:srgbClr val="1E293B"/>
            </a:solidFill>
            <a:ln w="19065" cap="sq">
              <a:solidFill>
                <a:srgbClr val="3B82F6"/>
              </a:solidFill>
              <a:prstDash val="solid"/>
              <a:miter/>
            </a:ln>
          </p:spPr>
        </p:sp>
      </p:grpSp>
      <p:grpSp>
        <p:nvGrpSpPr>
          <p:cNvPr name="Group 19" id="19"/>
          <p:cNvGrpSpPr/>
          <p:nvPr/>
        </p:nvGrpSpPr>
        <p:grpSpPr>
          <a:xfrm rot="0">
            <a:off x="1166774" y="5490686"/>
            <a:ext cx="686333" cy="617706"/>
            <a:chOff x="0" y="0"/>
            <a:chExt cx="915111" cy="823608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915162" cy="823595"/>
            </a:xfrm>
            <a:custGeom>
              <a:avLst/>
              <a:gdLst/>
              <a:ahLst/>
              <a:cxnLst/>
              <a:rect r="r" b="b" t="t" l="l"/>
              <a:pathLst>
                <a:path h="823595" w="915162">
                  <a:moveTo>
                    <a:pt x="0" y="137287"/>
                  </a:moveTo>
                  <a:cubicBezTo>
                    <a:pt x="0" y="61468"/>
                    <a:pt x="61468" y="0"/>
                    <a:pt x="137287" y="0"/>
                  </a:cubicBezTo>
                  <a:lnTo>
                    <a:pt x="777875" y="0"/>
                  </a:lnTo>
                  <a:cubicBezTo>
                    <a:pt x="853694" y="0"/>
                    <a:pt x="915162" y="61468"/>
                    <a:pt x="915162" y="137287"/>
                  </a:cubicBezTo>
                  <a:lnTo>
                    <a:pt x="915162" y="686308"/>
                  </a:lnTo>
                  <a:cubicBezTo>
                    <a:pt x="915162" y="762127"/>
                    <a:pt x="853694" y="823595"/>
                    <a:pt x="777875" y="823595"/>
                  </a:cubicBezTo>
                  <a:lnTo>
                    <a:pt x="137287" y="823595"/>
                  </a:lnTo>
                  <a:cubicBezTo>
                    <a:pt x="61468" y="823595"/>
                    <a:pt x="0" y="762127"/>
                    <a:pt x="0" y="686308"/>
                  </a:cubicBezTo>
                  <a:close/>
                </a:path>
              </a:pathLst>
            </a:custGeom>
            <a:solidFill>
              <a:srgbClr val="3B82F6"/>
            </a:solidFill>
          </p:spPr>
        </p:sp>
        <p:sp>
          <p:nvSpPr>
            <p:cNvPr name="TextBox 21" id="21"/>
            <p:cNvSpPr txBox="true"/>
            <p:nvPr/>
          </p:nvSpPr>
          <p:spPr>
            <a:xfrm>
              <a:off x="0" y="-28575"/>
              <a:ext cx="915111" cy="85218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81"/>
                </a:lnSpc>
              </a:pPr>
              <a:r>
                <a:rPr lang="en-US" sz="1651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3</a:t>
              </a:r>
            </a:p>
          </p:txBody>
        </p:sp>
      </p:grpSp>
      <p:sp>
        <p:nvSpPr>
          <p:cNvPr name="TextBox 22" id="22"/>
          <p:cNvSpPr txBox="true"/>
          <p:nvPr/>
        </p:nvSpPr>
        <p:spPr>
          <a:xfrm rot="0">
            <a:off x="2109006" y="5394427"/>
            <a:ext cx="14587595" cy="8998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1"/>
              </a:lnSpc>
            </a:pPr>
            <a:r>
              <a:rPr lang="en-US" sz="2101">
                <a:solidFill>
                  <a:srgbClr val="F1F5F9"/>
                </a:solidFill>
                <a:latin typeface="Calibri (MS)"/>
                <a:ea typeface="Calibri (MS)"/>
                <a:cs typeface="Calibri (MS)"/>
                <a:sym typeface="Calibri (MS)"/>
              </a:rPr>
              <a:t>Seguridad incorporada desde el diseño: bcrypt, PDO, sesiones HttpOnly, transacciones, UFW firewall.</a:t>
            </a:r>
          </a:p>
        </p:txBody>
      </p:sp>
      <p:grpSp>
        <p:nvGrpSpPr>
          <p:cNvPr name="Group 23" id="23"/>
          <p:cNvGrpSpPr/>
          <p:nvPr/>
        </p:nvGrpSpPr>
        <p:grpSpPr>
          <a:xfrm rot="0">
            <a:off x="951338" y="6647926"/>
            <a:ext cx="16491137" cy="1185834"/>
            <a:chOff x="0" y="0"/>
            <a:chExt cx="21988183" cy="1581112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21988145" cy="1581150"/>
            </a:xfrm>
            <a:custGeom>
              <a:avLst/>
              <a:gdLst/>
              <a:ahLst/>
              <a:cxnLst/>
              <a:rect r="r" b="b" t="t" l="l"/>
              <a:pathLst>
                <a:path h="1581150" w="21988145">
                  <a:moveTo>
                    <a:pt x="0" y="263525"/>
                  </a:moveTo>
                  <a:cubicBezTo>
                    <a:pt x="0" y="117983"/>
                    <a:pt x="117983" y="0"/>
                    <a:pt x="263525" y="0"/>
                  </a:cubicBezTo>
                  <a:lnTo>
                    <a:pt x="21724620" y="0"/>
                  </a:lnTo>
                  <a:cubicBezTo>
                    <a:pt x="21870161" y="0"/>
                    <a:pt x="21988145" y="117983"/>
                    <a:pt x="21988145" y="263525"/>
                  </a:cubicBezTo>
                  <a:lnTo>
                    <a:pt x="21988145" y="1317625"/>
                  </a:lnTo>
                  <a:cubicBezTo>
                    <a:pt x="21988145" y="1463167"/>
                    <a:pt x="21870161" y="1581150"/>
                    <a:pt x="21724620" y="1581150"/>
                  </a:cubicBezTo>
                  <a:lnTo>
                    <a:pt x="263525" y="1581150"/>
                  </a:lnTo>
                  <a:cubicBezTo>
                    <a:pt x="117983" y="1581150"/>
                    <a:pt x="0" y="1463167"/>
                    <a:pt x="0" y="1317625"/>
                  </a:cubicBezTo>
                  <a:close/>
                </a:path>
              </a:pathLst>
            </a:custGeom>
            <a:solidFill>
              <a:srgbClr val="1E293B"/>
            </a:solidFill>
            <a:ln w="19065" cap="sq">
              <a:solidFill>
                <a:srgbClr val="3B82F6"/>
              </a:solidFill>
              <a:prstDash val="solid"/>
              <a:miter/>
            </a:ln>
          </p:spPr>
        </p:sp>
      </p:grpSp>
      <p:grpSp>
        <p:nvGrpSpPr>
          <p:cNvPr name="Group 25" id="25"/>
          <p:cNvGrpSpPr/>
          <p:nvPr/>
        </p:nvGrpSpPr>
        <p:grpSpPr>
          <a:xfrm rot="0">
            <a:off x="1166774" y="6932000"/>
            <a:ext cx="686333" cy="617706"/>
            <a:chOff x="0" y="0"/>
            <a:chExt cx="915111" cy="823608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915162" cy="823595"/>
            </a:xfrm>
            <a:custGeom>
              <a:avLst/>
              <a:gdLst/>
              <a:ahLst/>
              <a:cxnLst/>
              <a:rect r="r" b="b" t="t" l="l"/>
              <a:pathLst>
                <a:path h="823595" w="915162">
                  <a:moveTo>
                    <a:pt x="0" y="137287"/>
                  </a:moveTo>
                  <a:cubicBezTo>
                    <a:pt x="0" y="61468"/>
                    <a:pt x="61468" y="0"/>
                    <a:pt x="137287" y="0"/>
                  </a:cubicBezTo>
                  <a:lnTo>
                    <a:pt x="777875" y="0"/>
                  </a:lnTo>
                  <a:cubicBezTo>
                    <a:pt x="853694" y="0"/>
                    <a:pt x="915162" y="61468"/>
                    <a:pt x="915162" y="137287"/>
                  </a:cubicBezTo>
                  <a:lnTo>
                    <a:pt x="915162" y="686308"/>
                  </a:lnTo>
                  <a:cubicBezTo>
                    <a:pt x="915162" y="762127"/>
                    <a:pt x="853694" y="823595"/>
                    <a:pt x="777875" y="823595"/>
                  </a:cubicBezTo>
                  <a:lnTo>
                    <a:pt x="137287" y="823595"/>
                  </a:lnTo>
                  <a:cubicBezTo>
                    <a:pt x="61468" y="823595"/>
                    <a:pt x="0" y="762127"/>
                    <a:pt x="0" y="686308"/>
                  </a:cubicBezTo>
                  <a:close/>
                </a:path>
              </a:pathLst>
            </a:custGeom>
            <a:solidFill>
              <a:srgbClr val="3B82F6"/>
            </a:solidFill>
          </p:spPr>
        </p:sp>
        <p:sp>
          <p:nvSpPr>
            <p:cNvPr name="TextBox 27" id="27"/>
            <p:cNvSpPr txBox="true"/>
            <p:nvPr/>
          </p:nvSpPr>
          <p:spPr>
            <a:xfrm>
              <a:off x="0" y="-28575"/>
              <a:ext cx="915111" cy="85218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81"/>
                </a:lnSpc>
              </a:pPr>
              <a:r>
                <a:rPr lang="en-US" sz="1651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4</a:t>
              </a:r>
            </a:p>
          </p:txBody>
        </p:sp>
      </p:grpSp>
      <p:sp>
        <p:nvSpPr>
          <p:cNvPr name="TextBox 28" id="28"/>
          <p:cNvSpPr txBox="true"/>
          <p:nvPr/>
        </p:nvSpPr>
        <p:spPr>
          <a:xfrm rot="0">
            <a:off x="2109006" y="6835740"/>
            <a:ext cx="14587595" cy="8998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1"/>
              </a:lnSpc>
            </a:pPr>
            <a:r>
              <a:rPr lang="en-US" sz="2101">
                <a:solidFill>
                  <a:srgbClr val="F1F5F9"/>
                </a:solidFill>
                <a:latin typeface="Calibri (MS)"/>
                <a:ea typeface="Calibri (MS)"/>
                <a:cs typeface="Calibri (MS)"/>
                <a:sym typeface="Calibri (MS)"/>
              </a:rPr>
              <a:t>Social commerce completo agregado sin romper funcionalidades previas, cumpliendo la rúbrica actualizada.</a:t>
            </a:r>
          </a:p>
        </p:txBody>
      </p:sp>
      <p:grpSp>
        <p:nvGrpSpPr>
          <p:cNvPr name="Group 29" id="29"/>
          <p:cNvGrpSpPr/>
          <p:nvPr/>
        </p:nvGrpSpPr>
        <p:grpSpPr>
          <a:xfrm rot="0">
            <a:off x="951338" y="8089230"/>
            <a:ext cx="16491137" cy="1185834"/>
            <a:chOff x="0" y="0"/>
            <a:chExt cx="21988183" cy="1581112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21988145" cy="1581150"/>
            </a:xfrm>
            <a:custGeom>
              <a:avLst/>
              <a:gdLst/>
              <a:ahLst/>
              <a:cxnLst/>
              <a:rect r="r" b="b" t="t" l="l"/>
              <a:pathLst>
                <a:path h="1581150" w="21988145">
                  <a:moveTo>
                    <a:pt x="0" y="263525"/>
                  </a:moveTo>
                  <a:cubicBezTo>
                    <a:pt x="0" y="117983"/>
                    <a:pt x="117983" y="0"/>
                    <a:pt x="263525" y="0"/>
                  </a:cubicBezTo>
                  <a:lnTo>
                    <a:pt x="21724620" y="0"/>
                  </a:lnTo>
                  <a:cubicBezTo>
                    <a:pt x="21870161" y="0"/>
                    <a:pt x="21988145" y="117983"/>
                    <a:pt x="21988145" y="263525"/>
                  </a:cubicBezTo>
                  <a:lnTo>
                    <a:pt x="21988145" y="1317625"/>
                  </a:lnTo>
                  <a:cubicBezTo>
                    <a:pt x="21988145" y="1463167"/>
                    <a:pt x="21870161" y="1581150"/>
                    <a:pt x="21724620" y="1581150"/>
                  </a:cubicBezTo>
                  <a:lnTo>
                    <a:pt x="263525" y="1581150"/>
                  </a:lnTo>
                  <a:cubicBezTo>
                    <a:pt x="117983" y="1581150"/>
                    <a:pt x="0" y="1463167"/>
                    <a:pt x="0" y="1317625"/>
                  </a:cubicBezTo>
                  <a:close/>
                </a:path>
              </a:pathLst>
            </a:custGeom>
            <a:solidFill>
              <a:srgbClr val="1E293B"/>
            </a:solidFill>
            <a:ln w="19065" cap="sq">
              <a:solidFill>
                <a:srgbClr val="3B82F6"/>
              </a:solidFill>
              <a:prstDash val="solid"/>
              <a:miter/>
            </a:ln>
          </p:spPr>
        </p:sp>
      </p:grpSp>
      <p:grpSp>
        <p:nvGrpSpPr>
          <p:cNvPr name="Group 31" id="31"/>
          <p:cNvGrpSpPr/>
          <p:nvPr/>
        </p:nvGrpSpPr>
        <p:grpSpPr>
          <a:xfrm rot="0">
            <a:off x="1166774" y="8373304"/>
            <a:ext cx="686333" cy="617706"/>
            <a:chOff x="0" y="0"/>
            <a:chExt cx="915111" cy="823608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915162" cy="823595"/>
            </a:xfrm>
            <a:custGeom>
              <a:avLst/>
              <a:gdLst/>
              <a:ahLst/>
              <a:cxnLst/>
              <a:rect r="r" b="b" t="t" l="l"/>
              <a:pathLst>
                <a:path h="823595" w="915162">
                  <a:moveTo>
                    <a:pt x="0" y="137287"/>
                  </a:moveTo>
                  <a:cubicBezTo>
                    <a:pt x="0" y="61468"/>
                    <a:pt x="61468" y="0"/>
                    <a:pt x="137287" y="0"/>
                  </a:cubicBezTo>
                  <a:lnTo>
                    <a:pt x="777875" y="0"/>
                  </a:lnTo>
                  <a:cubicBezTo>
                    <a:pt x="853694" y="0"/>
                    <a:pt x="915162" y="61468"/>
                    <a:pt x="915162" y="137287"/>
                  </a:cubicBezTo>
                  <a:lnTo>
                    <a:pt x="915162" y="686308"/>
                  </a:lnTo>
                  <a:cubicBezTo>
                    <a:pt x="915162" y="762127"/>
                    <a:pt x="853694" y="823595"/>
                    <a:pt x="777875" y="823595"/>
                  </a:cubicBezTo>
                  <a:lnTo>
                    <a:pt x="137287" y="823595"/>
                  </a:lnTo>
                  <a:cubicBezTo>
                    <a:pt x="61468" y="823595"/>
                    <a:pt x="0" y="762127"/>
                    <a:pt x="0" y="686308"/>
                  </a:cubicBezTo>
                  <a:close/>
                </a:path>
              </a:pathLst>
            </a:custGeom>
            <a:solidFill>
              <a:srgbClr val="3B82F6"/>
            </a:solidFill>
          </p:spPr>
        </p:sp>
        <p:sp>
          <p:nvSpPr>
            <p:cNvPr name="TextBox 33" id="33"/>
            <p:cNvSpPr txBox="true"/>
            <p:nvPr/>
          </p:nvSpPr>
          <p:spPr>
            <a:xfrm>
              <a:off x="0" y="-28575"/>
              <a:ext cx="915111" cy="85218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81"/>
                </a:lnSpc>
              </a:pPr>
              <a:r>
                <a:rPr lang="en-US" sz="1651" b="true">
                  <a:solidFill>
                    <a:srgbClr val="FFFFF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5</a:t>
              </a:r>
            </a:p>
          </p:txBody>
        </p:sp>
      </p:grpSp>
      <p:sp>
        <p:nvSpPr>
          <p:cNvPr name="TextBox 34" id="34"/>
          <p:cNvSpPr txBox="true"/>
          <p:nvPr/>
        </p:nvSpPr>
        <p:spPr>
          <a:xfrm rot="0">
            <a:off x="2109006" y="8277044"/>
            <a:ext cx="14587595" cy="8998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1"/>
              </a:lnSpc>
            </a:pPr>
            <a:r>
              <a:rPr lang="en-US" sz="2101">
                <a:solidFill>
                  <a:srgbClr val="F1F5F9"/>
                </a:solidFill>
                <a:latin typeface="Calibri (MS)"/>
                <a:ea typeface="Calibri (MS)"/>
                <a:cs typeface="Calibri (MS)"/>
                <a:sym typeface="Calibri (MS)"/>
              </a:rPr>
              <a:t>Sistema en producción en AWS EC2 con repositorio público GitHub: deploy real, no solo prototipo académico.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599065" y="9659236"/>
            <a:ext cx="10881379" cy="5471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1"/>
              </a:lnSpc>
            </a:pPr>
            <a:r>
              <a:rPr lang="en-US" sz="150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SysMarket v2 · Sistemas Operativos USIL · Grupo 01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16522065" y="9659236"/>
            <a:ext cx="1272673" cy="5471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01"/>
              </a:lnSpc>
            </a:pPr>
            <a:r>
              <a:rPr lang="en-US" sz="150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17/18</a:t>
            </a:r>
          </a:p>
        </p:txBody>
      </p:sp>
    </p:spTree>
  </p:cSld>
  <p:clrMapOvr>
    <a:masterClrMapping/>
  </p:clrMapOvr>
</p:sld>
</file>

<file path=ppt/slides/slide18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97725" cy="10295039"/>
            <a:chOff x="0" y="0"/>
            <a:chExt cx="24396967" cy="1372671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96954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24396954">
                  <a:moveTo>
                    <a:pt x="0" y="0"/>
                  </a:moveTo>
                  <a:lnTo>
                    <a:pt x="24396954" y="0"/>
                  </a:lnTo>
                  <a:lnTo>
                    <a:pt x="2439695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0F172A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0"/>
            <a:ext cx="18297725" cy="205902"/>
            <a:chOff x="0" y="0"/>
            <a:chExt cx="24396967" cy="27453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396954" cy="274574"/>
            </a:xfrm>
            <a:custGeom>
              <a:avLst/>
              <a:gdLst/>
              <a:ahLst/>
              <a:cxnLst/>
              <a:rect r="r" b="b" t="t" l="l"/>
              <a:pathLst>
                <a:path h="274574" w="24396954">
                  <a:moveTo>
                    <a:pt x="0" y="0"/>
                  </a:moveTo>
                  <a:lnTo>
                    <a:pt x="24396954" y="0"/>
                  </a:lnTo>
                  <a:lnTo>
                    <a:pt x="24396954" y="274574"/>
                  </a:lnTo>
                  <a:lnTo>
                    <a:pt x="0" y="274574"/>
                  </a:lnTo>
                  <a:close/>
                </a:path>
              </a:pathLst>
            </a:custGeom>
            <a:solidFill>
              <a:srgbClr val="3B82F6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1010869" y="2479596"/>
            <a:ext cx="16372065" cy="23047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7293"/>
              </a:lnSpc>
            </a:pPr>
            <a:r>
              <a:rPr lang="en-US" sz="14411" b="true">
                <a:solidFill>
                  <a:srgbClr val="F1F5F9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Gracias.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010869" y="5032210"/>
            <a:ext cx="16372065" cy="8502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323"/>
              </a:lnSpc>
            </a:pPr>
            <a:r>
              <a:rPr lang="en-US" sz="3602" i="true">
                <a:solidFill>
                  <a:srgbClr val="8B5CF6"/>
                </a:solidFill>
                <a:latin typeface="Calibri (MS) Italics"/>
                <a:ea typeface="Calibri (MS) Italics"/>
                <a:cs typeface="Calibri (MS) Italics"/>
                <a:sym typeface="Calibri (MS) Italics"/>
              </a:rPr>
              <a:t>Preguntas y respuestas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4794818" y="6853828"/>
            <a:ext cx="8666902" cy="2078069"/>
            <a:chOff x="0" y="0"/>
            <a:chExt cx="11555870" cy="2770759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1555857" cy="2770759"/>
            </a:xfrm>
            <a:custGeom>
              <a:avLst/>
              <a:gdLst/>
              <a:ahLst/>
              <a:cxnLst/>
              <a:rect r="r" b="b" t="t" l="l"/>
              <a:pathLst>
                <a:path h="2770759" w="11555857">
                  <a:moveTo>
                    <a:pt x="0" y="461772"/>
                  </a:moveTo>
                  <a:cubicBezTo>
                    <a:pt x="0" y="206756"/>
                    <a:pt x="206756" y="0"/>
                    <a:pt x="461772" y="0"/>
                  </a:cubicBezTo>
                  <a:lnTo>
                    <a:pt x="11094085" y="0"/>
                  </a:lnTo>
                  <a:cubicBezTo>
                    <a:pt x="11349101" y="0"/>
                    <a:pt x="11555857" y="206756"/>
                    <a:pt x="11555857" y="461772"/>
                  </a:cubicBezTo>
                  <a:lnTo>
                    <a:pt x="11555857" y="2308987"/>
                  </a:lnTo>
                  <a:cubicBezTo>
                    <a:pt x="11555857" y="2564003"/>
                    <a:pt x="11349101" y="2770759"/>
                    <a:pt x="11094085" y="2770759"/>
                  </a:cubicBezTo>
                  <a:lnTo>
                    <a:pt x="461772" y="2770759"/>
                  </a:lnTo>
                  <a:cubicBezTo>
                    <a:pt x="206756" y="2770759"/>
                    <a:pt x="0" y="2564003"/>
                    <a:pt x="0" y="2308987"/>
                  </a:cubicBezTo>
                  <a:close/>
                </a:path>
              </a:pathLst>
            </a:custGeom>
            <a:solidFill>
              <a:srgbClr val="1E293B"/>
            </a:solidFill>
            <a:ln w="19065" cap="sq">
              <a:solidFill>
                <a:srgbClr val="3B82F6"/>
              </a:solidFill>
              <a:prstDash val="solid"/>
              <a:miter/>
            </a:ln>
          </p:spPr>
        </p:sp>
      </p:grpSp>
      <p:sp>
        <p:nvSpPr>
          <p:cNvPr name="TextBox 10" id="10"/>
          <p:cNvSpPr txBox="true"/>
          <p:nvPr/>
        </p:nvSpPr>
        <p:spPr>
          <a:xfrm rot="0">
            <a:off x="5128889" y="7041642"/>
            <a:ext cx="8136036" cy="55669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341"/>
              </a:lnSpc>
            </a:pPr>
            <a:r>
              <a:rPr lang="en-US" sz="1951" b="true">
                <a:solidFill>
                  <a:srgbClr val="3B82F6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Grupo 01 · Sistemas Operativos USIL 2026-I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5128889" y="7600236"/>
            <a:ext cx="8136036" cy="304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61"/>
              </a:lnSpc>
            </a:pPr>
            <a:r>
              <a:rPr lang="en-US" sz="1801">
                <a:solidFill>
                  <a:srgbClr val="F1F5F9"/>
                </a:solidFill>
                <a:latin typeface="Calibri (MS)"/>
                <a:ea typeface="Calibri (MS)"/>
                <a:cs typeface="Calibri (MS)"/>
                <a:sym typeface="Calibri (MS)"/>
              </a:rPr>
              <a:t>Fabian Roncal · Luz Rios 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5128889" y="8158829"/>
            <a:ext cx="8136036" cy="53764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81"/>
              </a:lnSpc>
            </a:pPr>
            <a:r>
              <a:rPr lang="en-US" sz="1651">
                <a:solidFill>
                  <a:srgbClr val="94A3B8"/>
                </a:solidFill>
                <a:latin typeface="Consolas"/>
                <a:ea typeface="Consolas"/>
                <a:cs typeface="Consolas"/>
                <a:sym typeface="Consolas"/>
              </a:rPr>
              <a:t>github.com/Hreon/S.O-SYS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DAHNbGDATac</dc:identifier>
  <dcterms:modified xsi:type="dcterms:W3CDTF">2011-08-01T06:04:30Z</dcterms:modified>
  <cp:revision>1</cp:revision>
  <dc:title>Presentacion_SysMarket_Final.pptx</dc:title>
</cp:coreProperties>
</file>