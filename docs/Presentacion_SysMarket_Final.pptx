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18288000" cy="10287000"/>
  <p:notesSz cx="6858000" cy="9144000"/>
  <p:embeddedFontLst>
    <p:embeddedFont>
      <p:font typeface="Calibri (MS) Bold" charset="1" panose="020F0702030404030204"/>
      <p:regular r:id="rId24"/>
    </p:embeddedFont>
    <p:embeddedFont>
      <p:font typeface="Calibri (MS)" charset="1" panose="020F0502020204030204"/>
      <p:regular r:id="rId25"/>
    </p:embeddedFont>
    <p:embeddedFont>
      <p:font typeface="Calibri (MS) Italics" charset="1" panose="020F05020202040A0204"/>
      <p:regular r:id="rId26"/>
    </p:embeddedFont>
    <p:embeddedFont>
      <p:font typeface="Consolas" charset="1" panose="020B0609020204030204"/>
      <p:regular r:id="rId27"/>
    </p:embeddedFont>
    <p:embeddedFont>
      <p:font typeface="Consolas Bold" charset="1" panose="020B0709020204030204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97725" cy="205902"/>
            <a:chOff x="0" y="0"/>
            <a:chExt cx="24396967" cy="2745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96954" cy="274574"/>
            </a:xfrm>
            <a:custGeom>
              <a:avLst/>
              <a:gdLst/>
              <a:ahLst/>
              <a:cxnLst/>
              <a:rect r="r" b="b" t="t" l="l"/>
              <a:pathLst>
                <a:path h="274574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274574"/>
                  </a:lnTo>
                  <a:lnTo>
                    <a:pt x="0" y="274574"/>
                  </a:lnTo>
                  <a:close/>
                </a:path>
              </a:pathLst>
            </a:custGeom>
            <a:solidFill>
              <a:srgbClr val="3B82F6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51338" y="6853828"/>
            <a:ext cx="6078259" cy="2215344"/>
            <a:chOff x="0" y="0"/>
            <a:chExt cx="8104345" cy="295379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04300" cy="2953766"/>
            </a:xfrm>
            <a:custGeom>
              <a:avLst/>
              <a:gdLst/>
              <a:ahLst/>
              <a:cxnLst/>
              <a:rect r="r" b="b" t="t" l="l"/>
              <a:pathLst>
                <a:path h="2953766" w="8104300">
                  <a:moveTo>
                    <a:pt x="0" y="492252"/>
                  </a:moveTo>
                  <a:cubicBezTo>
                    <a:pt x="0" y="220472"/>
                    <a:pt x="129927" y="0"/>
                    <a:pt x="290091" y="0"/>
                  </a:cubicBezTo>
                  <a:lnTo>
                    <a:pt x="7814208" y="0"/>
                  </a:lnTo>
                  <a:cubicBezTo>
                    <a:pt x="7974448" y="0"/>
                    <a:pt x="8104300" y="220472"/>
                    <a:pt x="8104300" y="492252"/>
                  </a:cubicBezTo>
                  <a:lnTo>
                    <a:pt x="8104300" y="2461514"/>
                  </a:lnTo>
                  <a:cubicBezTo>
                    <a:pt x="8104300" y="2733421"/>
                    <a:pt x="7974373" y="2953766"/>
                    <a:pt x="7814208" y="2953766"/>
                  </a:cubicBezTo>
                  <a:lnTo>
                    <a:pt x="290091" y="2953766"/>
                  </a:lnTo>
                  <a:cubicBezTo>
                    <a:pt x="129927" y="2953766"/>
                    <a:pt x="0" y="2733421"/>
                    <a:pt x="0" y="2461514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455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2354049" y="7000627"/>
            <a:ext cx="2333539" cy="480431"/>
            <a:chOff x="0" y="0"/>
            <a:chExt cx="3111386" cy="64057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111373" cy="640588"/>
            </a:xfrm>
            <a:custGeom>
              <a:avLst/>
              <a:gdLst/>
              <a:ahLst/>
              <a:cxnLst/>
              <a:rect r="r" b="b" t="t" l="l"/>
              <a:pathLst>
                <a:path h="640588" w="3111373">
                  <a:moveTo>
                    <a:pt x="0" y="106807"/>
                  </a:moveTo>
                  <a:cubicBezTo>
                    <a:pt x="0" y="47752"/>
                    <a:pt x="47752" y="0"/>
                    <a:pt x="106807" y="0"/>
                  </a:cubicBezTo>
                  <a:lnTo>
                    <a:pt x="3004566" y="0"/>
                  </a:lnTo>
                  <a:cubicBezTo>
                    <a:pt x="3063494" y="0"/>
                    <a:pt x="3111373" y="47752"/>
                    <a:pt x="3111373" y="106807"/>
                  </a:cubicBezTo>
                  <a:lnTo>
                    <a:pt x="3111373" y="533781"/>
                  </a:lnTo>
                  <a:cubicBezTo>
                    <a:pt x="3111373" y="592709"/>
                    <a:pt x="3063621" y="640588"/>
                    <a:pt x="3004566" y="640588"/>
                  </a:cubicBezTo>
                  <a:lnTo>
                    <a:pt x="106807" y="640588"/>
                  </a:lnTo>
                  <a:cubicBezTo>
                    <a:pt x="47752" y="640588"/>
                    <a:pt x="0" y="592836"/>
                    <a:pt x="0" y="533781"/>
                  </a:cubicBezTo>
                  <a:close/>
                </a:path>
              </a:pathLst>
            </a:custGeom>
            <a:solidFill>
              <a:srgbClr val="3B82F6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3111386" cy="6691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Apache + PHP 8.2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4893500" y="7000627"/>
            <a:ext cx="2333539" cy="480431"/>
            <a:chOff x="0" y="0"/>
            <a:chExt cx="3111386" cy="64057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111373" cy="640588"/>
            </a:xfrm>
            <a:custGeom>
              <a:avLst/>
              <a:gdLst/>
              <a:ahLst/>
              <a:cxnLst/>
              <a:rect r="r" b="b" t="t" l="l"/>
              <a:pathLst>
                <a:path h="640588" w="3111373">
                  <a:moveTo>
                    <a:pt x="0" y="106807"/>
                  </a:moveTo>
                  <a:cubicBezTo>
                    <a:pt x="0" y="47752"/>
                    <a:pt x="47752" y="0"/>
                    <a:pt x="106807" y="0"/>
                  </a:cubicBezTo>
                  <a:lnTo>
                    <a:pt x="3004566" y="0"/>
                  </a:lnTo>
                  <a:cubicBezTo>
                    <a:pt x="3063494" y="0"/>
                    <a:pt x="3111373" y="47752"/>
                    <a:pt x="3111373" y="106807"/>
                  </a:cubicBezTo>
                  <a:lnTo>
                    <a:pt x="3111373" y="533781"/>
                  </a:lnTo>
                  <a:cubicBezTo>
                    <a:pt x="3111373" y="592709"/>
                    <a:pt x="3063621" y="640588"/>
                    <a:pt x="3004566" y="640588"/>
                  </a:cubicBezTo>
                  <a:lnTo>
                    <a:pt x="106807" y="640588"/>
                  </a:lnTo>
                  <a:cubicBezTo>
                    <a:pt x="47752" y="640588"/>
                    <a:pt x="0" y="592836"/>
                    <a:pt x="0" y="533781"/>
                  </a:cubicBezTo>
                  <a:close/>
                </a:path>
              </a:pathLst>
            </a:custGeom>
            <a:solidFill>
              <a:srgbClr val="8B5CF6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28575"/>
              <a:ext cx="3111386" cy="6691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MySQL 8.0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354049" y="7618333"/>
            <a:ext cx="2333539" cy="480431"/>
            <a:chOff x="0" y="0"/>
            <a:chExt cx="3111386" cy="64057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111373" cy="640588"/>
            </a:xfrm>
            <a:custGeom>
              <a:avLst/>
              <a:gdLst/>
              <a:ahLst/>
              <a:cxnLst/>
              <a:rect r="r" b="b" t="t" l="l"/>
              <a:pathLst>
                <a:path h="640588" w="3111373">
                  <a:moveTo>
                    <a:pt x="0" y="106807"/>
                  </a:moveTo>
                  <a:cubicBezTo>
                    <a:pt x="0" y="47752"/>
                    <a:pt x="47752" y="0"/>
                    <a:pt x="106807" y="0"/>
                  </a:cubicBezTo>
                  <a:lnTo>
                    <a:pt x="3004566" y="0"/>
                  </a:lnTo>
                  <a:cubicBezTo>
                    <a:pt x="3063494" y="0"/>
                    <a:pt x="3111373" y="47752"/>
                    <a:pt x="3111373" y="106807"/>
                  </a:cubicBezTo>
                  <a:lnTo>
                    <a:pt x="3111373" y="533781"/>
                  </a:lnTo>
                  <a:cubicBezTo>
                    <a:pt x="3111373" y="592709"/>
                    <a:pt x="3063621" y="640588"/>
                    <a:pt x="3004566" y="640588"/>
                  </a:cubicBezTo>
                  <a:lnTo>
                    <a:pt x="106807" y="640588"/>
                  </a:lnTo>
                  <a:cubicBezTo>
                    <a:pt x="47752" y="640588"/>
                    <a:pt x="0" y="592836"/>
                    <a:pt x="0" y="533781"/>
                  </a:cubicBezTo>
                  <a:close/>
                </a:path>
              </a:pathLst>
            </a:custGeom>
            <a:solidFill>
              <a:srgbClr val="3B82F6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3111386" cy="6691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Docker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4893500" y="7618333"/>
            <a:ext cx="2333539" cy="480431"/>
            <a:chOff x="0" y="0"/>
            <a:chExt cx="3111386" cy="64057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111373" cy="640588"/>
            </a:xfrm>
            <a:custGeom>
              <a:avLst/>
              <a:gdLst/>
              <a:ahLst/>
              <a:cxnLst/>
              <a:rect r="r" b="b" t="t" l="l"/>
              <a:pathLst>
                <a:path h="640588" w="3111373">
                  <a:moveTo>
                    <a:pt x="0" y="106807"/>
                  </a:moveTo>
                  <a:cubicBezTo>
                    <a:pt x="0" y="47752"/>
                    <a:pt x="47752" y="0"/>
                    <a:pt x="106807" y="0"/>
                  </a:cubicBezTo>
                  <a:lnTo>
                    <a:pt x="3004566" y="0"/>
                  </a:lnTo>
                  <a:cubicBezTo>
                    <a:pt x="3063494" y="0"/>
                    <a:pt x="3111373" y="47752"/>
                    <a:pt x="3111373" y="106807"/>
                  </a:cubicBezTo>
                  <a:lnTo>
                    <a:pt x="3111373" y="533781"/>
                  </a:lnTo>
                  <a:cubicBezTo>
                    <a:pt x="3111373" y="592709"/>
                    <a:pt x="3063621" y="640588"/>
                    <a:pt x="3004566" y="640588"/>
                  </a:cubicBezTo>
                  <a:lnTo>
                    <a:pt x="106807" y="640588"/>
                  </a:lnTo>
                  <a:cubicBezTo>
                    <a:pt x="47752" y="640588"/>
                    <a:pt x="0" y="592836"/>
                    <a:pt x="0" y="533781"/>
                  </a:cubicBezTo>
                  <a:close/>
                </a:path>
              </a:pathLst>
            </a:custGeom>
            <a:solidFill>
              <a:srgbClr val="F59E0B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3111386" cy="6691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AWS EC2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2354049" y="8236039"/>
            <a:ext cx="2333539" cy="480431"/>
            <a:chOff x="0" y="0"/>
            <a:chExt cx="3111386" cy="640575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111373" cy="640588"/>
            </a:xfrm>
            <a:custGeom>
              <a:avLst/>
              <a:gdLst/>
              <a:ahLst/>
              <a:cxnLst/>
              <a:rect r="r" b="b" t="t" l="l"/>
              <a:pathLst>
                <a:path h="640588" w="3111373">
                  <a:moveTo>
                    <a:pt x="0" y="106807"/>
                  </a:moveTo>
                  <a:cubicBezTo>
                    <a:pt x="0" y="47752"/>
                    <a:pt x="47752" y="0"/>
                    <a:pt x="106807" y="0"/>
                  </a:cubicBezTo>
                  <a:lnTo>
                    <a:pt x="3004566" y="0"/>
                  </a:lnTo>
                  <a:cubicBezTo>
                    <a:pt x="3063494" y="0"/>
                    <a:pt x="3111373" y="47752"/>
                    <a:pt x="3111373" y="106807"/>
                  </a:cubicBezTo>
                  <a:lnTo>
                    <a:pt x="3111373" y="533781"/>
                  </a:lnTo>
                  <a:cubicBezTo>
                    <a:pt x="3111373" y="592709"/>
                    <a:pt x="3063621" y="640588"/>
                    <a:pt x="3004566" y="640588"/>
                  </a:cubicBezTo>
                  <a:lnTo>
                    <a:pt x="106807" y="640588"/>
                  </a:lnTo>
                  <a:cubicBezTo>
                    <a:pt x="47752" y="640588"/>
                    <a:pt x="0" y="592836"/>
                    <a:pt x="0" y="533781"/>
                  </a:cubicBezTo>
                  <a:close/>
                </a:path>
              </a:pathLst>
            </a:custGeom>
            <a:solidFill>
              <a:srgbClr val="10B981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3111386" cy="6691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Python POSIX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4893500" y="8236039"/>
            <a:ext cx="2333539" cy="480431"/>
            <a:chOff x="0" y="0"/>
            <a:chExt cx="3111386" cy="640575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3111373" cy="640588"/>
            </a:xfrm>
            <a:custGeom>
              <a:avLst/>
              <a:gdLst/>
              <a:ahLst/>
              <a:cxnLst/>
              <a:rect r="r" b="b" t="t" l="l"/>
              <a:pathLst>
                <a:path h="640588" w="3111373">
                  <a:moveTo>
                    <a:pt x="0" y="106807"/>
                  </a:moveTo>
                  <a:cubicBezTo>
                    <a:pt x="0" y="47752"/>
                    <a:pt x="47752" y="0"/>
                    <a:pt x="106807" y="0"/>
                  </a:cubicBezTo>
                  <a:lnTo>
                    <a:pt x="3004566" y="0"/>
                  </a:lnTo>
                  <a:cubicBezTo>
                    <a:pt x="3063494" y="0"/>
                    <a:pt x="3111373" y="47752"/>
                    <a:pt x="3111373" y="106807"/>
                  </a:cubicBezTo>
                  <a:lnTo>
                    <a:pt x="3111373" y="533781"/>
                  </a:lnTo>
                  <a:cubicBezTo>
                    <a:pt x="3111373" y="592709"/>
                    <a:pt x="3063621" y="640588"/>
                    <a:pt x="3004566" y="640588"/>
                  </a:cubicBezTo>
                  <a:lnTo>
                    <a:pt x="106807" y="640588"/>
                  </a:lnTo>
                  <a:cubicBezTo>
                    <a:pt x="47752" y="640588"/>
                    <a:pt x="0" y="592836"/>
                    <a:pt x="0" y="533781"/>
                  </a:cubicBezTo>
                  <a:close/>
                </a:path>
              </a:pathLst>
            </a:custGeom>
            <a:solidFill>
              <a:srgbClr val="EC4899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28575"/>
              <a:ext cx="3111386" cy="6691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Social Commerce</a:t>
              </a: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1028700" y="205902"/>
            <a:ext cx="2003214" cy="2003214"/>
          </a:xfrm>
          <a:custGeom>
            <a:avLst/>
            <a:gdLst/>
            <a:ahLst/>
            <a:cxnLst/>
            <a:rect r="r" b="b" t="t" l="l"/>
            <a:pathLst>
              <a:path h="2003214" w="2003214">
                <a:moveTo>
                  <a:pt x="0" y="0"/>
                </a:moveTo>
                <a:lnTo>
                  <a:pt x="2003214" y="0"/>
                </a:lnTo>
                <a:lnTo>
                  <a:pt x="2003214" y="2003214"/>
                </a:lnTo>
                <a:lnTo>
                  <a:pt x="0" y="20032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1028700" y="2115626"/>
            <a:ext cx="16372065" cy="5566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Facultad de Ingeniería · Sistemas Operativos · 2026-I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10869" y="3173973"/>
            <a:ext cx="16372065" cy="1826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970"/>
              </a:lnSpc>
            </a:pPr>
            <a:r>
              <a:rPr lang="en-US" sz="10808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SysMarket v2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62830" y="4949657"/>
            <a:ext cx="16372065" cy="13993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2"/>
              </a:lnSpc>
            </a:pPr>
            <a:r>
              <a:rPr lang="en-US" sz="3002" i="true">
                <a:solidFill>
                  <a:srgbClr val="8B5CF6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E-commerce de hardware con monitoreo del sistema operativo</a:t>
            </a:r>
          </a:p>
          <a:p>
            <a:pPr algn="l">
              <a:lnSpc>
                <a:spcPts val="3602"/>
              </a:lnSpc>
            </a:pPr>
            <a:r>
              <a:rPr lang="en-US" sz="3002" i="true">
                <a:solidFill>
                  <a:srgbClr val="8B5CF6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y módulo de social commerce desplegado en AWS EC2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85408" y="6992055"/>
            <a:ext cx="9508703" cy="4690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GRUPO 01 — TRABAJO FINAL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85408" y="7522073"/>
            <a:ext cx="9508703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Fabian Roncal Falconi · Luz Rios Rios 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85408" y="8149304"/>
            <a:ext cx="9508703" cy="478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Profesor: Eduardo Vásquez Reyes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285408" y="8561099"/>
            <a:ext cx="9508703" cy="478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Presentación: 27 de junio de 2026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592036"/>
            <a:ext cx="16372065" cy="897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Problemática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10869" y="1619583"/>
            <a:ext cx="16372065" cy="5566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Lo que motivó el proyecto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51338" y="2735809"/>
            <a:ext cx="7843295" cy="6196089"/>
            <a:chOff x="0" y="0"/>
            <a:chExt cx="10457726" cy="826145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457688" cy="8261477"/>
            </a:xfrm>
            <a:custGeom>
              <a:avLst/>
              <a:gdLst/>
              <a:ahLst/>
              <a:cxnLst/>
              <a:rect r="r" b="b" t="t" l="l"/>
              <a:pathLst>
                <a:path h="8261477" w="10457688">
                  <a:moveTo>
                    <a:pt x="0" y="1376934"/>
                  </a:moveTo>
                  <a:cubicBezTo>
                    <a:pt x="0" y="616458"/>
                    <a:pt x="616458" y="0"/>
                    <a:pt x="1376934" y="0"/>
                  </a:cubicBezTo>
                  <a:lnTo>
                    <a:pt x="9080753" y="0"/>
                  </a:lnTo>
                  <a:cubicBezTo>
                    <a:pt x="9841230" y="0"/>
                    <a:pt x="10457688" y="616458"/>
                    <a:pt x="10457688" y="1376934"/>
                  </a:cubicBezTo>
                  <a:lnTo>
                    <a:pt x="10457688" y="6884543"/>
                  </a:lnTo>
                  <a:cubicBezTo>
                    <a:pt x="10457688" y="7645019"/>
                    <a:pt x="9841230" y="8261477"/>
                    <a:pt x="9080754" y="8261477"/>
                  </a:cubicBezTo>
                  <a:lnTo>
                    <a:pt x="1376934" y="8261477"/>
                  </a:lnTo>
                  <a:cubicBezTo>
                    <a:pt x="616458" y="8261477"/>
                    <a:pt x="0" y="7645019"/>
                    <a:pt x="0" y="6884543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455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1285408" y="2982725"/>
            <a:ext cx="7175163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1. Visibilidad limitada del servidor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85408" y="3815858"/>
            <a:ext cx="7175163" cy="4811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Las tiendas online pequeñas no tienen herramientas integradas para monitorear los recursos del SO donde corre su aplicación. Esto obliga al admin a usar SSH, htop o servicios externos pagados.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393269" y="2735809"/>
            <a:ext cx="7843295" cy="6196089"/>
            <a:chOff x="0" y="0"/>
            <a:chExt cx="10457726" cy="826145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457688" cy="8261477"/>
            </a:xfrm>
            <a:custGeom>
              <a:avLst/>
              <a:gdLst/>
              <a:ahLst/>
              <a:cxnLst/>
              <a:rect r="r" b="b" t="t" l="l"/>
              <a:pathLst>
                <a:path h="8261477" w="10457688">
                  <a:moveTo>
                    <a:pt x="0" y="1376934"/>
                  </a:moveTo>
                  <a:cubicBezTo>
                    <a:pt x="0" y="616458"/>
                    <a:pt x="616458" y="0"/>
                    <a:pt x="1376934" y="0"/>
                  </a:cubicBezTo>
                  <a:lnTo>
                    <a:pt x="9080753" y="0"/>
                  </a:lnTo>
                  <a:cubicBezTo>
                    <a:pt x="9841230" y="0"/>
                    <a:pt x="10457688" y="616458"/>
                    <a:pt x="10457688" y="1376934"/>
                  </a:cubicBezTo>
                  <a:lnTo>
                    <a:pt x="10457688" y="6884543"/>
                  </a:lnTo>
                  <a:cubicBezTo>
                    <a:pt x="10457688" y="7645019"/>
                    <a:pt x="9841230" y="8261477"/>
                    <a:pt x="9080754" y="8261477"/>
                  </a:cubicBezTo>
                  <a:lnTo>
                    <a:pt x="1376934" y="8261477"/>
                  </a:lnTo>
                  <a:cubicBezTo>
                    <a:pt x="616458" y="8261477"/>
                    <a:pt x="0" y="7645019"/>
                    <a:pt x="0" y="6884543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455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9727340" y="2982725"/>
            <a:ext cx="7175163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true">
                <a:solidFill>
                  <a:srgbClr val="EC489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2. Comercio social como expectativa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727340" y="3815858"/>
            <a:ext cx="7175163" cy="4811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Los consumidores modernos esperan interacciones sociales en las tiendas online (likes, reseñas, posts, compartir). La mayoría de e-commerce open-source no integran de forma nativa estas funcionalidades.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2/18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592036"/>
            <a:ext cx="16372065" cy="897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Objetivos del proyecto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51338" y="2049475"/>
            <a:ext cx="16491137" cy="2078069"/>
            <a:chOff x="0" y="0"/>
            <a:chExt cx="21988183" cy="27707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88145" cy="2770759"/>
            </a:xfrm>
            <a:custGeom>
              <a:avLst/>
              <a:gdLst/>
              <a:ahLst/>
              <a:cxnLst/>
              <a:rect r="r" b="b" t="t" l="l"/>
              <a:pathLst>
                <a:path h="2770759" w="21988145">
                  <a:moveTo>
                    <a:pt x="0" y="461772"/>
                  </a:moveTo>
                  <a:cubicBezTo>
                    <a:pt x="0" y="206756"/>
                    <a:pt x="206756" y="0"/>
                    <a:pt x="461772" y="0"/>
                  </a:cubicBezTo>
                  <a:lnTo>
                    <a:pt x="21526373" y="0"/>
                  </a:lnTo>
                  <a:cubicBezTo>
                    <a:pt x="21781388" y="0"/>
                    <a:pt x="21988145" y="206756"/>
                    <a:pt x="21988145" y="461772"/>
                  </a:cubicBezTo>
                  <a:lnTo>
                    <a:pt x="21988145" y="2308987"/>
                  </a:lnTo>
                  <a:cubicBezTo>
                    <a:pt x="21988145" y="2564003"/>
                    <a:pt x="21781388" y="2770759"/>
                    <a:pt x="21526373" y="2770759"/>
                  </a:cubicBezTo>
                  <a:lnTo>
                    <a:pt x="461772" y="2770759"/>
                  </a:lnTo>
                  <a:cubicBezTo>
                    <a:pt x="206756" y="2770759"/>
                    <a:pt x="0" y="2564003"/>
                    <a:pt x="0" y="2308987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455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285408" y="2237289"/>
            <a:ext cx="14999398" cy="5566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8B5C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🎯 OBJETIVO GENERAL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85408" y="2786348"/>
            <a:ext cx="14999398" cy="13116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Implementar SysMarket v2, una plataforma e-commerce de hardware integrada con monitoreo en tiempo real del SO, social commerce y desplegada en AWS EC2, aplicando los conceptos centrales del curso de Sistemas Operativos.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10869" y="4502191"/>
            <a:ext cx="16372065" cy="5566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8B5C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📋 OBJETIVOS ESPECÍFICOS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52312" y="5076987"/>
            <a:ext cx="16289188" cy="47605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Arquitectura de 3 capas (presentación, aplicación, datos) orquestada con Docker Compose.</a:t>
            </a:r>
          </a:p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Daemon Python con 5 hilos POSIX + mutex para muestreo concurrente del SO.</a:t>
            </a:r>
          </a:p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Lectura del kernel Linux vía sistema /proc + syscall statvfs() para administración de recursos.</a:t>
            </a:r>
          </a:p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E-commerce funcional: catálogo, carrito, checkout transaccional con bloqueo pesimista.</a:t>
            </a:r>
          </a:p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Social commerce: likes, reseñas con rating, publicaciones con Shop the Post.</a:t>
            </a:r>
          </a:p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Despliegue en AWS EC2 sobre Ubuntu Server 22.04 LTS (Free Tier).</a:t>
            </a:r>
          </a:p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Seguridad integral: bcrypt, PDO prepared statements, HttpOnly cookies, UFW firewall.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3/18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483346"/>
            <a:ext cx="16372065" cy="869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Arquitectura del proyecto (3-Tier + Cloud)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10869" y="1354569"/>
            <a:ext cx="16372065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Cumplimiento de criterio 1 de la rúbrica · Arquitectura en capas + integración cloud + contenerización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667703" y="2211307"/>
            <a:ext cx="17195673" cy="7309813"/>
            <a:chOff x="0" y="0"/>
            <a:chExt cx="21988183" cy="934709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88146" cy="9347026"/>
            </a:xfrm>
            <a:custGeom>
              <a:avLst/>
              <a:gdLst/>
              <a:ahLst/>
              <a:cxnLst/>
              <a:rect r="r" b="b" t="t" l="l"/>
              <a:pathLst>
                <a:path h="9347026" w="21988146">
                  <a:moveTo>
                    <a:pt x="0" y="1557881"/>
                  </a:moveTo>
                  <a:cubicBezTo>
                    <a:pt x="0" y="697508"/>
                    <a:pt x="684784" y="0"/>
                    <a:pt x="1529461" y="0"/>
                  </a:cubicBezTo>
                  <a:lnTo>
                    <a:pt x="20458685" y="0"/>
                  </a:lnTo>
                  <a:cubicBezTo>
                    <a:pt x="21303362" y="0"/>
                    <a:pt x="21988146" y="697508"/>
                    <a:pt x="21988146" y="1557881"/>
                  </a:cubicBezTo>
                  <a:lnTo>
                    <a:pt x="21988146" y="7789145"/>
                  </a:lnTo>
                  <a:cubicBezTo>
                    <a:pt x="21988146" y="8649518"/>
                    <a:pt x="21303362" y="9347026"/>
                    <a:pt x="20458685" y="9347026"/>
                  </a:cubicBezTo>
                  <a:lnTo>
                    <a:pt x="1529461" y="9347026"/>
                  </a:lnTo>
                  <a:cubicBezTo>
                    <a:pt x="684784" y="9347026"/>
                    <a:pt x="0" y="8649647"/>
                    <a:pt x="0" y="7789145"/>
                  </a:cubicBezTo>
                  <a:close/>
                </a:path>
              </a:pathLst>
            </a:custGeom>
            <a:solidFill>
              <a:srgbClr val="0F172A"/>
            </a:solidFill>
            <a:ln w="19065" cap="sq">
              <a:solidFill>
                <a:srgbClr val="F59E0B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1285408" y="2443182"/>
            <a:ext cx="14999398" cy="5566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☁  AWS EC2 — Ubuntu Server 22.04 LTS (t3.micro · us-east-1)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363142" y="3422152"/>
            <a:ext cx="15804794" cy="4823422"/>
            <a:chOff x="0" y="0"/>
            <a:chExt cx="21073059" cy="643122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073111" cy="6431153"/>
            </a:xfrm>
            <a:custGeom>
              <a:avLst/>
              <a:gdLst/>
              <a:ahLst/>
              <a:cxnLst/>
              <a:rect r="r" b="b" t="t" l="l"/>
              <a:pathLst>
                <a:path h="6431153" w="21073111">
                  <a:moveTo>
                    <a:pt x="0" y="1071880"/>
                  </a:moveTo>
                  <a:cubicBezTo>
                    <a:pt x="0" y="479933"/>
                    <a:pt x="479933" y="0"/>
                    <a:pt x="1071880" y="0"/>
                  </a:cubicBezTo>
                  <a:lnTo>
                    <a:pt x="20001230" y="0"/>
                  </a:lnTo>
                  <a:cubicBezTo>
                    <a:pt x="20593177" y="0"/>
                    <a:pt x="21073111" y="479933"/>
                    <a:pt x="21073111" y="1071880"/>
                  </a:cubicBezTo>
                  <a:lnTo>
                    <a:pt x="21073111" y="5359273"/>
                  </a:lnTo>
                  <a:cubicBezTo>
                    <a:pt x="21073111" y="5951220"/>
                    <a:pt x="20593177" y="6431153"/>
                    <a:pt x="20001230" y="6431153"/>
                  </a:cubicBezTo>
                  <a:lnTo>
                    <a:pt x="1071880" y="6431153"/>
                  </a:lnTo>
                  <a:cubicBezTo>
                    <a:pt x="479933" y="6431280"/>
                    <a:pt x="0" y="5951347"/>
                    <a:pt x="0" y="5359273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697203" y="3550844"/>
            <a:ext cx="14999398" cy="478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🐳  Docker Compose · red sysmarket_net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637671" y="4245750"/>
            <a:ext cx="4823422" cy="3725285"/>
            <a:chOff x="0" y="0"/>
            <a:chExt cx="6431229" cy="496704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431280" cy="4967097"/>
            </a:xfrm>
            <a:custGeom>
              <a:avLst/>
              <a:gdLst/>
              <a:ahLst/>
              <a:cxnLst/>
              <a:rect r="r" b="b" t="t" l="l"/>
              <a:pathLst>
                <a:path h="4967097" w="6431280">
                  <a:moveTo>
                    <a:pt x="0" y="827913"/>
                  </a:moveTo>
                  <a:cubicBezTo>
                    <a:pt x="0" y="370586"/>
                    <a:pt x="370586" y="0"/>
                    <a:pt x="827913" y="0"/>
                  </a:cubicBezTo>
                  <a:lnTo>
                    <a:pt x="5603367" y="0"/>
                  </a:lnTo>
                  <a:cubicBezTo>
                    <a:pt x="6060567" y="0"/>
                    <a:pt x="6431280" y="370586"/>
                    <a:pt x="6431280" y="827913"/>
                  </a:cubicBezTo>
                  <a:lnTo>
                    <a:pt x="6431280" y="4139184"/>
                  </a:lnTo>
                  <a:cubicBezTo>
                    <a:pt x="6431280" y="4596384"/>
                    <a:pt x="6060694" y="4967097"/>
                    <a:pt x="5603367" y="4967097"/>
                  </a:cubicBezTo>
                  <a:lnTo>
                    <a:pt x="827913" y="4967097"/>
                  </a:lnTo>
                  <a:cubicBezTo>
                    <a:pt x="370713" y="4967097"/>
                    <a:pt x="0" y="4596511"/>
                    <a:pt x="0" y="4139184"/>
                  </a:cubicBezTo>
                  <a:close/>
                </a:path>
              </a:pathLst>
            </a:custGeom>
            <a:solidFill>
              <a:srgbClr val="1E40AF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1834477" y="4355402"/>
            <a:ext cx="4429820" cy="566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web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834477" y="5001682"/>
            <a:ext cx="4429820" cy="400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Apache 2.4 + PHP 8.2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834477" y="5413477"/>
            <a:ext cx="4429820" cy="400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Puerto 80 expuesto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834477" y="5893918"/>
            <a:ext cx="4429820" cy="1773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E-commerce</a:t>
            </a:r>
          </a:p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Social commerce</a:t>
            </a:r>
          </a:p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Admin panel</a:t>
            </a:r>
          </a:p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PDO + bcrypt + Sessions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6785200" y="4245750"/>
            <a:ext cx="4823422" cy="3725285"/>
            <a:chOff x="0" y="0"/>
            <a:chExt cx="6431229" cy="496704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431280" cy="4967097"/>
            </a:xfrm>
            <a:custGeom>
              <a:avLst/>
              <a:gdLst/>
              <a:ahLst/>
              <a:cxnLst/>
              <a:rect r="r" b="b" t="t" l="l"/>
              <a:pathLst>
                <a:path h="4967097" w="6431280">
                  <a:moveTo>
                    <a:pt x="0" y="827913"/>
                  </a:moveTo>
                  <a:cubicBezTo>
                    <a:pt x="0" y="370586"/>
                    <a:pt x="370586" y="0"/>
                    <a:pt x="827913" y="0"/>
                  </a:cubicBezTo>
                  <a:lnTo>
                    <a:pt x="5603367" y="0"/>
                  </a:lnTo>
                  <a:cubicBezTo>
                    <a:pt x="6060567" y="0"/>
                    <a:pt x="6431280" y="370586"/>
                    <a:pt x="6431280" y="827913"/>
                  </a:cubicBezTo>
                  <a:lnTo>
                    <a:pt x="6431280" y="4139184"/>
                  </a:lnTo>
                  <a:cubicBezTo>
                    <a:pt x="6431280" y="4596384"/>
                    <a:pt x="6060694" y="4967097"/>
                    <a:pt x="5603367" y="4967097"/>
                  </a:cubicBezTo>
                  <a:lnTo>
                    <a:pt x="827913" y="4967097"/>
                  </a:lnTo>
                  <a:cubicBezTo>
                    <a:pt x="370713" y="4967097"/>
                    <a:pt x="0" y="4596511"/>
                    <a:pt x="0" y="4139184"/>
                  </a:cubicBezTo>
                  <a:close/>
                </a:path>
              </a:pathLst>
            </a:custGeom>
            <a:solidFill>
              <a:srgbClr val="7C3AED"/>
            </a:solidFill>
            <a:ln w="19065" cap="sq">
              <a:solidFill>
                <a:srgbClr val="8B5CF6"/>
              </a:solidFill>
              <a:prstDash val="solid"/>
              <a:miter/>
            </a:ln>
          </p:spPr>
        </p:sp>
      </p:grpSp>
      <p:sp>
        <p:nvSpPr>
          <p:cNvPr name="TextBox 20" id="20"/>
          <p:cNvSpPr txBox="true"/>
          <p:nvPr/>
        </p:nvSpPr>
        <p:spPr>
          <a:xfrm rot="0">
            <a:off x="6981996" y="4355402"/>
            <a:ext cx="4429820" cy="566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981996" y="5001682"/>
            <a:ext cx="4429820" cy="400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MySQL 8.0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981996" y="5413477"/>
            <a:ext cx="4429820" cy="400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Puerto 3306 interno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981996" y="5893918"/>
            <a:ext cx="4429820" cy="1773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13 tablas</a:t>
            </a:r>
          </a:p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Transacciones</a:t>
            </a:r>
          </a:p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FK + InnoDB</a:t>
            </a:r>
          </a:p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SELECT FOR UPDATE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1932720" y="4245750"/>
            <a:ext cx="5097951" cy="3725285"/>
            <a:chOff x="0" y="0"/>
            <a:chExt cx="6797269" cy="496704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797294" cy="4967097"/>
            </a:xfrm>
            <a:custGeom>
              <a:avLst/>
              <a:gdLst/>
              <a:ahLst/>
              <a:cxnLst/>
              <a:rect r="r" b="b" t="t" l="l"/>
              <a:pathLst>
                <a:path h="4967097" w="6797294">
                  <a:moveTo>
                    <a:pt x="0" y="827913"/>
                  </a:moveTo>
                  <a:cubicBezTo>
                    <a:pt x="0" y="370586"/>
                    <a:pt x="370586" y="0"/>
                    <a:pt x="827913" y="0"/>
                  </a:cubicBezTo>
                  <a:lnTo>
                    <a:pt x="5969381" y="0"/>
                  </a:lnTo>
                  <a:cubicBezTo>
                    <a:pt x="6426581" y="0"/>
                    <a:pt x="6797294" y="370586"/>
                    <a:pt x="6797294" y="827913"/>
                  </a:cubicBezTo>
                  <a:lnTo>
                    <a:pt x="6797294" y="4139184"/>
                  </a:lnTo>
                  <a:cubicBezTo>
                    <a:pt x="6797294" y="4596384"/>
                    <a:pt x="6426708" y="4967097"/>
                    <a:pt x="5969381" y="4967097"/>
                  </a:cubicBezTo>
                  <a:lnTo>
                    <a:pt x="827913" y="4967097"/>
                  </a:lnTo>
                  <a:cubicBezTo>
                    <a:pt x="370713" y="4967097"/>
                    <a:pt x="0" y="4596511"/>
                    <a:pt x="0" y="4139184"/>
                  </a:cubicBezTo>
                  <a:close/>
                </a:path>
              </a:pathLst>
            </a:custGeom>
            <a:solidFill>
              <a:srgbClr val="059669"/>
            </a:solidFill>
            <a:ln w="19065" cap="sq">
              <a:solidFill>
                <a:srgbClr val="10B981"/>
              </a:solidFill>
              <a:prstDash val="solid"/>
              <a:miter/>
            </a:ln>
          </p:spPr>
        </p:sp>
      </p:grpSp>
      <p:sp>
        <p:nvSpPr>
          <p:cNvPr name="TextBox 26" id="26"/>
          <p:cNvSpPr txBox="true"/>
          <p:nvPr/>
        </p:nvSpPr>
        <p:spPr>
          <a:xfrm rot="0">
            <a:off x="12129516" y="4355402"/>
            <a:ext cx="4704350" cy="566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monitor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2129516" y="5001682"/>
            <a:ext cx="4704350" cy="400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Python 3.11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2129516" y="5413477"/>
            <a:ext cx="4704350" cy="400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Daemon cada 5s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129516" y="5893918"/>
            <a:ext cx="4704350" cy="1773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5 hilos POSIX</a:t>
            </a:r>
          </a:p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threading.Lock() mutex</a:t>
            </a:r>
          </a:p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/host/proc:ro</a:t>
            </a:r>
          </a:p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CPU·RAM·Disco·Procs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363142" y="8363769"/>
            <a:ext cx="15333459" cy="842667"/>
            <a:chOff x="0" y="0"/>
            <a:chExt cx="20444612" cy="112355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0444664" cy="1123569"/>
            </a:xfrm>
            <a:custGeom>
              <a:avLst/>
              <a:gdLst/>
              <a:ahLst/>
              <a:cxnLst/>
              <a:rect r="r" b="b" t="t" l="l"/>
              <a:pathLst>
                <a:path h="1123569" w="20444664">
                  <a:moveTo>
                    <a:pt x="0" y="187325"/>
                  </a:moveTo>
                  <a:cubicBezTo>
                    <a:pt x="0" y="83820"/>
                    <a:pt x="81320" y="0"/>
                    <a:pt x="181739" y="0"/>
                  </a:cubicBezTo>
                  <a:lnTo>
                    <a:pt x="20262924" y="0"/>
                  </a:lnTo>
                  <a:cubicBezTo>
                    <a:pt x="20363219" y="0"/>
                    <a:pt x="20444664" y="83820"/>
                    <a:pt x="20444664" y="187325"/>
                  </a:cubicBezTo>
                  <a:lnTo>
                    <a:pt x="20444664" y="936244"/>
                  </a:lnTo>
                  <a:cubicBezTo>
                    <a:pt x="20444664" y="1039622"/>
                    <a:pt x="20363342" y="1123569"/>
                    <a:pt x="20262924" y="1123569"/>
                  </a:cubicBezTo>
                  <a:lnTo>
                    <a:pt x="181739" y="1123569"/>
                  </a:lnTo>
                  <a:cubicBezTo>
                    <a:pt x="81320" y="1123569"/>
                    <a:pt x="0" y="1039749"/>
                    <a:pt x="0" y="936244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F59E0B"/>
              </a:solidFill>
              <a:prstDash val="solid"/>
              <a:miter/>
            </a:ln>
          </p:spPr>
        </p:sp>
      </p:grpSp>
      <p:sp>
        <p:nvSpPr>
          <p:cNvPr name="TextBox 32" id="32"/>
          <p:cNvSpPr txBox="true"/>
          <p:nvPr/>
        </p:nvSpPr>
        <p:spPr>
          <a:xfrm rot="0">
            <a:off x="1697203" y="8492471"/>
            <a:ext cx="14999398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📂  /proc — Kernel virtual filesystem · accedido en modo solo lectura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4/18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592036"/>
            <a:ext cx="16372065" cy="897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Stack tecnológico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51338" y="2049475"/>
            <a:ext cx="4823422" cy="2352608"/>
            <a:chOff x="0" y="0"/>
            <a:chExt cx="6431229" cy="313681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431280" cy="3136900"/>
            </a:xfrm>
            <a:custGeom>
              <a:avLst/>
              <a:gdLst/>
              <a:ahLst/>
              <a:cxnLst/>
              <a:rect r="r" b="b" t="t" l="l"/>
              <a:pathLst>
                <a:path h="3136900" w="6431280">
                  <a:moveTo>
                    <a:pt x="0" y="522859"/>
                  </a:moveTo>
                  <a:cubicBezTo>
                    <a:pt x="0" y="234061"/>
                    <a:pt x="234061" y="0"/>
                    <a:pt x="522859" y="0"/>
                  </a:cubicBezTo>
                  <a:lnTo>
                    <a:pt x="5908421" y="0"/>
                  </a:lnTo>
                  <a:cubicBezTo>
                    <a:pt x="6197219" y="0"/>
                    <a:pt x="6431280" y="234061"/>
                    <a:pt x="6431280" y="522859"/>
                  </a:cubicBezTo>
                  <a:lnTo>
                    <a:pt x="6431280" y="2614041"/>
                  </a:lnTo>
                  <a:cubicBezTo>
                    <a:pt x="6431280" y="2902839"/>
                    <a:pt x="6197219" y="3136900"/>
                    <a:pt x="5908421" y="3136900"/>
                  </a:cubicBezTo>
                  <a:lnTo>
                    <a:pt x="522859" y="3136900"/>
                  </a:lnTo>
                  <a:cubicBezTo>
                    <a:pt x="234061" y="3136773"/>
                    <a:pt x="0" y="2902712"/>
                    <a:pt x="0" y="261404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285408" y="2189664"/>
            <a:ext cx="1272673" cy="878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4"/>
              </a:lnSpc>
            </a:pPr>
            <a:r>
              <a:rPr lang="en-US" sz="4503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🐧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95349" y="2296392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Ubuntu 22.04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795349" y="3011300"/>
            <a:ext cx="2782614" cy="1223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Sistema operativo base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6647926" y="2049475"/>
            <a:ext cx="4823422" cy="2352608"/>
            <a:chOff x="0" y="0"/>
            <a:chExt cx="6431229" cy="313681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31280" cy="3136900"/>
            </a:xfrm>
            <a:custGeom>
              <a:avLst/>
              <a:gdLst/>
              <a:ahLst/>
              <a:cxnLst/>
              <a:rect r="r" b="b" t="t" l="l"/>
              <a:pathLst>
                <a:path h="3136900" w="6431280">
                  <a:moveTo>
                    <a:pt x="0" y="522859"/>
                  </a:moveTo>
                  <a:cubicBezTo>
                    <a:pt x="0" y="234061"/>
                    <a:pt x="234061" y="0"/>
                    <a:pt x="522859" y="0"/>
                  </a:cubicBezTo>
                  <a:lnTo>
                    <a:pt x="5908421" y="0"/>
                  </a:lnTo>
                  <a:cubicBezTo>
                    <a:pt x="6197219" y="0"/>
                    <a:pt x="6431280" y="234061"/>
                    <a:pt x="6431280" y="522859"/>
                  </a:cubicBezTo>
                  <a:lnTo>
                    <a:pt x="6431280" y="2614041"/>
                  </a:lnTo>
                  <a:cubicBezTo>
                    <a:pt x="6431280" y="2902839"/>
                    <a:pt x="6197219" y="3136900"/>
                    <a:pt x="5908421" y="3136900"/>
                  </a:cubicBezTo>
                  <a:lnTo>
                    <a:pt x="522859" y="3136900"/>
                  </a:lnTo>
                  <a:cubicBezTo>
                    <a:pt x="234061" y="3136773"/>
                    <a:pt x="0" y="2902712"/>
                    <a:pt x="0" y="261404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6981996" y="2189664"/>
            <a:ext cx="1272673" cy="878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4"/>
              </a:lnSpc>
            </a:pPr>
            <a:r>
              <a:rPr lang="en-US" sz="4503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🐳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491938" y="2296392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Docker + Compose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491938" y="3011300"/>
            <a:ext cx="2782614" cy="1223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Containerización y orquestación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2344524" y="2049475"/>
            <a:ext cx="4823422" cy="2352608"/>
            <a:chOff x="0" y="0"/>
            <a:chExt cx="6431229" cy="3136811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431280" cy="3136900"/>
            </a:xfrm>
            <a:custGeom>
              <a:avLst/>
              <a:gdLst/>
              <a:ahLst/>
              <a:cxnLst/>
              <a:rect r="r" b="b" t="t" l="l"/>
              <a:pathLst>
                <a:path h="3136900" w="6431280">
                  <a:moveTo>
                    <a:pt x="0" y="522859"/>
                  </a:moveTo>
                  <a:cubicBezTo>
                    <a:pt x="0" y="234061"/>
                    <a:pt x="234061" y="0"/>
                    <a:pt x="522859" y="0"/>
                  </a:cubicBezTo>
                  <a:lnTo>
                    <a:pt x="5908421" y="0"/>
                  </a:lnTo>
                  <a:cubicBezTo>
                    <a:pt x="6197219" y="0"/>
                    <a:pt x="6431280" y="234061"/>
                    <a:pt x="6431280" y="522859"/>
                  </a:cubicBezTo>
                  <a:lnTo>
                    <a:pt x="6431280" y="2614041"/>
                  </a:lnTo>
                  <a:cubicBezTo>
                    <a:pt x="6431280" y="2902839"/>
                    <a:pt x="6197219" y="3136900"/>
                    <a:pt x="5908421" y="3136900"/>
                  </a:cubicBezTo>
                  <a:lnTo>
                    <a:pt x="522859" y="3136900"/>
                  </a:lnTo>
                  <a:cubicBezTo>
                    <a:pt x="234061" y="3136773"/>
                    <a:pt x="0" y="2902712"/>
                    <a:pt x="0" y="261404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EC4899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12678585" y="2189664"/>
            <a:ext cx="1272673" cy="878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4"/>
              </a:lnSpc>
            </a:pPr>
            <a:r>
              <a:rPr lang="en-US" sz="4503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🪶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4188526" y="2296392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Apache 2.4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4188526" y="3011300"/>
            <a:ext cx="2782614" cy="1223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Servidor web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951338" y="4794818"/>
            <a:ext cx="4823422" cy="2352608"/>
            <a:chOff x="0" y="0"/>
            <a:chExt cx="6431229" cy="313681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431280" cy="3136900"/>
            </a:xfrm>
            <a:custGeom>
              <a:avLst/>
              <a:gdLst/>
              <a:ahLst/>
              <a:cxnLst/>
              <a:rect r="r" b="b" t="t" l="l"/>
              <a:pathLst>
                <a:path h="3136900" w="6431280">
                  <a:moveTo>
                    <a:pt x="0" y="522859"/>
                  </a:moveTo>
                  <a:cubicBezTo>
                    <a:pt x="0" y="234061"/>
                    <a:pt x="234061" y="0"/>
                    <a:pt x="522859" y="0"/>
                  </a:cubicBezTo>
                  <a:lnTo>
                    <a:pt x="5908421" y="0"/>
                  </a:lnTo>
                  <a:cubicBezTo>
                    <a:pt x="6197219" y="0"/>
                    <a:pt x="6431280" y="234061"/>
                    <a:pt x="6431280" y="522859"/>
                  </a:cubicBezTo>
                  <a:lnTo>
                    <a:pt x="6431280" y="2614041"/>
                  </a:lnTo>
                  <a:cubicBezTo>
                    <a:pt x="6431280" y="2902839"/>
                    <a:pt x="6197219" y="3136900"/>
                    <a:pt x="5908421" y="3136900"/>
                  </a:cubicBezTo>
                  <a:lnTo>
                    <a:pt x="522859" y="3136900"/>
                  </a:lnTo>
                  <a:cubicBezTo>
                    <a:pt x="234061" y="3136773"/>
                    <a:pt x="0" y="2902712"/>
                    <a:pt x="0" y="261404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8B5CF6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1285408" y="4935007"/>
            <a:ext cx="1272673" cy="878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4"/>
              </a:lnSpc>
            </a:pPr>
            <a:r>
              <a:rPr lang="en-US" sz="4503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🐘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2795349" y="5041735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PHP 8.2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795349" y="5756653"/>
            <a:ext cx="2782614" cy="1223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Backend e-commerce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6647926" y="4794818"/>
            <a:ext cx="4823422" cy="2352608"/>
            <a:chOff x="0" y="0"/>
            <a:chExt cx="6431229" cy="3136811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431280" cy="3136900"/>
            </a:xfrm>
            <a:custGeom>
              <a:avLst/>
              <a:gdLst/>
              <a:ahLst/>
              <a:cxnLst/>
              <a:rect r="r" b="b" t="t" l="l"/>
              <a:pathLst>
                <a:path h="3136900" w="6431280">
                  <a:moveTo>
                    <a:pt x="0" y="522859"/>
                  </a:moveTo>
                  <a:cubicBezTo>
                    <a:pt x="0" y="234061"/>
                    <a:pt x="234061" y="0"/>
                    <a:pt x="522859" y="0"/>
                  </a:cubicBezTo>
                  <a:lnTo>
                    <a:pt x="5908421" y="0"/>
                  </a:lnTo>
                  <a:cubicBezTo>
                    <a:pt x="6197219" y="0"/>
                    <a:pt x="6431280" y="234061"/>
                    <a:pt x="6431280" y="522859"/>
                  </a:cubicBezTo>
                  <a:lnTo>
                    <a:pt x="6431280" y="2614041"/>
                  </a:lnTo>
                  <a:cubicBezTo>
                    <a:pt x="6431280" y="2902839"/>
                    <a:pt x="6197219" y="3136900"/>
                    <a:pt x="5908421" y="3136900"/>
                  </a:cubicBezTo>
                  <a:lnTo>
                    <a:pt x="522859" y="3136900"/>
                  </a:lnTo>
                  <a:cubicBezTo>
                    <a:pt x="234061" y="3136773"/>
                    <a:pt x="0" y="2902712"/>
                    <a:pt x="0" y="261404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8B5CF6"/>
              </a:solidFill>
              <a:prstDash val="solid"/>
              <a:miter/>
            </a:ln>
          </p:spPr>
        </p:sp>
      </p:grpSp>
      <p:sp>
        <p:nvSpPr>
          <p:cNvPr name="TextBox 27" id="27"/>
          <p:cNvSpPr txBox="true"/>
          <p:nvPr/>
        </p:nvSpPr>
        <p:spPr>
          <a:xfrm rot="0">
            <a:off x="6981996" y="4935007"/>
            <a:ext cx="1272673" cy="878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4"/>
              </a:lnSpc>
            </a:pPr>
            <a:r>
              <a:rPr lang="en-US" sz="4503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🗄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491938" y="5041735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MySQL 8.0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8491938" y="5756653"/>
            <a:ext cx="2782614" cy="1223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Base de datos persistente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2344524" y="4794818"/>
            <a:ext cx="4823422" cy="2352608"/>
            <a:chOff x="0" y="0"/>
            <a:chExt cx="6431229" cy="3136811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431280" cy="3136900"/>
            </a:xfrm>
            <a:custGeom>
              <a:avLst/>
              <a:gdLst/>
              <a:ahLst/>
              <a:cxnLst/>
              <a:rect r="r" b="b" t="t" l="l"/>
              <a:pathLst>
                <a:path h="3136900" w="6431280">
                  <a:moveTo>
                    <a:pt x="0" y="522859"/>
                  </a:moveTo>
                  <a:cubicBezTo>
                    <a:pt x="0" y="234061"/>
                    <a:pt x="234061" y="0"/>
                    <a:pt x="522859" y="0"/>
                  </a:cubicBezTo>
                  <a:lnTo>
                    <a:pt x="5908421" y="0"/>
                  </a:lnTo>
                  <a:cubicBezTo>
                    <a:pt x="6197219" y="0"/>
                    <a:pt x="6431280" y="234061"/>
                    <a:pt x="6431280" y="522859"/>
                  </a:cubicBezTo>
                  <a:lnTo>
                    <a:pt x="6431280" y="2614041"/>
                  </a:lnTo>
                  <a:cubicBezTo>
                    <a:pt x="6431280" y="2902839"/>
                    <a:pt x="6197219" y="3136900"/>
                    <a:pt x="5908421" y="3136900"/>
                  </a:cubicBezTo>
                  <a:lnTo>
                    <a:pt x="522859" y="3136900"/>
                  </a:lnTo>
                  <a:cubicBezTo>
                    <a:pt x="234061" y="3136773"/>
                    <a:pt x="0" y="2902712"/>
                    <a:pt x="0" y="261404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0B981"/>
              </a:solidFill>
              <a:prstDash val="solid"/>
              <a:miter/>
            </a:ln>
          </p:spPr>
        </p:sp>
      </p:grpSp>
      <p:sp>
        <p:nvSpPr>
          <p:cNvPr name="TextBox 32" id="32"/>
          <p:cNvSpPr txBox="true"/>
          <p:nvPr/>
        </p:nvSpPr>
        <p:spPr>
          <a:xfrm rot="0">
            <a:off x="12678585" y="4935007"/>
            <a:ext cx="1272673" cy="878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4"/>
              </a:lnSpc>
            </a:pPr>
            <a:r>
              <a:rPr lang="en-US" sz="4503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🐍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4188526" y="5041735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Python 3.11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4188526" y="5756653"/>
            <a:ext cx="2782614" cy="1223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Daemon multihilo POSIX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951338" y="7540161"/>
            <a:ext cx="4823422" cy="2352608"/>
            <a:chOff x="0" y="0"/>
            <a:chExt cx="6431229" cy="3136811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6431280" cy="3136900"/>
            </a:xfrm>
            <a:custGeom>
              <a:avLst/>
              <a:gdLst/>
              <a:ahLst/>
              <a:cxnLst/>
              <a:rect r="r" b="b" t="t" l="l"/>
              <a:pathLst>
                <a:path h="3136900" w="6431280">
                  <a:moveTo>
                    <a:pt x="0" y="522859"/>
                  </a:moveTo>
                  <a:cubicBezTo>
                    <a:pt x="0" y="234061"/>
                    <a:pt x="234061" y="0"/>
                    <a:pt x="522859" y="0"/>
                  </a:cubicBezTo>
                  <a:lnTo>
                    <a:pt x="5908421" y="0"/>
                  </a:lnTo>
                  <a:cubicBezTo>
                    <a:pt x="6197219" y="0"/>
                    <a:pt x="6431280" y="234061"/>
                    <a:pt x="6431280" y="522859"/>
                  </a:cubicBezTo>
                  <a:lnTo>
                    <a:pt x="6431280" y="2614041"/>
                  </a:lnTo>
                  <a:cubicBezTo>
                    <a:pt x="6431280" y="2902839"/>
                    <a:pt x="6197219" y="3136900"/>
                    <a:pt x="5908421" y="3136900"/>
                  </a:cubicBezTo>
                  <a:lnTo>
                    <a:pt x="522859" y="3136900"/>
                  </a:lnTo>
                  <a:cubicBezTo>
                    <a:pt x="234061" y="3136773"/>
                    <a:pt x="0" y="2902712"/>
                    <a:pt x="0" y="261404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37" id="37"/>
          <p:cNvSpPr txBox="true"/>
          <p:nvPr/>
        </p:nvSpPr>
        <p:spPr>
          <a:xfrm rot="0">
            <a:off x="1285408" y="7680350"/>
            <a:ext cx="1272673" cy="878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4"/>
              </a:lnSpc>
            </a:pPr>
            <a:r>
              <a:rPr lang="en-US" sz="4503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🎨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2795349" y="7787078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Bootstrap 5.3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2795349" y="8501996"/>
            <a:ext cx="2782614" cy="1223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Frontend responsive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6647926" y="7540161"/>
            <a:ext cx="4823422" cy="2352608"/>
            <a:chOff x="0" y="0"/>
            <a:chExt cx="6431229" cy="3136811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6431280" cy="3136900"/>
            </a:xfrm>
            <a:custGeom>
              <a:avLst/>
              <a:gdLst/>
              <a:ahLst/>
              <a:cxnLst/>
              <a:rect r="r" b="b" t="t" l="l"/>
              <a:pathLst>
                <a:path h="3136900" w="6431280">
                  <a:moveTo>
                    <a:pt x="0" y="522859"/>
                  </a:moveTo>
                  <a:cubicBezTo>
                    <a:pt x="0" y="234061"/>
                    <a:pt x="234061" y="0"/>
                    <a:pt x="522859" y="0"/>
                  </a:cubicBezTo>
                  <a:lnTo>
                    <a:pt x="5908421" y="0"/>
                  </a:lnTo>
                  <a:cubicBezTo>
                    <a:pt x="6197219" y="0"/>
                    <a:pt x="6431280" y="234061"/>
                    <a:pt x="6431280" y="522859"/>
                  </a:cubicBezTo>
                  <a:lnTo>
                    <a:pt x="6431280" y="2614041"/>
                  </a:lnTo>
                  <a:cubicBezTo>
                    <a:pt x="6431280" y="2902839"/>
                    <a:pt x="6197219" y="3136900"/>
                    <a:pt x="5908421" y="3136900"/>
                  </a:cubicBezTo>
                  <a:lnTo>
                    <a:pt x="522859" y="3136900"/>
                  </a:lnTo>
                  <a:cubicBezTo>
                    <a:pt x="234061" y="3136773"/>
                    <a:pt x="0" y="2902712"/>
                    <a:pt x="0" y="261404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F59E0B"/>
              </a:solidFill>
              <a:prstDash val="solid"/>
              <a:miter/>
            </a:ln>
          </p:spPr>
        </p:sp>
      </p:grpSp>
      <p:sp>
        <p:nvSpPr>
          <p:cNvPr name="TextBox 42" id="42"/>
          <p:cNvSpPr txBox="true"/>
          <p:nvPr/>
        </p:nvSpPr>
        <p:spPr>
          <a:xfrm rot="0">
            <a:off x="6981996" y="7680350"/>
            <a:ext cx="1272673" cy="878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4"/>
              </a:lnSpc>
            </a:pPr>
            <a:r>
              <a:rPr lang="en-US" sz="4503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☁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8491938" y="7787078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AWS EC2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8491938" y="8501996"/>
            <a:ext cx="2782614" cy="1223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Cloud hosting (Free Tier)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12344524" y="7540161"/>
            <a:ext cx="4823422" cy="2352608"/>
            <a:chOff x="0" y="0"/>
            <a:chExt cx="6431229" cy="3136811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6431280" cy="3136900"/>
            </a:xfrm>
            <a:custGeom>
              <a:avLst/>
              <a:gdLst/>
              <a:ahLst/>
              <a:cxnLst/>
              <a:rect r="r" b="b" t="t" l="l"/>
              <a:pathLst>
                <a:path h="3136900" w="6431280">
                  <a:moveTo>
                    <a:pt x="0" y="522859"/>
                  </a:moveTo>
                  <a:cubicBezTo>
                    <a:pt x="0" y="234061"/>
                    <a:pt x="234061" y="0"/>
                    <a:pt x="522859" y="0"/>
                  </a:cubicBezTo>
                  <a:lnTo>
                    <a:pt x="5908421" y="0"/>
                  </a:lnTo>
                  <a:cubicBezTo>
                    <a:pt x="6197219" y="0"/>
                    <a:pt x="6431280" y="234061"/>
                    <a:pt x="6431280" y="522859"/>
                  </a:cubicBezTo>
                  <a:lnTo>
                    <a:pt x="6431280" y="2614041"/>
                  </a:lnTo>
                  <a:cubicBezTo>
                    <a:pt x="6431280" y="2902839"/>
                    <a:pt x="6197219" y="3136900"/>
                    <a:pt x="5908421" y="3136900"/>
                  </a:cubicBezTo>
                  <a:lnTo>
                    <a:pt x="522859" y="3136900"/>
                  </a:lnTo>
                  <a:cubicBezTo>
                    <a:pt x="234061" y="3136773"/>
                    <a:pt x="0" y="2902712"/>
                    <a:pt x="0" y="261404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94A3B8"/>
              </a:solidFill>
              <a:prstDash val="solid"/>
              <a:miter/>
            </a:ln>
          </p:spPr>
        </p:sp>
      </p:grpSp>
      <p:sp>
        <p:nvSpPr>
          <p:cNvPr name="TextBox 47" id="47"/>
          <p:cNvSpPr txBox="true"/>
          <p:nvPr/>
        </p:nvSpPr>
        <p:spPr>
          <a:xfrm rot="0">
            <a:off x="12678585" y="7680350"/>
            <a:ext cx="1272673" cy="878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4"/>
              </a:lnSpc>
            </a:pPr>
            <a:r>
              <a:rPr lang="en-US" sz="4503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🐙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4188526" y="7787078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GitHub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4188526" y="8501996"/>
            <a:ext cx="2782614" cy="1223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Versionado público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5/18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592036"/>
            <a:ext cx="16372065" cy="897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Conceptos de SO aplicados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10869" y="1550946"/>
            <a:ext cx="16372065" cy="5566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Cumplimiento de aspectos técnicos del Anexo 03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51338" y="2461279"/>
            <a:ext cx="7980569" cy="2764412"/>
            <a:chOff x="0" y="0"/>
            <a:chExt cx="10640758" cy="368588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640695" cy="3685794"/>
            </a:xfrm>
            <a:custGeom>
              <a:avLst/>
              <a:gdLst/>
              <a:ahLst/>
              <a:cxnLst/>
              <a:rect r="r" b="b" t="t" l="l"/>
              <a:pathLst>
                <a:path h="3685794" w="10640695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10026396" y="0"/>
                  </a:lnTo>
                  <a:cubicBezTo>
                    <a:pt x="10365739" y="0"/>
                    <a:pt x="10640695" y="275082"/>
                    <a:pt x="10640695" y="614299"/>
                  </a:cubicBezTo>
                  <a:lnTo>
                    <a:pt x="10640695" y="3071495"/>
                  </a:lnTo>
                  <a:cubicBezTo>
                    <a:pt x="10640695" y="3410839"/>
                    <a:pt x="10365613" y="3685794"/>
                    <a:pt x="10026396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0B981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1285408" y="2649083"/>
            <a:ext cx="7312428" cy="6253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 b="true">
                <a:solidFill>
                  <a:srgbClr val="10B981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Procesos y Hilos POSIX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85408" y="3413579"/>
            <a:ext cx="7312428" cy="684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onsolas"/>
                <a:ea typeface="Consolas"/>
                <a:cs typeface="Consolas"/>
                <a:sym typeface="Consolas"/>
              </a:rPr>
              <a:t>5 hilos en monitor.py con threading.Thread()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85408" y="4246712"/>
            <a:ext cx="7312428" cy="674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pthread_create() vía NPTL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9393269" y="2461279"/>
            <a:ext cx="7980569" cy="2764412"/>
            <a:chOff x="0" y="0"/>
            <a:chExt cx="10640758" cy="3685883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640695" cy="3685794"/>
            </a:xfrm>
            <a:custGeom>
              <a:avLst/>
              <a:gdLst/>
              <a:ahLst/>
              <a:cxnLst/>
              <a:rect r="r" b="b" t="t" l="l"/>
              <a:pathLst>
                <a:path h="3685794" w="10640695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10026396" y="0"/>
                  </a:lnTo>
                  <a:cubicBezTo>
                    <a:pt x="10365739" y="0"/>
                    <a:pt x="10640695" y="275082"/>
                    <a:pt x="10640695" y="614299"/>
                  </a:cubicBezTo>
                  <a:lnTo>
                    <a:pt x="10640695" y="3071495"/>
                  </a:lnTo>
                  <a:cubicBezTo>
                    <a:pt x="10640695" y="3410839"/>
                    <a:pt x="10365613" y="3685794"/>
                    <a:pt x="10026396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EC4899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9727340" y="2649083"/>
            <a:ext cx="7312428" cy="6253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 b="true">
                <a:solidFill>
                  <a:srgbClr val="EC489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Sincronización (mutex)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727340" y="3413579"/>
            <a:ext cx="7312428" cy="684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onsolas"/>
                <a:ea typeface="Consolas"/>
                <a:cs typeface="Consolas"/>
                <a:sym typeface="Consolas"/>
              </a:rPr>
              <a:t>threading.Lock() en sección crítica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727340" y="4246712"/>
            <a:ext cx="7312428" cy="674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Evita race conditions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951338" y="5481161"/>
            <a:ext cx="7980569" cy="2764412"/>
            <a:chOff x="0" y="0"/>
            <a:chExt cx="10640758" cy="3685883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640695" cy="3685794"/>
            </a:xfrm>
            <a:custGeom>
              <a:avLst/>
              <a:gdLst/>
              <a:ahLst/>
              <a:cxnLst/>
              <a:rect r="r" b="b" t="t" l="l"/>
              <a:pathLst>
                <a:path h="3685794" w="10640695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10026396" y="0"/>
                  </a:lnTo>
                  <a:cubicBezTo>
                    <a:pt x="10365739" y="0"/>
                    <a:pt x="10640695" y="275082"/>
                    <a:pt x="10640695" y="614299"/>
                  </a:cubicBezTo>
                  <a:lnTo>
                    <a:pt x="10640695" y="3071495"/>
                  </a:lnTo>
                  <a:cubicBezTo>
                    <a:pt x="10640695" y="3410839"/>
                    <a:pt x="10365613" y="3685794"/>
                    <a:pt x="10026396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F59E0B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1285408" y="5668966"/>
            <a:ext cx="7312428" cy="6253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 b="true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/proc — kernel virtual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85408" y="6433461"/>
            <a:ext cx="7312428" cy="684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onsolas"/>
                <a:ea typeface="Consolas"/>
                <a:cs typeface="Consolas"/>
                <a:sym typeface="Consolas"/>
              </a:rPr>
              <a:t>/proc/stat, /proc/meminfo, /proc/[pid]/status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85408" y="7266584"/>
            <a:ext cx="7312428" cy="674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Sin penalización I/O real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9393269" y="5481161"/>
            <a:ext cx="7980569" cy="2764412"/>
            <a:chOff x="0" y="0"/>
            <a:chExt cx="10640758" cy="3685883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640695" cy="3685794"/>
            </a:xfrm>
            <a:custGeom>
              <a:avLst/>
              <a:gdLst/>
              <a:ahLst/>
              <a:cxnLst/>
              <a:rect r="r" b="b" t="t" l="l"/>
              <a:pathLst>
                <a:path h="3685794" w="10640695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10026396" y="0"/>
                  </a:lnTo>
                  <a:cubicBezTo>
                    <a:pt x="10365739" y="0"/>
                    <a:pt x="10640695" y="275082"/>
                    <a:pt x="10640695" y="614299"/>
                  </a:cubicBezTo>
                  <a:lnTo>
                    <a:pt x="10640695" y="3071495"/>
                  </a:lnTo>
                  <a:cubicBezTo>
                    <a:pt x="10640695" y="3410839"/>
                    <a:pt x="10365613" y="3685794"/>
                    <a:pt x="10026396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23" id="23"/>
          <p:cNvSpPr txBox="true"/>
          <p:nvPr/>
        </p:nvSpPr>
        <p:spPr>
          <a:xfrm rot="0">
            <a:off x="9727340" y="5668966"/>
            <a:ext cx="7312428" cy="6253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Syscall statvfs()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727340" y="6433461"/>
            <a:ext cx="7312428" cy="684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onsolas"/>
                <a:ea typeface="Consolas"/>
                <a:cs typeface="Consolas"/>
                <a:sym typeface="Consolas"/>
              </a:rPr>
              <a:t>os.statvfs('/') para uso de disco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727340" y="7266584"/>
            <a:ext cx="7312428" cy="674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Modo kernel ↔ usuario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6/18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620611"/>
            <a:ext cx="16372065" cy="869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Implementación del Monitor SO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10869" y="1482319"/>
            <a:ext cx="16372065" cy="5566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Núcleo de monitor.py con hilos POSIX y mutex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51338" y="2461279"/>
            <a:ext cx="16491137" cy="6882432"/>
            <a:chOff x="0" y="0"/>
            <a:chExt cx="21988183" cy="91765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88146" cy="9176512"/>
            </a:xfrm>
            <a:custGeom>
              <a:avLst/>
              <a:gdLst/>
              <a:ahLst/>
              <a:cxnLst/>
              <a:rect r="r" b="b" t="t" l="l"/>
              <a:pathLst>
                <a:path h="9176512" w="21988146">
                  <a:moveTo>
                    <a:pt x="0" y="1529461"/>
                  </a:moveTo>
                  <a:cubicBezTo>
                    <a:pt x="0" y="684784"/>
                    <a:pt x="684784" y="0"/>
                    <a:pt x="1529461" y="0"/>
                  </a:cubicBezTo>
                  <a:lnTo>
                    <a:pt x="20458685" y="0"/>
                  </a:lnTo>
                  <a:cubicBezTo>
                    <a:pt x="21303362" y="0"/>
                    <a:pt x="21988146" y="684784"/>
                    <a:pt x="21988146" y="1529461"/>
                  </a:cubicBezTo>
                  <a:lnTo>
                    <a:pt x="21988146" y="7647051"/>
                  </a:lnTo>
                  <a:cubicBezTo>
                    <a:pt x="21988146" y="8491728"/>
                    <a:pt x="21303362" y="9176512"/>
                    <a:pt x="20458685" y="9176512"/>
                  </a:cubicBezTo>
                  <a:lnTo>
                    <a:pt x="1529461" y="9176512"/>
                  </a:lnTo>
                  <a:cubicBezTo>
                    <a:pt x="684784" y="9176512"/>
                    <a:pt x="0" y="8491855"/>
                    <a:pt x="0" y="7647051"/>
                  </a:cubicBezTo>
                  <a:close/>
                </a:path>
              </a:pathLst>
            </a:custGeom>
            <a:solidFill>
              <a:srgbClr val="050812"/>
            </a:solidFill>
            <a:ln w="19065" cap="sq">
              <a:solidFill>
                <a:srgbClr val="1E293B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1326842" y="2762488"/>
            <a:ext cx="15740120" cy="6388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import threading, time, os</a:t>
            </a:r>
          </a:p>
          <a:p>
            <a:pPr algn="l">
              <a:lnSpc>
                <a:spcPts val="1981"/>
              </a:lnSpc>
            </a:pP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metrics = {}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metrics_lock = threading.Lock()      # ⚙ MUTEX POSIX</a:t>
            </a:r>
          </a:p>
          <a:p>
            <a:pPr algn="l">
              <a:lnSpc>
                <a:spcPts val="1981"/>
              </a:lnSpc>
            </a:pP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def read_cpu():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    with open('/host/proc/stat') as f:    # 📂 /proc del kernel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        ... cálculo de %CPU ...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    with metrics_lock:                # 🔒 SECCIÓN CRÍTICA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        metrics['cpu'] = cpu_pct</a:t>
            </a:r>
          </a:p>
          <a:p>
            <a:pPr algn="l">
              <a:lnSpc>
                <a:spcPts val="1981"/>
              </a:lnSpc>
            </a:pP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def read_disk():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    st = os.statvfs('/')              # ⚡ SYSCALL statvfs()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    with metrics_lock: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        metrics['disk'] = (st.f_blocks - st.f_bfree) * 100 / st.f_blocks</a:t>
            </a:r>
          </a:p>
          <a:p>
            <a:pPr algn="l">
              <a:lnSpc>
                <a:spcPts val="1981"/>
              </a:lnSpc>
            </a:pP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def collect_cycle():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    # 🧵 5 HILOS POSIX CONCURRENTES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    threads = [threading.Thread(target=fn)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               for fn in [read_cpu, read_memory, read_disk,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                          read_loadavg, read_processes]]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    for t in threads: t.start()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    for t in threads: t.join(timeout=4)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    save_to_db(metrics)               # 💾 Persistencia</a:t>
            </a:r>
          </a:p>
          <a:p>
            <a:pPr algn="l">
              <a:lnSpc>
                <a:spcPts val="1981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7/18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620611"/>
            <a:ext cx="16372065" cy="869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Implementación funcional del e-commerce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10869" y="1560471"/>
            <a:ext cx="16372065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Cumplimiento de criterio 2 de la rúbrica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51338" y="2598544"/>
            <a:ext cx="4823422" cy="3176216"/>
            <a:chOff x="0" y="0"/>
            <a:chExt cx="6431229" cy="423495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1285408" y="2788310"/>
            <a:ext cx="1272673" cy="1035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👤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795349" y="2914098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Usuarios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85408" y="4099922"/>
            <a:ext cx="4155281" cy="150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Registro, login, roles cliente/admin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bcrypt + sesiones HttpOnly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647926" y="2598544"/>
            <a:ext cx="4823422" cy="3176216"/>
            <a:chOff x="0" y="0"/>
            <a:chExt cx="6431229" cy="423495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8B5CF6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6981996" y="2788310"/>
            <a:ext cx="1272673" cy="1035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🛍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491938" y="2914098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Catálogo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981996" y="4099922"/>
            <a:ext cx="4155281" cy="150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24 productos · 6 categorías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Búsqueda + filtros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2344524" y="2598544"/>
            <a:ext cx="4823422" cy="3176216"/>
            <a:chOff x="0" y="0"/>
            <a:chExt cx="6431229" cy="423495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0B981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12678585" y="2788310"/>
            <a:ext cx="1272673" cy="1035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🛒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4188526" y="2914098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Carrito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678585" y="4099922"/>
            <a:ext cx="4155281" cy="150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Persistente con AJAX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Update, remove sin recargar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951338" y="6030230"/>
            <a:ext cx="4823422" cy="3176216"/>
            <a:chOff x="0" y="0"/>
            <a:chExt cx="6431229" cy="423495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F59E0B"/>
              </a:solidFill>
              <a:prstDash val="solid"/>
              <a:miter/>
            </a:ln>
          </p:spPr>
        </p:sp>
      </p:grpSp>
      <p:sp>
        <p:nvSpPr>
          <p:cNvPr name="TextBox 23" id="23"/>
          <p:cNvSpPr txBox="true"/>
          <p:nvPr/>
        </p:nvSpPr>
        <p:spPr>
          <a:xfrm rot="0">
            <a:off x="1285408" y="6219996"/>
            <a:ext cx="1272673" cy="1035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💳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795349" y="6345774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Checkout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85408" y="7531598"/>
            <a:ext cx="4155281" cy="150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Transaccional con BEGIN/COMMIT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SELECT FOR UPDATE pesimista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6647926" y="6030230"/>
            <a:ext cx="4823422" cy="3176216"/>
            <a:chOff x="0" y="0"/>
            <a:chExt cx="6431229" cy="423495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EC4899"/>
              </a:solidFill>
              <a:prstDash val="solid"/>
              <a:miter/>
            </a:ln>
          </p:spPr>
        </p:sp>
      </p:grpSp>
      <p:sp>
        <p:nvSpPr>
          <p:cNvPr name="TextBox 28" id="28"/>
          <p:cNvSpPr txBox="true"/>
          <p:nvPr/>
        </p:nvSpPr>
        <p:spPr>
          <a:xfrm rot="0">
            <a:off x="6981996" y="6219996"/>
            <a:ext cx="1272673" cy="1035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📊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8491938" y="6345774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Panel Admin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981996" y="7531598"/>
            <a:ext cx="4155281" cy="150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10 KPIs · 4 tabs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Usuarios, pedidos, top productos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12344524" y="6030230"/>
            <a:ext cx="4823422" cy="3176216"/>
            <a:chOff x="0" y="0"/>
            <a:chExt cx="6431229" cy="4234955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0B981"/>
              </a:solidFill>
              <a:prstDash val="solid"/>
              <a:miter/>
            </a:ln>
          </p:spPr>
        </p:sp>
      </p:grpSp>
      <p:sp>
        <p:nvSpPr>
          <p:cNvPr name="TextBox 33" id="33"/>
          <p:cNvSpPr txBox="true"/>
          <p:nvPr/>
        </p:nvSpPr>
        <p:spPr>
          <a:xfrm rot="0">
            <a:off x="12678585" y="6219996"/>
            <a:ext cx="1272673" cy="1035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📡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4188526" y="6345774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Monitor SO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2678585" y="7531598"/>
            <a:ext cx="4155281" cy="150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CPU·RAM·Disco·Procesos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Gráficas en tiempo real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8/18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60872" y="686333"/>
            <a:ext cx="2470814" cy="549069"/>
            <a:chOff x="0" y="0"/>
            <a:chExt cx="3294418" cy="73209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294380" cy="732155"/>
            </a:xfrm>
            <a:custGeom>
              <a:avLst/>
              <a:gdLst/>
              <a:ahLst/>
              <a:cxnLst/>
              <a:rect r="r" b="b" t="t" l="l"/>
              <a:pathLst>
                <a:path h="732155" w="3294380">
                  <a:moveTo>
                    <a:pt x="0" y="122047"/>
                  </a:moveTo>
                  <a:cubicBezTo>
                    <a:pt x="0" y="54610"/>
                    <a:pt x="54610" y="0"/>
                    <a:pt x="122047" y="0"/>
                  </a:cubicBezTo>
                  <a:lnTo>
                    <a:pt x="3172333" y="0"/>
                  </a:lnTo>
                  <a:cubicBezTo>
                    <a:pt x="3239770" y="0"/>
                    <a:pt x="3294380" y="54610"/>
                    <a:pt x="3294380" y="122047"/>
                  </a:cubicBezTo>
                  <a:lnTo>
                    <a:pt x="3294380" y="610108"/>
                  </a:lnTo>
                  <a:cubicBezTo>
                    <a:pt x="3294380" y="677545"/>
                    <a:pt x="3239770" y="732155"/>
                    <a:pt x="3172333" y="732155"/>
                  </a:cubicBezTo>
                  <a:lnTo>
                    <a:pt x="122047" y="732155"/>
                  </a:lnTo>
                  <a:cubicBezTo>
                    <a:pt x="54610" y="732155"/>
                    <a:pt x="0" y="677418"/>
                    <a:pt x="0" y="610108"/>
                  </a:cubicBezTo>
                  <a:close/>
                </a:path>
              </a:pathLst>
            </a:custGeom>
            <a:solidFill>
              <a:srgbClr val="EC4899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3294418" cy="7606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🆕 NUEVO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3756212" y="483346"/>
            <a:ext cx="13626722" cy="869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EC489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Módulo de Social Commerce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10869" y="1423206"/>
            <a:ext cx="16372065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Cumplimiento explícito de "redes sociales" + Shop the Post de la rúbrica nueva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51338" y="2461279"/>
            <a:ext cx="4823422" cy="3176216"/>
            <a:chOff x="0" y="0"/>
            <a:chExt cx="6431229" cy="423495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EC4899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285408" y="2651046"/>
            <a:ext cx="1272673" cy="1035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❤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795349" y="2776823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Likes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85408" y="3962648"/>
            <a:ext cx="4155281" cy="150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Toggle con transacción anti-race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Contador en tiempo real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6647926" y="2461279"/>
            <a:ext cx="4823422" cy="3176216"/>
            <a:chOff x="0" y="0"/>
            <a:chExt cx="6431229" cy="423495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F59E0B"/>
              </a:solidFill>
              <a:prstDash val="solid"/>
              <a:miter/>
            </a:ln>
          </p:spPr>
        </p:sp>
      </p:grpSp>
      <p:sp>
        <p:nvSpPr>
          <p:cNvPr name="TextBox 16" id="16"/>
          <p:cNvSpPr txBox="true"/>
          <p:nvPr/>
        </p:nvSpPr>
        <p:spPr>
          <a:xfrm rot="0">
            <a:off x="6981996" y="2651046"/>
            <a:ext cx="1272673" cy="1035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⭐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8491938" y="2776823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Reseñas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981996" y="3962648"/>
            <a:ext cx="4155281" cy="150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Rating 1-5 estrellas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Validación de longitud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2344524" y="2461279"/>
            <a:ext cx="4823422" cy="3176216"/>
            <a:chOff x="0" y="0"/>
            <a:chExt cx="6431229" cy="4234955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8B5CF6"/>
              </a:solidFill>
              <a:prstDash val="solid"/>
              <a:miter/>
            </a:ln>
          </p:spPr>
        </p:sp>
      </p:grpSp>
      <p:sp>
        <p:nvSpPr>
          <p:cNvPr name="TextBox 21" id="21"/>
          <p:cNvSpPr txBox="true"/>
          <p:nvPr/>
        </p:nvSpPr>
        <p:spPr>
          <a:xfrm rot="0">
            <a:off x="12678585" y="2651046"/>
            <a:ext cx="1272673" cy="1035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📢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4188526" y="2776823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Publicaciones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678585" y="3962648"/>
            <a:ext cx="4155281" cy="150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Posts con título + contenido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Usuario autenticado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951338" y="6030230"/>
            <a:ext cx="4823422" cy="3176216"/>
            <a:chOff x="0" y="0"/>
            <a:chExt cx="6431229" cy="4234955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26" id="26"/>
          <p:cNvSpPr txBox="true"/>
          <p:nvPr/>
        </p:nvSpPr>
        <p:spPr>
          <a:xfrm rot="0">
            <a:off x="1285408" y="6219996"/>
            <a:ext cx="1272673" cy="1035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🛍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795349" y="6345774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Shop the Post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285408" y="7531598"/>
            <a:ext cx="4155281" cy="150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Etiquetar producto en post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Compra directa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6647926" y="6030230"/>
            <a:ext cx="4823422" cy="3176216"/>
            <a:chOff x="0" y="0"/>
            <a:chExt cx="6431229" cy="4234955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EC4899"/>
              </a:solidFill>
              <a:prstDash val="solid"/>
              <a:miter/>
            </a:ln>
          </p:spPr>
        </p:sp>
      </p:grpSp>
      <p:sp>
        <p:nvSpPr>
          <p:cNvPr name="TextBox 31" id="31"/>
          <p:cNvSpPr txBox="true"/>
          <p:nvPr/>
        </p:nvSpPr>
        <p:spPr>
          <a:xfrm rot="0">
            <a:off x="6981996" y="6219996"/>
            <a:ext cx="1272673" cy="1035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🔥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8491938" y="6345774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Productos populares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6981996" y="7531598"/>
            <a:ext cx="4155281" cy="150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Top 6 por likes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Sección en landing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12344524" y="6030230"/>
            <a:ext cx="4823422" cy="3176216"/>
            <a:chOff x="0" y="0"/>
            <a:chExt cx="6431229" cy="4234955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0B981"/>
              </a:solidFill>
              <a:prstDash val="solid"/>
              <a:miter/>
            </a:ln>
          </p:spPr>
        </p:sp>
      </p:grpSp>
      <p:sp>
        <p:nvSpPr>
          <p:cNvPr name="TextBox 36" id="36"/>
          <p:cNvSpPr txBox="true"/>
          <p:nvPr/>
        </p:nvSpPr>
        <p:spPr>
          <a:xfrm rot="0">
            <a:off x="12678585" y="6219996"/>
            <a:ext cx="1272673" cy="1035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📈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4188526" y="6345774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KPIs sociales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2678585" y="7531598"/>
            <a:ext cx="4155281" cy="150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Métricas en admin panel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Likes·reseñas·posts·rating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9/18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592036"/>
            <a:ext cx="16372065" cy="897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Modelo de datos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10869" y="1550946"/>
            <a:ext cx="16372065" cy="5566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13 tablas en 4 bloques · MySQL 8.0 InnoDB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51338" y="2598544"/>
            <a:ext cx="4137079" cy="6470628"/>
            <a:chOff x="0" y="0"/>
            <a:chExt cx="5516105" cy="862750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516118" cy="8627491"/>
            </a:xfrm>
            <a:custGeom>
              <a:avLst/>
              <a:gdLst/>
              <a:ahLst/>
              <a:cxnLst/>
              <a:rect r="r" b="b" t="t" l="l"/>
              <a:pathLst>
                <a:path h="8627491" w="5516118">
                  <a:moveTo>
                    <a:pt x="0" y="919353"/>
                  </a:moveTo>
                  <a:cubicBezTo>
                    <a:pt x="0" y="411607"/>
                    <a:pt x="411607" y="0"/>
                    <a:pt x="919353" y="0"/>
                  </a:cubicBezTo>
                  <a:lnTo>
                    <a:pt x="4596765" y="0"/>
                  </a:lnTo>
                  <a:cubicBezTo>
                    <a:pt x="5104511" y="0"/>
                    <a:pt x="5516118" y="411607"/>
                    <a:pt x="5516118" y="919353"/>
                  </a:cubicBezTo>
                  <a:lnTo>
                    <a:pt x="5516118" y="7708138"/>
                  </a:lnTo>
                  <a:cubicBezTo>
                    <a:pt x="5516118" y="8215884"/>
                    <a:pt x="5104511" y="8627491"/>
                    <a:pt x="4596765" y="8627491"/>
                  </a:cubicBezTo>
                  <a:lnTo>
                    <a:pt x="919353" y="8627491"/>
                  </a:lnTo>
                  <a:cubicBezTo>
                    <a:pt x="411607" y="8627491"/>
                    <a:pt x="0" y="8215884"/>
                    <a:pt x="0" y="7708138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1216771" y="2864510"/>
            <a:ext cx="3606213" cy="684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BLOQUE A · Usuarios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228258" y="3767699"/>
            <a:ext cx="3583248" cy="632003"/>
            <a:chOff x="0" y="0"/>
            <a:chExt cx="4777664" cy="84267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777740" cy="842645"/>
            </a:xfrm>
            <a:custGeom>
              <a:avLst/>
              <a:gdLst/>
              <a:ahLst/>
              <a:cxnLst/>
              <a:rect r="r" b="b" t="t" l="l"/>
              <a:pathLst>
                <a:path h="842645" w="4777740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4637278" y="0"/>
                  </a:lnTo>
                  <a:cubicBezTo>
                    <a:pt x="4714875" y="0"/>
                    <a:pt x="4777740" y="62865"/>
                    <a:pt x="4777740" y="140462"/>
                  </a:cubicBezTo>
                  <a:lnTo>
                    <a:pt x="4777740" y="702183"/>
                  </a:lnTo>
                  <a:cubicBezTo>
                    <a:pt x="4777740" y="779780"/>
                    <a:pt x="4714875" y="842645"/>
                    <a:pt x="4637278" y="842645"/>
                  </a:cubicBezTo>
                  <a:lnTo>
                    <a:pt x="140462" y="842645"/>
                  </a:lnTo>
                  <a:cubicBezTo>
                    <a:pt x="62865" y="842645"/>
                    <a:pt x="0" y="779780"/>
                    <a:pt x="0" y="702183"/>
                  </a:cubicBezTo>
                  <a:close/>
                </a:path>
              </a:pathLst>
            </a:custGeom>
            <a:solidFill>
              <a:srgbClr val="0F172A"/>
            </a:solidFill>
            <a:ln w="14299" cap="sq">
              <a:solidFill>
                <a:srgbClr val="334455"/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28575"/>
              <a:ext cx="4777664" cy="8712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>
                  <a:solidFill>
                    <a:srgbClr val="F1F5F9"/>
                  </a:solidFill>
                  <a:latin typeface="Consolas"/>
                  <a:ea typeface="Consolas"/>
                  <a:cs typeface="Consolas"/>
                  <a:sym typeface="Consolas"/>
                </a:rPr>
                <a:t>usuarios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5275259" y="2598544"/>
            <a:ext cx="4137079" cy="6470628"/>
            <a:chOff x="0" y="0"/>
            <a:chExt cx="5516105" cy="862750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516118" cy="8627491"/>
            </a:xfrm>
            <a:custGeom>
              <a:avLst/>
              <a:gdLst/>
              <a:ahLst/>
              <a:cxnLst/>
              <a:rect r="r" b="b" t="t" l="l"/>
              <a:pathLst>
                <a:path h="8627491" w="5516118">
                  <a:moveTo>
                    <a:pt x="0" y="919353"/>
                  </a:moveTo>
                  <a:cubicBezTo>
                    <a:pt x="0" y="411607"/>
                    <a:pt x="411607" y="0"/>
                    <a:pt x="919353" y="0"/>
                  </a:cubicBezTo>
                  <a:lnTo>
                    <a:pt x="4596765" y="0"/>
                  </a:lnTo>
                  <a:cubicBezTo>
                    <a:pt x="5104511" y="0"/>
                    <a:pt x="5516118" y="411607"/>
                    <a:pt x="5516118" y="919353"/>
                  </a:cubicBezTo>
                  <a:lnTo>
                    <a:pt x="5516118" y="7708138"/>
                  </a:lnTo>
                  <a:cubicBezTo>
                    <a:pt x="5516118" y="8215884"/>
                    <a:pt x="5104511" y="8627491"/>
                    <a:pt x="4596765" y="8627491"/>
                  </a:cubicBezTo>
                  <a:lnTo>
                    <a:pt x="919353" y="8627491"/>
                  </a:lnTo>
                  <a:cubicBezTo>
                    <a:pt x="411607" y="8627491"/>
                    <a:pt x="0" y="8215884"/>
                    <a:pt x="0" y="7708138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8B5CF6"/>
              </a:solidFill>
              <a:prstDash val="solid"/>
              <a:miter/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5540692" y="2864510"/>
            <a:ext cx="3606213" cy="684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8B5C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BLOQUE B · E-commerce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5552170" y="3767699"/>
            <a:ext cx="3583248" cy="632003"/>
            <a:chOff x="0" y="0"/>
            <a:chExt cx="4777664" cy="84267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777740" cy="842645"/>
            </a:xfrm>
            <a:custGeom>
              <a:avLst/>
              <a:gdLst/>
              <a:ahLst/>
              <a:cxnLst/>
              <a:rect r="r" b="b" t="t" l="l"/>
              <a:pathLst>
                <a:path h="842645" w="4777740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4637278" y="0"/>
                  </a:lnTo>
                  <a:cubicBezTo>
                    <a:pt x="4714875" y="0"/>
                    <a:pt x="4777740" y="62865"/>
                    <a:pt x="4777740" y="140462"/>
                  </a:cubicBezTo>
                  <a:lnTo>
                    <a:pt x="4777740" y="702183"/>
                  </a:lnTo>
                  <a:cubicBezTo>
                    <a:pt x="4777740" y="779780"/>
                    <a:pt x="4714875" y="842645"/>
                    <a:pt x="4637278" y="842645"/>
                  </a:cubicBezTo>
                  <a:lnTo>
                    <a:pt x="140462" y="842645"/>
                  </a:lnTo>
                  <a:cubicBezTo>
                    <a:pt x="62865" y="842645"/>
                    <a:pt x="0" y="779780"/>
                    <a:pt x="0" y="702183"/>
                  </a:cubicBezTo>
                  <a:close/>
                </a:path>
              </a:pathLst>
            </a:custGeom>
            <a:solidFill>
              <a:srgbClr val="0F172A"/>
            </a:solidFill>
            <a:ln w="14299" cap="sq">
              <a:solidFill>
                <a:srgbClr val="334455"/>
              </a:solidFill>
              <a:prstDash val="solid"/>
              <a:miter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28575"/>
              <a:ext cx="4777664" cy="8712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>
                  <a:solidFill>
                    <a:srgbClr val="F1F5F9"/>
                  </a:solidFill>
                  <a:latin typeface="Consolas"/>
                  <a:ea typeface="Consolas"/>
                  <a:cs typeface="Consolas"/>
                  <a:sym typeface="Consolas"/>
                </a:rPr>
                <a:t>categorias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5552170" y="4522670"/>
            <a:ext cx="3583248" cy="632003"/>
            <a:chOff x="0" y="0"/>
            <a:chExt cx="4777664" cy="84267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777740" cy="842645"/>
            </a:xfrm>
            <a:custGeom>
              <a:avLst/>
              <a:gdLst/>
              <a:ahLst/>
              <a:cxnLst/>
              <a:rect r="r" b="b" t="t" l="l"/>
              <a:pathLst>
                <a:path h="842645" w="4777740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4637278" y="0"/>
                  </a:lnTo>
                  <a:cubicBezTo>
                    <a:pt x="4714875" y="0"/>
                    <a:pt x="4777740" y="62865"/>
                    <a:pt x="4777740" y="140462"/>
                  </a:cubicBezTo>
                  <a:lnTo>
                    <a:pt x="4777740" y="702183"/>
                  </a:lnTo>
                  <a:cubicBezTo>
                    <a:pt x="4777740" y="779780"/>
                    <a:pt x="4714875" y="842645"/>
                    <a:pt x="4637278" y="842645"/>
                  </a:cubicBezTo>
                  <a:lnTo>
                    <a:pt x="140462" y="842645"/>
                  </a:lnTo>
                  <a:cubicBezTo>
                    <a:pt x="62865" y="842645"/>
                    <a:pt x="0" y="779780"/>
                    <a:pt x="0" y="702183"/>
                  </a:cubicBezTo>
                  <a:close/>
                </a:path>
              </a:pathLst>
            </a:custGeom>
            <a:solidFill>
              <a:srgbClr val="0F172A"/>
            </a:solidFill>
            <a:ln w="14299" cap="sq">
              <a:solidFill>
                <a:srgbClr val="334455"/>
              </a:soli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28575"/>
              <a:ext cx="4777664" cy="8712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>
                  <a:solidFill>
                    <a:srgbClr val="F1F5F9"/>
                  </a:solidFill>
                  <a:latin typeface="Consolas"/>
                  <a:ea typeface="Consolas"/>
                  <a:cs typeface="Consolas"/>
                  <a:sym typeface="Consolas"/>
                </a:rPr>
                <a:t>productos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5552170" y="5277641"/>
            <a:ext cx="3583248" cy="632003"/>
            <a:chOff x="0" y="0"/>
            <a:chExt cx="4777664" cy="84267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4777740" cy="842645"/>
            </a:xfrm>
            <a:custGeom>
              <a:avLst/>
              <a:gdLst/>
              <a:ahLst/>
              <a:cxnLst/>
              <a:rect r="r" b="b" t="t" l="l"/>
              <a:pathLst>
                <a:path h="842645" w="4777740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4637278" y="0"/>
                  </a:lnTo>
                  <a:cubicBezTo>
                    <a:pt x="4714875" y="0"/>
                    <a:pt x="4777740" y="62865"/>
                    <a:pt x="4777740" y="140462"/>
                  </a:cubicBezTo>
                  <a:lnTo>
                    <a:pt x="4777740" y="702183"/>
                  </a:lnTo>
                  <a:cubicBezTo>
                    <a:pt x="4777740" y="779780"/>
                    <a:pt x="4714875" y="842645"/>
                    <a:pt x="4637278" y="842645"/>
                  </a:cubicBezTo>
                  <a:lnTo>
                    <a:pt x="140462" y="842645"/>
                  </a:lnTo>
                  <a:cubicBezTo>
                    <a:pt x="62865" y="842645"/>
                    <a:pt x="0" y="779780"/>
                    <a:pt x="0" y="702183"/>
                  </a:cubicBezTo>
                  <a:close/>
                </a:path>
              </a:pathLst>
            </a:custGeom>
            <a:solidFill>
              <a:srgbClr val="0F172A"/>
            </a:solidFill>
            <a:ln w="14299" cap="sq">
              <a:solidFill>
                <a:srgbClr val="334455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28575"/>
              <a:ext cx="4777664" cy="8712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>
                  <a:solidFill>
                    <a:srgbClr val="F1F5F9"/>
                  </a:solidFill>
                  <a:latin typeface="Consolas"/>
                  <a:ea typeface="Consolas"/>
                  <a:cs typeface="Consolas"/>
                  <a:sym typeface="Consolas"/>
                </a:rPr>
                <a:t>carrito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5552170" y="6032611"/>
            <a:ext cx="3583248" cy="632003"/>
            <a:chOff x="0" y="0"/>
            <a:chExt cx="4777664" cy="84267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777740" cy="842645"/>
            </a:xfrm>
            <a:custGeom>
              <a:avLst/>
              <a:gdLst/>
              <a:ahLst/>
              <a:cxnLst/>
              <a:rect r="r" b="b" t="t" l="l"/>
              <a:pathLst>
                <a:path h="842645" w="4777740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4637278" y="0"/>
                  </a:lnTo>
                  <a:cubicBezTo>
                    <a:pt x="4714875" y="0"/>
                    <a:pt x="4777740" y="62865"/>
                    <a:pt x="4777740" y="140462"/>
                  </a:cubicBezTo>
                  <a:lnTo>
                    <a:pt x="4777740" y="702183"/>
                  </a:lnTo>
                  <a:cubicBezTo>
                    <a:pt x="4777740" y="779780"/>
                    <a:pt x="4714875" y="842645"/>
                    <a:pt x="4637278" y="842645"/>
                  </a:cubicBezTo>
                  <a:lnTo>
                    <a:pt x="140462" y="842645"/>
                  </a:lnTo>
                  <a:cubicBezTo>
                    <a:pt x="62865" y="842645"/>
                    <a:pt x="0" y="779780"/>
                    <a:pt x="0" y="702183"/>
                  </a:cubicBezTo>
                  <a:close/>
                </a:path>
              </a:pathLst>
            </a:custGeom>
            <a:solidFill>
              <a:srgbClr val="0F172A"/>
            </a:solidFill>
            <a:ln w="14299" cap="sq">
              <a:solidFill>
                <a:srgbClr val="334455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28575"/>
              <a:ext cx="4777664" cy="8712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>
                  <a:solidFill>
                    <a:srgbClr val="F1F5F9"/>
                  </a:solidFill>
                  <a:latin typeface="Consolas"/>
                  <a:ea typeface="Consolas"/>
                  <a:cs typeface="Consolas"/>
                  <a:sym typeface="Consolas"/>
                </a:rPr>
                <a:t>pedidos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5552170" y="6787582"/>
            <a:ext cx="3583248" cy="632003"/>
            <a:chOff x="0" y="0"/>
            <a:chExt cx="4777664" cy="84267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777740" cy="842645"/>
            </a:xfrm>
            <a:custGeom>
              <a:avLst/>
              <a:gdLst/>
              <a:ahLst/>
              <a:cxnLst/>
              <a:rect r="r" b="b" t="t" l="l"/>
              <a:pathLst>
                <a:path h="842645" w="4777740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4637278" y="0"/>
                  </a:lnTo>
                  <a:cubicBezTo>
                    <a:pt x="4714875" y="0"/>
                    <a:pt x="4777740" y="62865"/>
                    <a:pt x="4777740" y="140462"/>
                  </a:cubicBezTo>
                  <a:lnTo>
                    <a:pt x="4777740" y="702183"/>
                  </a:lnTo>
                  <a:cubicBezTo>
                    <a:pt x="4777740" y="779780"/>
                    <a:pt x="4714875" y="842645"/>
                    <a:pt x="4637278" y="842645"/>
                  </a:cubicBezTo>
                  <a:lnTo>
                    <a:pt x="140462" y="842645"/>
                  </a:lnTo>
                  <a:cubicBezTo>
                    <a:pt x="62865" y="842645"/>
                    <a:pt x="0" y="779780"/>
                    <a:pt x="0" y="702183"/>
                  </a:cubicBezTo>
                  <a:close/>
                </a:path>
              </a:pathLst>
            </a:custGeom>
            <a:solidFill>
              <a:srgbClr val="0F172A"/>
            </a:solidFill>
            <a:ln w="14299" cap="sq">
              <a:solidFill>
                <a:srgbClr val="334455"/>
              </a:solidFill>
              <a:prstDash val="solid"/>
              <a:miter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28575"/>
              <a:ext cx="4777664" cy="8712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>
                  <a:solidFill>
                    <a:srgbClr val="F1F5F9"/>
                  </a:solidFill>
                  <a:latin typeface="Consolas"/>
                  <a:ea typeface="Consolas"/>
                  <a:cs typeface="Consolas"/>
                  <a:sym typeface="Consolas"/>
                </a:rPr>
                <a:t>pedidos_detalle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9599171" y="2598544"/>
            <a:ext cx="4137079" cy="6470628"/>
            <a:chOff x="0" y="0"/>
            <a:chExt cx="5516105" cy="862750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516118" cy="8627491"/>
            </a:xfrm>
            <a:custGeom>
              <a:avLst/>
              <a:gdLst/>
              <a:ahLst/>
              <a:cxnLst/>
              <a:rect r="r" b="b" t="t" l="l"/>
              <a:pathLst>
                <a:path h="8627491" w="5516118">
                  <a:moveTo>
                    <a:pt x="0" y="919353"/>
                  </a:moveTo>
                  <a:cubicBezTo>
                    <a:pt x="0" y="411607"/>
                    <a:pt x="411607" y="0"/>
                    <a:pt x="919353" y="0"/>
                  </a:cubicBezTo>
                  <a:lnTo>
                    <a:pt x="4596765" y="0"/>
                  </a:lnTo>
                  <a:cubicBezTo>
                    <a:pt x="5104511" y="0"/>
                    <a:pt x="5516118" y="411607"/>
                    <a:pt x="5516118" y="919353"/>
                  </a:cubicBezTo>
                  <a:lnTo>
                    <a:pt x="5516118" y="7708138"/>
                  </a:lnTo>
                  <a:cubicBezTo>
                    <a:pt x="5516118" y="8215884"/>
                    <a:pt x="5104511" y="8627491"/>
                    <a:pt x="4596765" y="8627491"/>
                  </a:cubicBezTo>
                  <a:lnTo>
                    <a:pt x="919353" y="8627491"/>
                  </a:lnTo>
                  <a:cubicBezTo>
                    <a:pt x="411607" y="8627491"/>
                    <a:pt x="0" y="8215884"/>
                    <a:pt x="0" y="7708138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0B981"/>
              </a:solidFill>
              <a:prstDash val="solid"/>
              <a:miter/>
            </a:ln>
          </p:spPr>
        </p:sp>
      </p:grpSp>
      <p:sp>
        <p:nvSpPr>
          <p:cNvPr name="TextBox 32" id="32"/>
          <p:cNvSpPr txBox="true"/>
          <p:nvPr/>
        </p:nvSpPr>
        <p:spPr>
          <a:xfrm rot="0">
            <a:off x="9864604" y="2864510"/>
            <a:ext cx="3606213" cy="684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10B981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BLOQUE C · Monitor SO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9876092" y="3767699"/>
            <a:ext cx="3583248" cy="632003"/>
            <a:chOff x="0" y="0"/>
            <a:chExt cx="4777664" cy="84267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4777740" cy="842645"/>
            </a:xfrm>
            <a:custGeom>
              <a:avLst/>
              <a:gdLst/>
              <a:ahLst/>
              <a:cxnLst/>
              <a:rect r="r" b="b" t="t" l="l"/>
              <a:pathLst>
                <a:path h="842645" w="4777740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4637278" y="0"/>
                  </a:lnTo>
                  <a:cubicBezTo>
                    <a:pt x="4714875" y="0"/>
                    <a:pt x="4777740" y="62865"/>
                    <a:pt x="4777740" y="140462"/>
                  </a:cubicBezTo>
                  <a:lnTo>
                    <a:pt x="4777740" y="702183"/>
                  </a:lnTo>
                  <a:cubicBezTo>
                    <a:pt x="4777740" y="779780"/>
                    <a:pt x="4714875" y="842645"/>
                    <a:pt x="4637278" y="842645"/>
                  </a:cubicBezTo>
                  <a:lnTo>
                    <a:pt x="140462" y="842645"/>
                  </a:lnTo>
                  <a:cubicBezTo>
                    <a:pt x="62865" y="842645"/>
                    <a:pt x="0" y="779780"/>
                    <a:pt x="0" y="702183"/>
                  </a:cubicBezTo>
                  <a:close/>
                </a:path>
              </a:pathLst>
            </a:custGeom>
            <a:solidFill>
              <a:srgbClr val="0F172A"/>
            </a:solidFill>
            <a:ln w="14299" cap="sq">
              <a:solidFill>
                <a:srgbClr val="334455"/>
              </a:solidFill>
              <a:prstDash val="solid"/>
              <a:miter/>
            </a:ln>
          </p:spPr>
        </p:sp>
        <p:sp>
          <p:nvSpPr>
            <p:cNvPr name="TextBox 35" id="35"/>
            <p:cNvSpPr txBox="true"/>
            <p:nvPr/>
          </p:nvSpPr>
          <p:spPr>
            <a:xfrm>
              <a:off x="0" y="-28575"/>
              <a:ext cx="4777664" cy="8712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>
                  <a:solidFill>
                    <a:srgbClr val="F1F5F9"/>
                  </a:solidFill>
                  <a:latin typeface="Consolas"/>
                  <a:ea typeface="Consolas"/>
                  <a:cs typeface="Consolas"/>
                  <a:sym typeface="Consolas"/>
                </a:rPr>
                <a:t>metricas_catalogo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9876092" y="4522670"/>
            <a:ext cx="3583248" cy="632003"/>
            <a:chOff x="0" y="0"/>
            <a:chExt cx="4777664" cy="84267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4777740" cy="842645"/>
            </a:xfrm>
            <a:custGeom>
              <a:avLst/>
              <a:gdLst/>
              <a:ahLst/>
              <a:cxnLst/>
              <a:rect r="r" b="b" t="t" l="l"/>
              <a:pathLst>
                <a:path h="842645" w="4777740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4637278" y="0"/>
                  </a:lnTo>
                  <a:cubicBezTo>
                    <a:pt x="4714875" y="0"/>
                    <a:pt x="4777740" y="62865"/>
                    <a:pt x="4777740" y="140462"/>
                  </a:cubicBezTo>
                  <a:lnTo>
                    <a:pt x="4777740" y="702183"/>
                  </a:lnTo>
                  <a:cubicBezTo>
                    <a:pt x="4777740" y="779780"/>
                    <a:pt x="4714875" y="842645"/>
                    <a:pt x="4637278" y="842645"/>
                  </a:cubicBezTo>
                  <a:lnTo>
                    <a:pt x="140462" y="842645"/>
                  </a:lnTo>
                  <a:cubicBezTo>
                    <a:pt x="62865" y="842645"/>
                    <a:pt x="0" y="779780"/>
                    <a:pt x="0" y="702183"/>
                  </a:cubicBezTo>
                  <a:close/>
                </a:path>
              </a:pathLst>
            </a:custGeom>
            <a:solidFill>
              <a:srgbClr val="0F172A"/>
            </a:solidFill>
            <a:ln w="14299" cap="sq">
              <a:solidFill>
                <a:srgbClr val="334455"/>
              </a:solidFill>
              <a:prstDash val="solid"/>
              <a:miter/>
            </a:ln>
          </p:spPr>
        </p:sp>
        <p:sp>
          <p:nvSpPr>
            <p:cNvPr name="TextBox 38" id="38"/>
            <p:cNvSpPr txBox="true"/>
            <p:nvPr/>
          </p:nvSpPr>
          <p:spPr>
            <a:xfrm>
              <a:off x="0" y="-28575"/>
              <a:ext cx="4777664" cy="8712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>
                  <a:solidFill>
                    <a:srgbClr val="F1F5F9"/>
                  </a:solidFill>
                  <a:latin typeface="Consolas"/>
                  <a:ea typeface="Consolas"/>
                  <a:cs typeface="Consolas"/>
                  <a:sym typeface="Consolas"/>
                </a:rPr>
                <a:t>lecturas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9876092" y="5277641"/>
            <a:ext cx="3583248" cy="632003"/>
            <a:chOff x="0" y="0"/>
            <a:chExt cx="4777664" cy="84267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4777740" cy="842645"/>
            </a:xfrm>
            <a:custGeom>
              <a:avLst/>
              <a:gdLst/>
              <a:ahLst/>
              <a:cxnLst/>
              <a:rect r="r" b="b" t="t" l="l"/>
              <a:pathLst>
                <a:path h="842645" w="4777740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4637278" y="0"/>
                  </a:lnTo>
                  <a:cubicBezTo>
                    <a:pt x="4714875" y="0"/>
                    <a:pt x="4777740" y="62865"/>
                    <a:pt x="4777740" y="140462"/>
                  </a:cubicBezTo>
                  <a:lnTo>
                    <a:pt x="4777740" y="702183"/>
                  </a:lnTo>
                  <a:cubicBezTo>
                    <a:pt x="4777740" y="779780"/>
                    <a:pt x="4714875" y="842645"/>
                    <a:pt x="4637278" y="842645"/>
                  </a:cubicBezTo>
                  <a:lnTo>
                    <a:pt x="140462" y="842645"/>
                  </a:lnTo>
                  <a:cubicBezTo>
                    <a:pt x="62865" y="842645"/>
                    <a:pt x="0" y="779780"/>
                    <a:pt x="0" y="702183"/>
                  </a:cubicBezTo>
                  <a:close/>
                </a:path>
              </a:pathLst>
            </a:custGeom>
            <a:solidFill>
              <a:srgbClr val="0F172A"/>
            </a:solidFill>
            <a:ln w="14299" cap="sq">
              <a:solidFill>
                <a:srgbClr val="334455"/>
              </a:solidFill>
              <a:prstDash val="solid"/>
              <a:miter/>
            </a:ln>
          </p:spPr>
        </p:sp>
        <p:sp>
          <p:nvSpPr>
            <p:cNvPr name="TextBox 41" id="41"/>
            <p:cNvSpPr txBox="true"/>
            <p:nvPr/>
          </p:nvSpPr>
          <p:spPr>
            <a:xfrm>
              <a:off x="0" y="-28575"/>
              <a:ext cx="4777664" cy="8712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>
                  <a:solidFill>
                    <a:srgbClr val="F1F5F9"/>
                  </a:solidFill>
                  <a:latin typeface="Consolas"/>
                  <a:ea typeface="Consolas"/>
                  <a:cs typeface="Consolas"/>
                  <a:sym typeface="Consolas"/>
                </a:rPr>
                <a:t>alertas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9876092" y="6032611"/>
            <a:ext cx="3583248" cy="632003"/>
            <a:chOff x="0" y="0"/>
            <a:chExt cx="4777664" cy="84267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4777740" cy="842645"/>
            </a:xfrm>
            <a:custGeom>
              <a:avLst/>
              <a:gdLst/>
              <a:ahLst/>
              <a:cxnLst/>
              <a:rect r="r" b="b" t="t" l="l"/>
              <a:pathLst>
                <a:path h="842645" w="4777740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4637278" y="0"/>
                  </a:lnTo>
                  <a:cubicBezTo>
                    <a:pt x="4714875" y="0"/>
                    <a:pt x="4777740" y="62865"/>
                    <a:pt x="4777740" y="140462"/>
                  </a:cubicBezTo>
                  <a:lnTo>
                    <a:pt x="4777740" y="702183"/>
                  </a:lnTo>
                  <a:cubicBezTo>
                    <a:pt x="4777740" y="779780"/>
                    <a:pt x="4714875" y="842645"/>
                    <a:pt x="4637278" y="842645"/>
                  </a:cubicBezTo>
                  <a:lnTo>
                    <a:pt x="140462" y="842645"/>
                  </a:lnTo>
                  <a:cubicBezTo>
                    <a:pt x="62865" y="842645"/>
                    <a:pt x="0" y="779780"/>
                    <a:pt x="0" y="702183"/>
                  </a:cubicBezTo>
                  <a:close/>
                </a:path>
              </a:pathLst>
            </a:custGeom>
            <a:solidFill>
              <a:srgbClr val="0F172A"/>
            </a:solidFill>
            <a:ln w="14299" cap="sq">
              <a:solidFill>
                <a:srgbClr val="334455"/>
              </a:solidFill>
              <a:prstDash val="solid"/>
              <a:miter/>
            </a:ln>
          </p:spPr>
        </p:sp>
        <p:sp>
          <p:nvSpPr>
            <p:cNvPr name="TextBox 44" id="44"/>
            <p:cNvSpPr txBox="true"/>
            <p:nvPr/>
          </p:nvSpPr>
          <p:spPr>
            <a:xfrm>
              <a:off x="0" y="-28575"/>
              <a:ext cx="4777664" cy="8712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>
                  <a:solidFill>
                    <a:srgbClr val="F1F5F9"/>
                  </a:solidFill>
                  <a:latin typeface="Consolas"/>
                  <a:ea typeface="Consolas"/>
                  <a:cs typeface="Consolas"/>
                  <a:sym typeface="Consolas"/>
                </a:rPr>
                <a:t>notificaciones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13923093" y="2598544"/>
            <a:ext cx="4137079" cy="6470628"/>
            <a:chOff x="0" y="0"/>
            <a:chExt cx="5516105" cy="8627504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5516118" cy="8627491"/>
            </a:xfrm>
            <a:custGeom>
              <a:avLst/>
              <a:gdLst/>
              <a:ahLst/>
              <a:cxnLst/>
              <a:rect r="r" b="b" t="t" l="l"/>
              <a:pathLst>
                <a:path h="8627491" w="5516118">
                  <a:moveTo>
                    <a:pt x="0" y="919353"/>
                  </a:moveTo>
                  <a:cubicBezTo>
                    <a:pt x="0" y="411607"/>
                    <a:pt x="411607" y="0"/>
                    <a:pt x="919353" y="0"/>
                  </a:cubicBezTo>
                  <a:lnTo>
                    <a:pt x="4596765" y="0"/>
                  </a:lnTo>
                  <a:cubicBezTo>
                    <a:pt x="5104511" y="0"/>
                    <a:pt x="5516118" y="411607"/>
                    <a:pt x="5516118" y="919353"/>
                  </a:cubicBezTo>
                  <a:lnTo>
                    <a:pt x="5516118" y="7708138"/>
                  </a:lnTo>
                  <a:cubicBezTo>
                    <a:pt x="5516118" y="8215884"/>
                    <a:pt x="5104511" y="8627491"/>
                    <a:pt x="4596765" y="8627491"/>
                  </a:cubicBezTo>
                  <a:lnTo>
                    <a:pt x="919353" y="8627491"/>
                  </a:lnTo>
                  <a:cubicBezTo>
                    <a:pt x="411607" y="8627491"/>
                    <a:pt x="0" y="8215884"/>
                    <a:pt x="0" y="7708138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EC4899"/>
              </a:solidFill>
              <a:prstDash val="solid"/>
              <a:miter/>
            </a:ln>
          </p:spPr>
        </p:sp>
      </p:grpSp>
      <p:sp>
        <p:nvSpPr>
          <p:cNvPr name="TextBox 47" id="47"/>
          <p:cNvSpPr txBox="true"/>
          <p:nvPr/>
        </p:nvSpPr>
        <p:spPr>
          <a:xfrm rot="0">
            <a:off x="14188526" y="2864510"/>
            <a:ext cx="3606213" cy="684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EC489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BLOQUE D · Social Commerce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14200013" y="3767699"/>
            <a:ext cx="3583248" cy="632003"/>
            <a:chOff x="0" y="0"/>
            <a:chExt cx="4777664" cy="84267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4777740" cy="842645"/>
            </a:xfrm>
            <a:custGeom>
              <a:avLst/>
              <a:gdLst/>
              <a:ahLst/>
              <a:cxnLst/>
              <a:rect r="r" b="b" t="t" l="l"/>
              <a:pathLst>
                <a:path h="842645" w="4777740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4637278" y="0"/>
                  </a:lnTo>
                  <a:cubicBezTo>
                    <a:pt x="4714875" y="0"/>
                    <a:pt x="4777740" y="62865"/>
                    <a:pt x="4777740" y="140462"/>
                  </a:cubicBezTo>
                  <a:lnTo>
                    <a:pt x="4777740" y="702183"/>
                  </a:lnTo>
                  <a:cubicBezTo>
                    <a:pt x="4777740" y="779780"/>
                    <a:pt x="4714875" y="842645"/>
                    <a:pt x="4637278" y="842645"/>
                  </a:cubicBezTo>
                  <a:lnTo>
                    <a:pt x="140462" y="842645"/>
                  </a:lnTo>
                  <a:cubicBezTo>
                    <a:pt x="62865" y="842645"/>
                    <a:pt x="0" y="779780"/>
                    <a:pt x="0" y="702183"/>
                  </a:cubicBezTo>
                  <a:close/>
                </a:path>
              </a:pathLst>
            </a:custGeom>
            <a:solidFill>
              <a:srgbClr val="0F172A"/>
            </a:solidFill>
            <a:ln w="14299" cap="sq">
              <a:solidFill>
                <a:srgbClr val="334455"/>
              </a:solidFill>
              <a:prstDash val="solid"/>
              <a:miter/>
            </a:ln>
          </p:spPr>
        </p:sp>
        <p:sp>
          <p:nvSpPr>
            <p:cNvPr name="TextBox 50" id="50"/>
            <p:cNvSpPr txBox="true"/>
            <p:nvPr/>
          </p:nvSpPr>
          <p:spPr>
            <a:xfrm>
              <a:off x="0" y="-28575"/>
              <a:ext cx="4777664" cy="8712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>
                  <a:solidFill>
                    <a:srgbClr val="F1F5F9"/>
                  </a:solidFill>
                  <a:latin typeface="Consolas"/>
                  <a:ea typeface="Consolas"/>
                  <a:cs typeface="Consolas"/>
                  <a:sym typeface="Consolas"/>
                </a:rPr>
                <a:t>producto_likes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14200013" y="4522670"/>
            <a:ext cx="3583248" cy="632003"/>
            <a:chOff x="0" y="0"/>
            <a:chExt cx="4777664" cy="84267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4777740" cy="842645"/>
            </a:xfrm>
            <a:custGeom>
              <a:avLst/>
              <a:gdLst/>
              <a:ahLst/>
              <a:cxnLst/>
              <a:rect r="r" b="b" t="t" l="l"/>
              <a:pathLst>
                <a:path h="842645" w="4777740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4637278" y="0"/>
                  </a:lnTo>
                  <a:cubicBezTo>
                    <a:pt x="4714875" y="0"/>
                    <a:pt x="4777740" y="62865"/>
                    <a:pt x="4777740" y="140462"/>
                  </a:cubicBezTo>
                  <a:lnTo>
                    <a:pt x="4777740" y="702183"/>
                  </a:lnTo>
                  <a:cubicBezTo>
                    <a:pt x="4777740" y="779780"/>
                    <a:pt x="4714875" y="842645"/>
                    <a:pt x="4637278" y="842645"/>
                  </a:cubicBezTo>
                  <a:lnTo>
                    <a:pt x="140462" y="842645"/>
                  </a:lnTo>
                  <a:cubicBezTo>
                    <a:pt x="62865" y="842645"/>
                    <a:pt x="0" y="779780"/>
                    <a:pt x="0" y="702183"/>
                  </a:cubicBezTo>
                  <a:close/>
                </a:path>
              </a:pathLst>
            </a:custGeom>
            <a:solidFill>
              <a:srgbClr val="0F172A"/>
            </a:solidFill>
            <a:ln w="14299" cap="sq">
              <a:solidFill>
                <a:srgbClr val="334455"/>
              </a:solidFill>
              <a:prstDash val="solid"/>
              <a:miter/>
            </a:ln>
          </p:spPr>
        </p:sp>
        <p:sp>
          <p:nvSpPr>
            <p:cNvPr name="TextBox 53" id="53"/>
            <p:cNvSpPr txBox="true"/>
            <p:nvPr/>
          </p:nvSpPr>
          <p:spPr>
            <a:xfrm>
              <a:off x="0" y="-28575"/>
              <a:ext cx="4777664" cy="8712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>
                  <a:solidFill>
                    <a:srgbClr val="F1F5F9"/>
                  </a:solidFill>
                  <a:latin typeface="Consolas"/>
                  <a:ea typeface="Consolas"/>
                  <a:cs typeface="Consolas"/>
                  <a:sym typeface="Consolas"/>
                </a:rPr>
                <a:t>comentarios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4200013" y="5277641"/>
            <a:ext cx="3583248" cy="632003"/>
            <a:chOff x="0" y="0"/>
            <a:chExt cx="4777664" cy="84267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4777740" cy="842645"/>
            </a:xfrm>
            <a:custGeom>
              <a:avLst/>
              <a:gdLst/>
              <a:ahLst/>
              <a:cxnLst/>
              <a:rect r="r" b="b" t="t" l="l"/>
              <a:pathLst>
                <a:path h="842645" w="4777740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4637278" y="0"/>
                  </a:lnTo>
                  <a:cubicBezTo>
                    <a:pt x="4714875" y="0"/>
                    <a:pt x="4777740" y="62865"/>
                    <a:pt x="4777740" y="140462"/>
                  </a:cubicBezTo>
                  <a:lnTo>
                    <a:pt x="4777740" y="702183"/>
                  </a:lnTo>
                  <a:cubicBezTo>
                    <a:pt x="4777740" y="779780"/>
                    <a:pt x="4714875" y="842645"/>
                    <a:pt x="4637278" y="842645"/>
                  </a:cubicBezTo>
                  <a:lnTo>
                    <a:pt x="140462" y="842645"/>
                  </a:lnTo>
                  <a:cubicBezTo>
                    <a:pt x="62865" y="842645"/>
                    <a:pt x="0" y="779780"/>
                    <a:pt x="0" y="702183"/>
                  </a:cubicBezTo>
                  <a:close/>
                </a:path>
              </a:pathLst>
            </a:custGeom>
            <a:solidFill>
              <a:srgbClr val="0F172A"/>
            </a:solidFill>
            <a:ln w="14299" cap="sq">
              <a:solidFill>
                <a:srgbClr val="334455"/>
              </a:solidFill>
              <a:prstDash val="solid"/>
              <a:miter/>
            </a:ln>
          </p:spPr>
        </p:sp>
        <p:sp>
          <p:nvSpPr>
            <p:cNvPr name="TextBox 56" id="56"/>
            <p:cNvSpPr txBox="true"/>
            <p:nvPr/>
          </p:nvSpPr>
          <p:spPr>
            <a:xfrm>
              <a:off x="0" y="-28575"/>
              <a:ext cx="4777664" cy="8712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>
                  <a:solidFill>
                    <a:srgbClr val="F1F5F9"/>
                  </a:solidFill>
                  <a:latin typeface="Consolas"/>
                  <a:ea typeface="Consolas"/>
                  <a:cs typeface="Consolas"/>
                  <a:sym typeface="Consolas"/>
                </a:rPr>
                <a:t>publicaciones</a:t>
              </a:r>
            </a:p>
          </p:txBody>
        </p:sp>
      </p:grpSp>
      <p:sp>
        <p:nvSpPr>
          <p:cNvPr name="TextBox 57" id="57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10/18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592036"/>
            <a:ext cx="16372065" cy="897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Seguridad implementada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10869" y="1560471"/>
            <a:ext cx="16372065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Defensa en profundidad · validación + prepared statements + hashing + transacciones + firewall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51338" y="2598544"/>
            <a:ext cx="4823422" cy="3176216"/>
            <a:chOff x="0" y="0"/>
            <a:chExt cx="6431229" cy="423495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EC4899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1285408" y="2854985"/>
            <a:ext cx="4155281" cy="693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 b="true">
                <a:solidFill>
                  <a:srgbClr val="EC489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🔐 Bcrypt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85408" y="3825383"/>
            <a:ext cx="4155281" cy="1782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Hash factor 12 para passwords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password_hash + password_verify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6647926" y="2598544"/>
            <a:ext cx="4823422" cy="3176216"/>
            <a:chOff x="0" y="0"/>
            <a:chExt cx="6431229" cy="423495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6981996" y="2854985"/>
            <a:ext cx="4155281" cy="693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🛡 PDO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981996" y="3825383"/>
            <a:ext cx="4155281" cy="1782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Prepared statements anti-SQLi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ATTR_EMULATE_PREPARES = false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2344524" y="2598544"/>
            <a:ext cx="4823422" cy="3176216"/>
            <a:chOff x="0" y="0"/>
            <a:chExt cx="6431229" cy="423495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8B5CF6"/>
              </a:solidFill>
              <a:prstDash val="solid"/>
              <a:miter/>
            </a:ln>
          </p:spPr>
        </p:sp>
      </p:grpSp>
      <p:sp>
        <p:nvSpPr>
          <p:cNvPr name="TextBox 16" id="16"/>
          <p:cNvSpPr txBox="true"/>
          <p:nvPr/>
        </p:nvSpPr>
        <p:spPr>
          <a:xfrm rot="0">
            <a:off x="12678585" y="2854985"/>
            <a:ext cx="4155281" cy="693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 b="true">
                <a:solidFill>
                  <a:srgbClr val="8B5C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🍪 Cookies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678585" y="3825383"/>
            <a:ext cx="4155281" cy="1782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HttpOnly + SameSite=Lax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Protección XSS y CSRF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951338" y="6030230"/>
            <a:ext cx="4823422" cy="3176216"/>
            <a:chOff x="0" y="0"/>
            <a:chExt cx="6431229" cy="4234955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0B981"/>
              </a:solidFill>
              <a:prstDash val="solid"/>
              <a:miter/>
            </a:ln>
          </p:spPr>
        </p:sp>
      </p:grpSp>
      <p:sp>
        <p:nvSpPr>
          <p:cNvPr name="TextBox 20" id="20"/>
          <p:cNvSpPr txBox="true"/>
          <p:nvPr/>
        </p:nvSpPr>
        <p:spPr>
          <a:xfrm rot="0">
            <a:off x="1285408" y="6286671"/>
            <a:ext cx="4155281" cy="693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 b="true">
                <a:solidFill>
                  <a:srgbClr val="10B981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🔒 Sesiones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85408" y="7257059"/>
            <a:ext cx="4155281" cy="1782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session_set_cookie_params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requireLogin / requireAdmin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6647926" y="6030230"/>
            <a:ext cx="4823422" cy="3176216"/>
            <a:chOff x="0" y="0"/>
            <a:chExt cx="6431229" cy="4234955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F59E0B"/>
              </a:solidFill>
              <a:prstDash val="solid"/>
              <a:miter/>
            </a:ln>
          </p:spPr>
        </p:sp>
      </p:grpSp>
      <p:sp>
        <p:nvSpPr>
          <p:cNvPr name="TextBox 24" id="24"/>
          <p:cNvSpPr txBox="true"/>
          <p:nvPr/>
        </p:nvSpPr>
        <p:spPr>
          <a:xfrm rot="0">
            <a:off x="6981996" y="6286671"/>
            <a:ext cx="4155281" cy="693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 b="true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💳 Transacciones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981996" y="7257059"/>
            <a:ext cx="4155281" cy="1782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BEGIN + SELECT FOR UPDATE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ROLLBACK ante error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2344524" y="6030230"/>
            <a:ext cx="4823422" cy="3176216"/>
            <a:chOff x="0" y="0"/>
            <a:chExt cx="6431229" cy="423495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EC4899"/>
              </a:solidFill>
              <a:prstDash val="solid"/>
              <a:miter/>
            </a:ln>
          </p:spPr>
        </p:sp>
      </p:grpSp>
      <p:sp>
        <p:nvSpPr>
          <p:cNvPr name="TextBox 28" id="28"/>
          <p:cNvSpPr txBox="true"/>
          <p:nvPr/>
        </p:nvSpPr>
        <p:spPr>
          <a:xfrm rot="0">
            <a:off x="12678585" y="6286671"/>
            <a:ext cx="4155281" cy="693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 b="true">
                <a:solidFill>
                  <a:srgbClr val="EC489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🔥 Firewall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678585" y="7257059"/>
            <a:ext cx="4155281" cy="1782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UFW: solo 22, 80, 443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Defensa en profundidad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11/18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592036"/>
            <a:ext cx="16372065" cy="897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Despliegue en AWS EC2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10869" y="1560471"/>
            <a:ext cx="16372065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Cumplimiento de criterio 3 de la rúbrica · Uso de tecnologías cloud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51338" y="2598544"/>
            <a:ext cx="8255098" cy="6882432"/>
            <a:chOff x="0" y="0"/>
            <a:chExt cx="11006798" cy="91765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006836" cy="9176512"/>
            </a:xfrm>
            <a:custGeom>
              <a:avLst/>
              <a:gdLst/>
              <a:ahLst/>
              <a:cxnLst/>
              <a:rect r="r" b="b" t="t" l="l"/>
              <a:pathLst>
                <a:path h="9176512" w="11006836">
                  <a:moveTo>
                    <a:pt x="0" y="1529461"/>
                  </a:moveTo>
                  <a:cubicBezTo>
                    <a:pt x="0" y="684784"/>
                    <a:pt x="684784" y="0"/>
                    <a:pt x="1529461" y="0"/>
                  </a:cubicBezTo>
                  <a:lnTo>
                    <a:pt x="9477375" y="0"/>
                  </a:lnTo>
                  <a:cubicBezTo>
                    <a:pt x="10322052" y="0"/>
                    <a:pt x="11006836" y="684784"/>
                    <a:pt x="11006836" y="1529461"/>
                  </a:cubicBezTo>
                  <a:lnTo>
                    <a:pt x="11006836" y="7647051"/>
                  </a:lnTo>
                  <a:cubicBezTo>
                    <a:pt x="11006836" y="8491728"/>
                    <a:pt x="10322052" y="9176512"/>
                    <a:pt x="9477375" y="9176512"/>
                  </a:cubicBezTo>
                  <a:lnTo>
                    <a:pt x="1529461" y="9176512"/>
                  </a:lnTo>
                  <a:cubicBezTo>
                    <a:pt x="684784" y="9176512"/>
                    <a:pt x="0" y="8491855"/>
                    <a:pt x="0" y="764705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F59E0B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1285408" y="2708196"/>
            <a:ext cx="7586967" cy="566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☁  Instancia EC2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85408" y="3482216"/>
            <a:ext cx="29198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Tipo: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305281" y="3482216"/>
            <a:ext cx="4704350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F1F5F9"/>
                </a:solidFill>
                <a:latin typeface="Consolas Bold"/>
                <a:ea typeface="Consolas Bold"/>
                <a:cs typeface="Consolas Bold"/>
                <a:sym typeface="Consolas Bold"/>
              </a:rPr>
              <a:t>t3.micro (Free Tier)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85408" y="4099922"/>
            <a:ext cx="29198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vCPU: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305281" y="4099922"/>
            <a:ext cx="4704350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F1F5F9"/>
                </a:solidFill>
                <a:latin typeface="Consolas Bold"/>
                <a:ea typeface="Consolas Bold"/>
                <a:cs typeface="Consolas Bold"/>
                <a:sym typeface="Consolas Bold"/>
              </a:rPr>
              <a:t>1 vCPU compartido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85408" y="4717618"/>
            <a:ext cx="29198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RAM: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4305281" y="4717618"/>
            <a:ext cx="4704350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F1F5F9"/>
                </a:solidFill>
                <a:latin typeface="Consolas Bold"/>
                <a:ea typeface="Consolas Bold"/>
                <a:cs typeface="Consolas Bold"/>
                <a:sym typeface="Consolas Bold"/>
              </a:rPr>
              <a:t>1 GB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85408" y="5335324"/>
            <a:ext cx="29198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Almacenamiento: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305281" y="5335324"/>
            <a:ext cx="4704350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F1F5F9"/>
                </a:solidFill>
                <a:latin typeface="Consolas Bold"/>
                <a:ea typeface="Consolas Bold"/>
                <a:cs typeface="Consolas Bold"/>
                <a:sym typeface="Consolas Bold"/>
              </a:rPr>
              <a:t>20 GiB EBS gp3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85408" y="5953020"/>
            <a:ext cx="29198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Sistema operativo: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4305281" y="5953020"/>
            <a:ext cx="4704350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F1F5F9"/>
                </a:solidFill>
                <a:latin typeface="Consolas Bold"/>
                <a:ea typeface="Consolas Bold"/>
                <a:cs typeface="Consolas Bold"/>
                <a:sym typeface="Consolas Bold"/>
              </a:rPr>
              <a:t>Ubuntu Server 22.04 LTS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85408" y="6570726"/>
            <a:ext cx="29198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AMI propietario: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305281" y="6570726"/>
            <a:ext cx="4704350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F1F5F9"/>
                </a:solidFill>
                <a:latin typeface="Consolas Bold"/>
                <a:ea typeface="Consolas Bold"/>
                <a:cs typeface="Consolas Bold"/>
                <a:sym typeface="Consolas Bold"/>
              </a:rPr>
              <a:t>099720109477 (Canonical)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85408" y="7188432"/>
            <a:ext cx="29198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Región: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305281" y="7188432"/>
            <a:ext cx="4704350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F1F5F9"/>
                </a:solidFill>
                <a:latin typeface="Consolas Bold"/>
                <a:ea typeface="Consolas Bold"/>
                <a:cs typeface="Consolas Bold"/>
                <a:sym typeface="Consolas Bold"/>
              </a:rPr>
              <a:t>us-east-1 (N. Virginia)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85408" y="7806128"/>
            <a:ext cx="29198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Auto-restart: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305281" y="7806128"/>
            <a:ext cx="4704350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F1F5F9"/>
                </a:solidFill>
                <a:latin typeface="Consolas Bold"/>
                <a:ea typeface="Consolas Bold"/>
                <a:cs typeface="Consolas Bold"/>
                <a:sym typeface="Consolas Bold"/>
              </a:rPr>
              <a:t>unless-stopped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461906" y="2598544"/>
            <a:ext cx="7980569" cy="3313481"/>
            <a:chOff x="0" y="0"/>
            <a:chExt cx="10640758" cy="441797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640695" cy="4417949"/>
            </a:xfrm>
            <a:custGeom>
              <a:avLst/>
              <a:gdLst/>
              <a:ahLst/>
              <a:cxnLst/>
              <a:rect r="r" b="b" t="t" l="l"/>
              <a:pathLst>
                <a:path h="4417949" w="10640695">
                  <a:moveTo>
                    <a:pt x="0" y="736346"/>
                  </a:moveTo>
                  <a:cubicBezTo>
                    <a:pt x="0" y="329692"/>
                    <a:pt x="329692" y="0"/>
                    <a:pt x="736346" y="0"/>
                  </a:cubicBezTo>
                  <a:lnTo>
                    <a:pt x="9904349" y="0"/>
                  </a:lnTo>
                  <a:cubicBezTo>
                    <a:pt x="10311003" y="0"/>
                    <a:pt x="10640695" y="329692"/>
                    <a:pt x="10640695" y="736346"/>
                  </a:cubicBezTo>
                  <a:lnTo>
                    <a:pt x="10640695" y="3681603"/>
                  </a:lnTo>
                  <a:cubicBezTo>
                    <a:pt x="10640695" y="4088257"/>
                    <a:pt x="10311003" y="4417949"/>
                    <a:pt x="9904349" y="4417949"/>
                  </a:cubicBezTo>
                  <a:lnTo>
                    <a:pt x="736346" y="4417949"/>
                  </a:lnTo>
                  <a:cubicBezTo>
                    <a:pt x="329692" y="4417949"/>
                    <a:pt x="0" y="4088257"/>
                    <a:pt x="0" y="3681603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27" id="27"/>
          <p:cNvSpPr txBox="true"/>
          <p:nvPr/>
        </p:nvSpPr>
        <p:spPr>
          <a:xfrm rot="0">
            <a:off x="9795977" y="2708196"/>
            <a:ext cx="7312428" cy="566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🔥  Security Group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795977" y="3482216"/>
            <a:ext cx="7312428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onsolas"/>
                <a:ea typeface="Consolas"/>
                <a:cs typeface="Consolas"/>
                <a:sym typeface="Consolas"/>
              </a:rPr>
              <a:t>SSH (22)  → Mi IP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795977" y="4031285"/>
            <a:ext cx="7312428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onsolas"/>
                <a:ea typeface="Consolas"/>
                <a:cs typeface="Consolas"/>
                <a:sym typeface="Consolas"/>
              </a:rPr>
              <a:t>HTTP (80) → 0.0.0.0/0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9795977" y="4580353"/>
            <a:ext cx="7312428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onsolas"/>
                <a:ea typeface="Consolas"/>
                <a:cs typeface="Consolas"/>
                <a:sym typeface="Consolas"/>
              </a:rPr>
              <a:t>HTTPS (443) → 0.0.0.0/0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795977" y="5276212"/>
            <a:ext cx="7312428" cy="537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+ UFW interno como 2da capa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9461906" y="6098858"/>
            <a:ext cx="7980569" cy="3382108"/>
            <a:chOff x="0" y="0"/>
            <a:chExt cx="10640758" cy="450947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640695" cy="4509516"/>
            </a:xfrm>
            <a:custGeom>
              <a:avLst/>
              <a:gdLst/>
              <a:ahLst/>
              <a:cxnLst/>
              <a:rect r="r" b="b" t="t" l="l"/>
              <a:pathLst>
                <a:path h="4509516" w="10640695">
                  <a:moveTo>
                    <a:pt x="0" y="751586"/>
                  </a:moveTo>
                  <a:cubicBezTo>
                    <a:pt x="0" y="336550"/>
                    <a:pt x="336550" y="0"/>
                    <a:pt x="751586" y="0"/>
                  </a:cubicBezTo>
                  <a:lnTo>
                    <a:pt x="9889109" y="0"/>
                  </a:lnTo>
                  <a:cubicBezTo>
                    <a:pt x="10304145" y="0"/>
                    <a:pt x="10640695" y="336550"/>
                    <a:pt x="10640695" y="751586"/>
                  </a:cubicBezTo>
                  <a:lnTo>
                    <a:pt x="10640695" y="3757930"/>
                  </a:lnTo>
                  <a:cubicBezTo>
                    <a:pt x="10640695" y="4172966"/>
                    <a:pt x="10304145" y="4509516"/>
                    <a:pt x="9889109" y="4509516"/>
                  </a:cubicBezTo>
                  <a:lnTo>
                    <a:pt x="751586" y="4509516"/>
                  </a:lnTo>
                  <a:cubicBezTo>
                    <a:pt x="336550" y="4509516"/>
                    <a:pt x="0" y="4172966"/>
                    <a:pt x="0" y="3757930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0B981"/>
              </a:solidFill>
              <a:prstDash val="solid"/>
              <a:miter/>
            </a:ln>
          </p:spPr>
        </p:sp>
      </p:grpSp>
      <p:sp>
        <p:nvSpPr>
          <p:cNvPr name="TextBox 34" id="34"/>
          <p:cNvSpPr txBox="true"/>
          <p:nvPr/>
        </p:nvSpPr>
        <p:spPr>
          <a:xfrm rot="0">
            <a:off x="9795977" y="6208509"/>
            <a:ext cx="7312428" cy="566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10B981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🌐  URL pública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9795977" y="6835740"/>
            <a:ext cx="7312428" cy="693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F1F5F9"/>
                </a:solidFill>
                <a:latin typeface="Consolas Bold"/>
                <a:ea typeface="Consolas Bold"/>
                <a:cs typeface="Consolas Bold"/>
                <a:sym typeface="Consolas Bold"/>
              </a:rPr>
              <a:t>http://&lt;IP_PUBLICA&gt;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795977" y="7600236"/>
            <a:ext cx="7312428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👉 Actualizar con la IP del día de la exposición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9795977" y="8286569"/>
            <a:ext cx="7312428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📦  Repo: github.com/Hreon/S.O-SYS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9795977" y="8845163"/>
            <a:ext cx="7312428" cy="537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⚙  deploy_aws.sh automatiza Docker + UFW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12/18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592036"/>
            <a:ext cx="16372065" cy="897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Cumplimiento de la rúbrica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10869" y="1560471"/>
            <a:ext cx="16372065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Mapeo explícito de SysMarket v2 a los 4 criterios (20 puntos totales)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51338" y="2667181"/>
            <a:ext cx="16491137" cy="1460373"/>
            <a:chOff x="0" y="0"/>
            <a:chExt cx="21988183" cy="194716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88146" cy="1947164"/>
            </a:xfrm>
            <a:custGeom>
              <a:avLst/>
              <a:gdLst/>
              <a:ahLst/>
              <a:cxnLst/>
              <a:rect r="r" b="b" t="t" l="l"/>
              <a:pathLst>
                <a:path h="1947164" w="21988146">
                  <a:moveTo>
                    <a:pt x="0" y="324485"/>
                  </a:moveTo>
                  <a:cubicBezTo>
                    <a:pt x="0" y="145288"/>
                    <a:pt x="145288" y="0"/>
                    <a:pt x="324485" y="0"/>
                  </a:cubicBezTo>
                  <a:lnTo>
                    <a:pt x="21663661" y="0"/>
                  </a:lnTo>
                  <a:cubicBezTo>
                    <a:pt x="21842857" y="0"/>
                    <a:pt x="21988146" y="145288"/>
                    <a:pt x="21988146" y="324485"/>
                  </a:cubicBezTo>
                  <a:lnTo>
                    <a:pt x="21988146" y="1622679"/>
                  </a:lnTo>
                  <a:cubicBezTo>
                    <a:pt x="21988146" y="1801876"/>
                    <a:pt x="21842857" y="1947164"/>
                    <a:pt x="21663661" y="1947164"/>
                  </a:cubicBezTo>
                  <a:lnTo>
                    <a:pt x="324485" y="1947164"/>
                  </a:lnTo>
                  <a:cubicBezTo>
                    <a:pt x="145288" y="1947164"/>
                    <a:pt x="0" y="1801876"/>
                    <a:pt x="0" y="1622679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166774" y="2951245"/>
            <a:ext cx="892235" cy="892235"/>
            <a:chOff x="0" y="0"/>
            <a:chExt cx="1189647" cy="118964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9609" cy="1189609"/>
            </a:xfrm>
            <a:custGeom>
              <a:avLst/>
              <a:gdLst/>
              <a:ahLst/>
              <a:cxnLst/>
              <a:rect r="r" b="b" t="t" l="l"/>
              <a:pathLst>
                <a:path h="1189609" w="1189609">
                  <a:moveTo>
                    <a:pt x="0" y="198247"/>
                  </a:moveTo>
                  <a:cubicBezTo>
                    <a:pt x="0" y="88773"/>
                    <a:pt x="88773" y="0"/>
                    <a:pt x="198247" y="0"/>
                  </a:cubicBezTo>
                  <a:lnTo>
                    <a:pt x="991362" y="0"/>
                  </a:lnTo>
                  <a:cubicBezTo>
                    <a:pt x="1100836" y="0"/>
                    <a:pt x="1189609" y="88773"/>
                    <a:pt x="1189609" y="198247"/>
                  </a:cubicBezTo>
                  <a:lnTo>
                    <a:pt x="1189609" y="991362"/>
                  </a:lnTo>
                  <a:cubicBezTo>
                    <a:pt x="1189609" y="1100836"/>
                    <a:pt x="1100836" y="1189609"/>
                    <a:pt x="991362" y="1189609"/>
                  </a:cubicBezTo>
                  <a:lnTo>
                    <a:pt x="198247" y="1189609"/>
                  </a:lnTo>
                  <a:cubicBezTo>
                    <a:pt x="88773" y="1189609"/>
                    <a:pt x="0" y="1100836"/>
                    <a:pt x="0" y="991362"/>
                  </a:cubicBezTo>
                  <a:close/>
                </a:path>
              </a:pathLst>
            </a:custGeom>
            <a:solidFill>
              <a:srgbClr val="3B82F6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1189647" cy="12182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2383546" y="2776823"/>
            <a:ext cx="10195046" cy="566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Arquitectura del Proyecto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3090388" y="2795873"/>
            <a:ext cx="4018016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Puntos: 0-5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383546" y="3423104"/>
            <a:ext cx="14313056" cy="674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✅ 3 capas · Docker · AWS EC2 · contenerización por instancia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951338" y="4383014"/>
            <a:ext cx="16491137" cy="1460373"/>
            <a:chOff x="0" y="0"/>
            <a:chExt cx="21988183" cy="194716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88146" cy="1947164"/>
            </a:xfrm>
            <a:custGeom>
              <a:avLst/>
              <a:gdLst/>
              <a:ahLst/>
              <a:cxnLst/>
              <a:rect r="r" b="b" t="t" l="l"/>
              <a:pathLst>
                <a:path h="1947164" w="21988146">
                  <a:moveTo>
                    <a:pt x="0" y="324485"/>
                  </a:moveTo>
                  <a:cubicBezTo>
                    <a:pt x="0" y="145288"/>
                    <a:pt x="145288" y="0"/>
                    <a:pt x="324485" y="0"/>
                  </a:cubicBezTo>
                  <a:lnTo>
                    <a:pt x="21663661" y="0"/>
                  </a:lnTo>
                  <a:cubicBezTo>
                    <a:pt x="21842857" y="0"/>
                    <a:pt x="21988146" y="145288"/>
                    <a:pt x="21988146" y="324485"/>
                  </a:cubicBezTo>
                  <a:lnTo>
                    <a:pt x="21988146" y="1622679"/>
                  </a:lnTo>
                  <a:cubicBezTo>
                    <a:pt x="21988146" y="1801876"/>
                    <a:pt x="21842857" y="1947164"/>
                    <a:pt x="21663661" y="1947164"/>
                  </a:cubicBezTo>
                  <a:lnTo>
                    <a:pt x="324485" y="1947164"/>
                  </a:lnTo>
                  <a:cubicBezTo>
                    <a:pt x="145288" y="1947164"/>
                    <a:pt x="0" y="1801876"/>
                    <a:pt x="0" y="1622679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EC4899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166774" y="4667088"/>
            <a:ext cx="892235" cy="892235"/>
            <a:chOff x="0" y="0"/>
            <a:chExt cx="1189647" cy="118964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189609" cy="1189609"/>
            </a:xfrm>
            <a:custGeom>
              <a:avLst/>
              <a:gdLst/>
              <a:ahLst/>
              <a:cxnLst/>
              <a:rect r="r" b="b" t="t" l="l"/>
              <a:pathLst>
                <a:path h="1189609" w="1189609">
                  <a:moveTo>
                    <a:pt x="0" y="198247"/>
                  </a:moveTo>
                  <a:cubicBezTo>
                    <a:pt x="0" y="88773"/>
                    <a:pt x="88773" y="0"/>
                    <a:pt x="198247" y="0"/>
                  </a:cubicBezTo>
                  <a:lnTo>
                    <a:pt x="991362" y="0"/>
                  </a:lnTo>
                  <a:cubicBezTo>
                    <a:pt x="1100836" y="0"/>
                    <a:pt x="1189609" y="88773"/>
                    <a:pt x="1189609" y="198247"/>
                  </a:cubicBezTo>
                  <a:lnTo>
                    <a:pt x="1189609" y="991362"/>
                  </a:lnTo>
                  <a:cubicBezTo>
                    <a:pt x="1189609" y="1100836"/>
                    <a:pt x="1100836" y="1189609"/>
                    <a:pt x="991362" y="1189609"/>
                  </a:cubicBezTo>
                  <a:lnTo>
                    <a:pt x="198247" y="1189609"/>
                  </a:lnTo>
                  <a:cubicBezTo>
                    <a:pt x="88773" y="1189609"/>
                    <a:pt x="0" y="1100836"/>
                    <a:pt x="0" y="991362"/>
                  </a:cubicBezTo>
                  <a:close/>
                </a:path>
              </a:pathLst>
            </a:custGeom>
            <a:solidFill>
              <a:srgbClr val="EC4899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28575"/>
              <a:ext cx="1189647" cy="12182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383546" y="4492666"/>
            <a:ext cx="10195046" cy="566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Implementación Funcional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3090388" y="4511716"/>
            <a:ext cx="4018016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Puntos: 0-5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383546" y="5138947"/>
            <a:ext cx="14313056" cy="674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✅ Usuarios · catálogo · carrito · pedidos · admin · redes sociales · Shop the Post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951338" y="6098858"/>
            <a:ext cx="16491137" cy="1460373"/>
            <a:chOff x="0" y="0"/>
            <a:chExt cx="21988183" cy="1947164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1988146" cy="1947164"/>
            </a:xfrm>
            <a:custGeom>
              <a:avLst/>
              <a:gdLst/>
              <a:ahLst/>
              <a:cxnLst/>
              <a:rect r="r" b="b" t="t" l="l"/>
              <a:pathLst>
                <a:path h="1947164" w="21988146">
                  <a:moveTo>
                    <a:pt x="0" y="324485"/>
                  </a:moveTo>
                  <a:cubicBezTo>
                    <a:pt x="0" y="145288"/>
                    <a:pt x="145288" y="0"/>
                    <a:pt x="324485" y="0"/>
                  </a:cubicBezTo>
                  <a:lnTo>
                    <a:pt x="21663661" y="0"/>
                  </a:lnTo>
                  <a:cubicBezTo>
                    <a:pt x="21842857" y="0"/>
                    <a:pt x="21988146" y="145288"/>
                    <a:pt x="21988146" y="324485"/>
                  </a:cubicBezTo>
                  <a:lnTo>
                    <a:pt x="21988146" y="1622679"/>
                  </a:lnTo>
                  <a:cubicBezTo>
                    <a:pt x="21988146" y="1801876"/>
                    <a:pt x="21842857" y="1947164"/>
                    <a:pt x="21663661" y="1947164"/>
                  </a:cubicBezTo>
                  <a:lnTo>
                    <a:pt x="324485" y="1947164"/>
                  </a:lnTo>
                  <a:cubicBezTo>
                    <a:pt x="145288" y="1947164"/>
                    <a:pt x="0" y="1801876"/>
                    <a:pt x="0" y="1622679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F59E0B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1166774" y="6382931"/>
            <a:ext cx="892235" cy="892235"/>
            <a:chOff x="0" y="0"/>
            <a:chExt cx="1189647" cy="1189647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189609" cy="1189609"/>
            </a:xfrm>
            <a:custGeom>
              <a:avLst/>
              <a:gdLst/>
              <a:ahLst/>
              <a:cxnLst/>
              <a:rect r="r" b="b" t="t" l="l"/>
              <a:pathLst>
                <a:path h="1189609" w="1189609">
                  <a:moveTo>
                    <a:pt x="0" y="198247"/>
                  </a:moveTo>
                  <a:cubicBezTo>
                    <a:pt x="0" y="88773"/>
                    <a:pt x="88773" y="0"/>
                    <a:pt x="198247" y="0"/>
                  </a:cubicBezTo>
                  <a:lnTo>
                    <a:pt x="991362" y="0"/>
                  </a:lnTo>
                  <a:cubicBezTo>
                    <a:pt x="1100836" y="0"/>
                    <a:pt x="1189609" y="88773"/>
                    <a:pt x="1189609" y="198247"/>
                  </a:cubicBezTo>
                  <a:lnTo>
                    <a:pt x="1189609" y="991362"/>
                  </a:lnTo>
                  <a:cubicBezTo>
                    <a:pt x="1189609" y="1100836"/>
                    <a:pt x="1100836" y="1189609"/>
                    <a:pt x="991362" y="1189609"/>
                  </a:cubicBezTo>
                  <a:lnTo>
                    <a:pt x="198247" y="1189609"/>
                  </a:lnTo>
                  <a:cubicBezTo>
                    <a:pt x="88773" y="1189609"/>
                    <a:pt x="0" y="1100836"/>
                    <a:pt x="0" y="991362"/>
                  </a:cubicBezTo>
                  <a:close/>
                </a:path>
              </a:pathLst>
            </a:custGeom>
            <a:solidFill>
              <a:srgbClr val="F59E0B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28575"/>
              <a:ext cx="1189647" cy="12182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2383546" y="6208509"/>
            <a:ext cx="10195046" cy="566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Uso de Tecnologías Cloud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3090388" y="6227559"/>
            <a:ext cx="4018016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Puntos: 0-5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383546" y="6854790"/>
            <a:ext cx="14313056" cy="674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✅ AWS EC2 Ubuntu 22.04 · Security Group · acceso operativo · script automatizado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951338" y="7814701"/>
            <a:ext cx="16491137" cy="1460373"/>
            <a:chOff x="0" y="0"/>
            <a:chExt cx="21988183" cy="194716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1988146" cy="1947164"/>
            </a:xfrm>
            <a:custGeom>
              <a:avLst/>
              <a:gdLst/>
              <a:ahLst/>
              <a:cxnLst/>
              <a:rect r="r" b="b" t="t" l="l"/>
              <a:pathLst>
                <a:path h="1947164" w="21988146">
                  <a:moveTo>
                    <a:pt x="0" y="324485"/>
                  </a:moveTo>
                  <a:cubicBezTo>
                    <a:pt x="0" y="145288"/>
                    <a:pt x="145288" y="0"/>
                    <a:pt x="324485" y="0"/>
                  </a:cubicBezTo>
                  <a:lnTo>
                    <a:pt x="21663661" y="0"/>
                  </a:lnTo>
                  <a:cubicBezTo>
                    <a:pt x="21842857" y="0"/>
                    <a:pt x="21988146" y="145288"/>
                    <a:pt x="21988146" y="324485"/>
                  </a:cubicBezTo>
                  <a:lnTo>
                    <a:pt x="21988146" y="1622679"/>
                  </a:lnTo>
                  <a:cubicBezTo>
                    <a:pt x="21988146" y="1801876"/>
                    <a:pt x="21842857" y="1947164"/>
                    <a:pt x="21663661" y="1947164"/>
                  </a:cubicBezTo>
                  <a:lnTo>
                    <a:pt x="324485" y="1947164"/>
                  </a:lnTo>
                  <a:cubicBezTo>
                    <a:pt x="145288" y="1947164"/>
                    <a:pt x="0" y="1801876"/>
                    <a:pt x="0" y="1622679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0B981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166774" y="8098765"/>
            <a:ext cx="892235" cy="892235"/>
            <a:chOff x="0" y="0"/>
            <a:chExt cx="1189647" cy="1189647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189609" cy="1189609"/>
            </a:xfrm>
            <a:custGeom>
              <a:avLst/>
              <a:gdLst/>
              <a:ahLst/>
              <a:cxnLst/>
              <a:rect r="r" b="b" t="t" l="l"/>
              <a:pathLst>
                <a:path h="1189609" w="1189609">
                  <a:moveTo>
                    <a:pt x="0" y="198247"/>
                  </a:moveTo>
                  <a:cubicBezTo>
                    <a:pt x="0" y="88773"/>
                    <a:pt x="88773" y="0"/>
                    <a:pt x="198247" y="0"/>
                  </a:cubicBezTo>
                  <a:lnTo>
                    <a:pt x="991362" y="0"/>
                  </a:lnTo>
                  <a:cubicBezTo>
                    <a:pt x="1100836" y="0"/>
                    <a:pt x="1189609" y="88773"/>
                    <a:pt x="1189609" y="198247"/>
                  </a:cubicBezTo>
                  <a:lnTo>
                    <a:pt x="1189609" y="991362"/>
                  </a:lnTo>
                  <a:cubicBezTo>
                    <a:pt x="1189609" y="1100836"/>
                    <a:pt x="1100836" y="1189609"/>
                    <a:pt x="991362" y="1189609"/>
                  </a:cubicBezTo>
                  <a:lnTo>
                    <a:pt x="198247" y="1189609"/>
                  </a:lnTo>
                  <a:cubicBezTo>
                    <a:pt x="88773" y="1189609"/>
                    <a:pt x="0" y="1100836"/>
                    <a:pt x="0" y="991362"/>
                  </a:cubicBezTo>
                  <a:close/>
                </a:path>
              </a:pathLst>
            </a:custGeom>
            <a:solidFill>
              <a:srgbClr val="10B981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28575"/>
              <a:ext cx="1189647" cy="12182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2383546" y="7924352"/>
            <a:ext cx="10195046" cy="566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Presentación y Demostración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3090388" y="7943402"/>
            <a:ext cx="4018016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Puntos: 0-5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2383546" y="8570624"/>
            <a:ext cx="14313056" cy="674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✅ PPT estructurado · doc completa · sistema en vivo · demo 18 min ensayada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13/18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592036"/>
            <a:ext cx="16372065" cy="897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Pruebas realizadas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10869" y="1560471"/>
            <a:ext cx="16372065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21 casos en 3 categorías · 100% aprobados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51338" y="2408044"/>
            <a:ext cx="5509755" cy="7072932"/>
            <a:chOff x="0" y="0"/>
            <a:chExt cx="7346340" cy="94305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346315" cy="9430511"/>
            </a:xfrm>
            <a:custGeom>
              <a:avLst/>
              <a:gdLst/>
              <a:ahLst/>
              <a:cxnLst/>
              <a:rect r="r" b="b" t="t" l="l"/>
              <a:pathLst>
                <a:path h="9430511" w="7346315">
                  <a:moveTo>
                    <a:pt x="0" y="1258298"/>
                  </a:moveTo>
                  <a:cubicBezTo>
                    <a:pt x="0" y="563304"/>
                    <a:pt x="548132" y="0"/>
                    <a:pt x="1224407" y="0"/>
                  </a:cubicBezTo>
                  <a:lnTo>
                    <a:pt x="6121908" y="0"/>
                  </a:lnTo>
                  <a:cubicBezTo>
                    <a:pt x="6798183" y="0"/>
                    <a:pt x="7346315" y="563304"/>
                    <a:pt x="7346315" y="1258298"/>
                  </a:cubicBezTo>
                  <a:lnTo>
                    <a:pt x="7346315" y="8172213"/>
                  </a:lnTo>
                  <a:cubicBezTo>
                    <a:pt x="7346315" y="8867207"/>
                    <a:pt x="6798183" y="9430511"/>
                    <a:pt x="6121908" y="9430511"/>
                  </a:cubicBezTo>
                  <a:lnTo>
                    <a:pt x="1224407" y="9430511"/>
                  </a:lnTo>
                  <a:cubicBezTo>
                    <a:pt x="548132" y="9430510"/>
                    <a:pt x="0" y="8867207"/>
                    <a:pt x="0" y="8172213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1285408" y="2717721"/>
            <a:ext cx="4841624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1"/>
              </a:lnSpc>
            </a:pPr>
            <a:r>
              <a:rPr lang="en-US" sz="2301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E-commerce (7 casos)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26842" y="3576571"/>
            <a:ext cx="4758738" cy="2305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Registro de usuario</a:t>
            </a:r>
          </a:p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Login válido</a:t>
            </a:r>
          </a:p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AJAX carrito</a:t>
            </a:r>
          </a:p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Modificar cantidad</a:t>
            </a:r>
          </a:p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Checkout con stock</a:t>
            </a:r>
          </a:p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Checkout sin stock</a:t>
            </a:r>
          </a:p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Acceso admin denegado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6647926" y="2408044"/>
            <a:ext cx="5509755" cy="7072932"/>
            <a:chOff x="0" y="0"/>
            <a:chExt cx="7346340" cy="943057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346315" cy="9430511"/>
            </a:xfrm>
            <a:custGeom>
              <a:avLst/>
              <a:gdLst/>
              <a:ahLst/>
              <a:cxnLst/>
              <a:rect r="r" b="b" t="t" l="l"/>
              <a:pathLst>
                <a:path h="9430511" w="7346315">
                  <a:moveTo>
                    <a:pt x="0" y="1258298"/>
                  </a:moveTo>
                  <a:cubicBezTo>
                    <a:pt x="0" y="563304"/>
                    <a:pt x="548132" y="0"/>
                    <a:pt x="1224407" y="0"/>
                  </a:cubicBezTo>
                  <a:lnTo>
                    <a:pt x="6121908" y="0"/>
                  </a:lnTo>
                  <a:cubicBezTo>
                    <a:pt x="6798183" y="0"/>
                    <a:pt x="7346315" y="563304"/>
                    <a:pt x="7346315" y="1258298"/>
                  </a:cubicBezTo>
                  <a:lnTo>
                    <a:pt x="7346315" y="8172213"/>
                  </a:lnTo>
                  <a:cubicBezTo>
                    <a:pt x="7346315" y="8867207"/>
                    <a:pt x="6798183" y="9430511"/>
                    <a:pt x="6121908" y="9430511"/>
                  </a:cubicBezTo>
                  <a:lnTo>
                    <a:pt x="1224407" y="9430511"/>
                  </a:lnTo>
                  <a:cubicBezTo>
                    <a:pt x="548132" y="9430510"/>
                    <a:pt x="0" y="8867207"/>
                    <a:pt x="0" y="8172213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0B981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6981996" y="2717721"/>
            <a:ext cx="4841624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1"/>
              </a:lnSpc>
            </a:pPr>
            <a:r>
              <a:rPr lang="en-US" sz="2301" b="true">
                <a:solidFill>
                  <a:srgbClr val="10B981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Monitor SO (5 casos)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023440" y="3557521"/>
            <a:ext cx="4758738" cy="1819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21"/>
              </a:lnSpc>
            </a:pPr>
            <a:r>
              <a:rPr lang="en-US" sz="23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5 hilos activos en LWP</a:t>
            </a:r>
          </a:p>
          <a:p>
            <a:pPr algn="l">
              <a:lnSpc>
                <a:spcPts val="2821"/>
              </a:lnSpc>
            </a:pPr>
            <a:r>
              <a:rPr lang="en-US" sz="23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Stress CPU &gt; 80%</a:t>
            </a:r>
          </a:p>
          <a:p>
            <a:pPr algn="l">
              <a:lnSpc>
                <a:spcPts val="2821"/>
              </a:lnSpc>
            </a:pPr>
            <a:r>
              <a:rPr lang="en-US" sz="23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Lectura vs htop ±2%</a:t>
            </a:r>
          </a:p>
          <a:p>
            <a:pPr algn="l">
              <a:lnSpc>
                <a:spcPts val="2821"/>
              </a:lnSpc>
            </a:pPr>
            <a:r>
              <a:rPr lang="en-US" sz="23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Persistencia tras reinicio</a:t>
            </a:r>
          </a:p>
          <a:p>
            <a:pPr algn="l">
              <a:lnSpc>
                <a:spcPts val="2821"/>
              </a:lnSpc>
            </a:pPr>
            <a:r>
              <a:rPr lang="en-US" sz="23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1000 ciclos sin race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2344524" y="2408044"/>
            <a:ext cx="5509755" cy="7072932"/>
            <a:chOff x="0" y="0"/>
            <a:chExt cx="7346340" cy="943057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346315" cy="9430511"/>
            </a:xfrm>
            <a:custGeom>
              <a:avLst/>
              <a:gdLst/>
              <a:ahLst/>
              <a:cxnLst/>
              <a:rect r="r" b="b" t="t" l="l"/>
              <a:pathLst>
                <a:path h="9430511" w="7346315">
                  <a:moveTo>
                    <a:pt x="0" y="1258298"/>
                  </a:moveTo>
                  <a:cubicBezTo>
                    <a:pt x="0" y="563304"/>
                    <a:pt x="548132" y="0"/>
                    <a:pt x="1224407" y="0"/>
                  </a:cubicBezTo>
                  <a:lnTo>
                    <a:pt x="6121908" y="0"/>
                  </a:lnTo>
                  <a:cubicBezTo>
                    <a:pt x="6798183" y="0"/>
                    <a:pt x="7346315" y="563304"/>
                    <a:pt x="7346315" y="1258298"/>
                  </a:cubicBezTo>
                  <a:lnTo>
                    <a:pt x="7346315" y="8172213"/>
                  </a:lnTo>
                  <a:cubicBezTo>
                    <a:pt x="7346315" y="8867207"/>
                    <a:pt x="6798183" y="9430511"/>
                    <a:pt x="6121908" y="9430511"/>
                  </a:cubicBezTo>
                  <a:lnTo>
                    <a:pt x="1224407" y="9430511"/>
                  </a:lnTo>
                  <a:cubicBezTo>
                    <a:pt x="548132" y="9430510"/>
                    <a:pt x="0" y="8867207"/>
                    <a:pt x="0" y="8172213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EC4899"/>
              </a:solidFill>
              <a:prstDash val="solid"/>
              <a:miter/>
            </a:ln>
          </p:spPr>
        </p:sp>
      </p:grpSp>
      <p:sp>
        <p:nvSpPr>
          <p:cNvPr name="TextBox 16" id="16"/>
          <p:cNvSpPr txBox="true"/>
          <p:nvPr/>
        </p:nvSpPr>
        <p:spPr>
          <a:xfrm rot="0">
            <a:off x="12678585" y="2717721"/>
            <a:ext cx="4841624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1"/>
              </a:lnSpc>
            </a:pPr>
            <a:r>
              <a:rPr lang="en-US" sz="2301" b="true">
                <a:solidFill>
                  <a:srgbClr val="EC489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Social Commerce (9 casos)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720028" y="3576571"/>
            <a:ext cx="4758738" cy="2952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Like logueado</a:t>
            </a:r>
          </a:p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Toggle de like</a:t>
            </a:r>
          </a:p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Like sin sesión</a:t>
            </a:r>
          </a:p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Reseña con rating</a:t>
            </a:r>
          </a:p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Reseña inválida</a:t>
            </a:r>
          </a:p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Publicación etiquetada</a:t>
            </a:r>
          </a:p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Shop the Post redirect</a:t>
            </a:r>
          </a:p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Productos populares</a:t>
            </a:r>
          </a:p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KPIs en admin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14/18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592036"/>
            <a:ext cx="16372065" cy="897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Resultados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51338" y="2324014"/>
            <a:ext cx="3999814" cy="2764412"/>
            <a:chOff x="0" y="0"/>
            <a:chExt cx="5333086" cy="368588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333111" cy="3685794"/>
            </a:xfrm>
            <a:custGeom>
              <a:avLst/>
              <a:gdLst/>
              <a:ahLst/>
              <a:cxnLst/>
              <a:rect r="r" b="b" t="t" l="l"/>
              <a:pathLst>
                <a:path h="3685794" w="5333111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4718812" y="0"/>
                  </a:lnTo>
                  <a:cubicBezTo>
                    <a:pt x="5058156" y="0"/>
                    <a:pt x="5333111" y="275082"/>
                    <a:pt x="5333111" y="614299"/>
                  </a:cubicBezTo>
                  <a:lnTo>
                    <a:pt x="5333111" y="3071495"/>
                  </a:lnTo>
                  <a:cubicBezTo>
                    <a:pt x="5333111" y="3410839"/>
                    <a:pt x="5058029" y="3685794"/>
                    <a:pt x="4718812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148134" y="2485206"/>
            <a:ext cx="3606213" cy="14755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6"/>
              </a:lnSpc>
            </a:pPr>
            <a:r>
              <a:rPr lang="en-US" sz="7205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13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48134" y="4099922"/>
            <a:ext cx="3606213" cy="8217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tablas en BD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5275259" y="2324014"/>
            <a:ext cx="3999814" cy="2764412"/>
            <a:chOff x="0" y="0"/>
            <a:chExt cx="5333086" cy="3685883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333111" cy="3685794"/>
            </a:xfrm>
            <a:custGeom>
              <a:avLst/>
              <a:gdLst/>
              <a:ahLst/>
              <a:cxnLst/>
              <a:rect r="r" b="b" t="t" l="l"/>
              <a:pathLst>
                <a:path h="3685794" w="5333111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4718812" y="0"/>
                  </a:lnTo>
                  <a:cubicBezTo>
                    <a:pt x="5058156" y="0"/>
                    <a:pt x="5333111" y="275082"/>
                    <a:pt x="5333111" y="614299"/>
                  </a:cubicBezTo>
                  <a:lnTo>
                    <a:pt x="5333111" y="3071495"/>
                  </a:lnTo>
                  <a:cubicBezTo>
                    <a:pt x="5333111" y="3410839"/>
                    <a:pt x="5058029" y="3685794"/>
                    <a:pt x="4718812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8B5CF6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5472055" y="2485206"/>
            <a:ext cx="3606213" cy="14755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6"/>
              </a:lnSpc>
            </a:pPr>
            <a:r>
              <a:rPr lang="en-US" sz="7205" b="true">
                <a:solidFill>
                  <a:srgbClr val="8B5C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3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472055" y="4099922"/>
            <a:ext cx="3606213" cy="8217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contenedores Docker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9599171" y="2324014"/>
            <a:ext cx="3999814" cy="2764412"/>
            <a:chOff x="0" y="0"/>
            <a:chExt cx="5333086" cy="368588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333111" cy="3685794"/>
            </a:xfrm>
            <a:custGeom>
              <a:avLst/>
              <a:gdLst/>
              <a:ahLst/>
              <a:cxnLst/>
              <a:rect r="r" b="b" t="t" l="l"/>
              <a:pathLst>
                <a:path h="3685794" w="5333111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4718812" y="0"/>
                  </a:lnTo>
                  <a:cubicBezTo>
                    <a:pt x="5058156" y="0"/>
                    <a:pt x="5333111" y="275082"/>
                    <a:pt x="5333111" y="614299"/>
                  </a:cubicBezTo>
                  <a:lnTo>
                    <a:pt x="5333111" y="3071495"/>
                  </a:lnTo>
                  <a:cubicBezTo>
                    <a:pt x="5333111" y="3410839"/>
                    <a:pt x="5058029" y="3685794"/>
                    <a:pt x="4718812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0B981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9795977" y="2485206"/>
            <a:ext cx="3606213" cy="14755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6"/>
              </a:lnSpc>
            </a:pPr>
            <a:r>
              <a:rPr lang="en-US" sz="7205" b="true">
                <a:solidFill>
                  <a:srgbClr val="10B981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5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795977" y="4099922"/>
            <a:ext cx="3606213" cy="8217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hilos POSIX activos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3923093" y="2324014"/>
            <a:ext cx="3999814" cy="2764412"/>
            <a:chOff x="0" y="0"/>
            <a:chExt cx="5333086" cy="3685883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333111" cy="3685794"/>
            </a:xfrm>
            <a:custGeom>
              <a:avLst/>
              <a:gdLst/>
              <a:ahLst/>
              <a:cxnLst/>
              <a:rect r="r" b="b" t="t" l="l"/>
              <a:pathLst>
                <a:path h="3685794" w="5333111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4718812" y="0"/>
                  </a:lnTo>
                  <a:cubicBezTo>
                    <a:pt x="5058156" y="0"/>
                    <a:pt x="5333111" y="275082"/>
                    <a:pt x="5333111" y="614299"/>
                  </a:cubicBezTo>
                  <a:lnTo>
                    <a:pt x="5333111" y="3071495"/>
                  </a:lnTo>
                  <a:cubicBezTo>
                    <a:pt x="5333111" y="3410839"/>
                    <a:pt x="5058029" y="3685794"/>
                    <a:pt x="4718812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F59E0B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14119889" y="2485206"/>
            <a:ext cx="3606213" cy="14755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6"/>
              </a:lnSpc>
            </a:pPr>
            <a:r>
              <a:rPr lang="en-US" sz="7205" b="true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24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119889" y="4099922"/>
            <a:ext cx="3606213" cy="8217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productos en catálogo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951338" y="5618426"/>
            <a:ext cx="3999814" cy="2764412"/>
            <a:chOff x="0" y="0"/>
            <a:chExt cx="5333086" cy="3685883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333111" cy="3685794"/>
            </a:xfrm>
            <a:custGeom>
              <a:avLst/>
              <a:gdLst/>
              <a:ahLst/>
              <a:cxnLst/>
              <a:rect r="r" b="b" t="t" l="l"/>
              <a:pathLst>
                <a:path h="3685794" w="5333111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4718812" y="0"/>
                  </a:lnTo>
                  <a:cubicBezTo>
                    <a:pt x="5058156" y="0"/>
                    <a:pt x="5333111" y="275082"/>
                    <a:pt x="5333111" y="614299"/>
                  </a:cubicBezTo>
                  <a:lnTo>
                    <a:pt x="5333111" y="3071495"/>
                  </a:lnTo>
                  <a:cubicBezTo>
                    <a:pt x="5333111" y="3410839"/>
                    <a:pt x="5058029" y="3685794"/>
                    <a:pt x="4718812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EC4899"/>
              </a:solidFill>
              <a:prstDash val="solid"/>
              <a:miter/>
            </a:ln>
          </p:spPr>
        </p:sp>
      </p:grpSp>
      <p:sp>
        <p:nvSpPr>
          <p:cNvPr name="TextBox 23" id="23"/>
          <p:cNvSpPr txBox="true"/>
          <p:nvPr/>
        </p:nvSpPr>
        <p:spPr>
          <a:xfrm rot="0">
            <a:off x="1148134" y="5779618"/>
            <a:ext cx="3606213" cy="14755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6"/>
              </a:lnSpc>
            </a:pPr>
            <a:r>
              <a:rPr lang="en-US" sz="7205" b="true">
                <a:solidFill>
                  <a:srgbClr val="EC489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21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48134" y="7394334"/>
            <a:ext cx="3606213" cy="8217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casos de prueba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5275259" y="5618426"/>
            <a:ext cx="3999814" cy="2764412"/>
            <a:chOff x="0" y="0"/>
            <a:chExt cx="5333086" cy="3685883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5333111" cy="3685794"/>
            </a:xfrm>
            <a:custGeom>
              <a:avLst/>
              <a:gdLst/>
              <a:ahLst/>
              <a:cxnLst/>
              <a:rect r="r" b="b" t="t" l="l"/>
              <a:pathLst>
                <a:path h="3685794" w="5333111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4718812" y="0"/>
                  </a:lnTo>
                  <a:cubicBezTo>
                    <a:pt x="5058156" y="0"/>
                    <a:pt x="5333111" y="275082"/>
                    <a:pt x="5333111" y="614299"/>
                  </a:cubicBezTo>
                  <a:lnTo>
                    <a:pt x="5333111" y="3071495"/>
                  </a:lnTo>
                  <a:cubicBezTo>
                    <a:pt x="5333111" y="3410839"/>
                    <a:pt x="5058029" y="3685794"/>
                    <a:pt x="4718812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27" id="27"/>
          <p:cNvSpPr txBox="true"/>
          <p:nvPr/>
        </p:nvSpPr>
        <p:spPr>
          <a:xfrm rot="0">
            <a:off x="5472055" y="5779618"/>
            <a:ext cx="3606213" cy="14755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6"/>
              </a:lnSpc>
            </a:pPr>
            <a:r>
              <a:rPr lang="en-US" sz="7205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~5s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5472055" y="7394334"/>
            <a:ext cx="3606213" cy="8217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intervalo de muestreo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9599171" y="5618426"/>
            <a:ext cx="3999814" cy="2764412"/>
            <a:chOff x="0" y="0"/>
            <a:chExt cx="5333086" cy="3685883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5333111" cy="3685794"/>
            </a:xfrm>
            <a:custGeom>
              <a:avLst/>
              <a:gdLst/>
              <a:ahLst/>
              <a:cxnLst/>
              <a:rect r="r" b="b" t="t" l="l"/>
              <a:pathLst>
                <a:path h="3685794" w="5333111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4718812" y="0"/>
                  </a:lnTo>
                  <a:cubicBezTo>
                    <a:pt x="5058156" y="0"/>
                    <a:pt x="5333111" y="275082"/>
                    <a:pt x="5333111" y="614299"/>
                  </a:cubicBezTo>
                  <a:lnTo>
                    <a:pt x="5333111" y="3071495"/>
                  </a:lnTo>
                  <a:cubicBezTo>
                    <a:pt x="5333111" y="3410839"/>
                    <a:pt x="5058029" y="3685794"/>
                    <a:pt x="4718812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0B981"/>
              </a:solidFill>
              <a:prstDash val="solid"/>
              <a:miter/>
            </a:ln>
          </p:spPr>
        </p:sp>
      </p:grpSp>
      <p:sp>
        <p:nvSpPr>
          <p:cNvPr name="TextBox 31" id="31"/>
          <p:cNvSpPr txBox="true"/>
          <p:nvPr/>
        </p:nvSpPr>
        <p:spPr>
          <a:xfrm rot="0">
            <a:off x="9795977" y="5779618"/>
            <a:ext cx="3606213" cy="14755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6"/>
              </a:lnSpc>
            </a:pPr>
            <a:r>
              <a:rPr lang="en-US" sz="7205" b="true">
                <a:solidFill>
                  <a:srgbClr val="10B981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99%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795977" y="7394334"/>
            <a:ext cx="3606213" cy="8217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uptime objetivo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3923093" y="5618426"/>
            <a:ext cx="3999814" cy="2764412"/>
            <a:chOff x="0" y="0"/>
            <a:chExt cx="5333086" cy="3685883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333111" cy="3685794"/>
            </a:xfrm>
            <a:custGeom>
              <a:avLst/>
              <a:gdLst/>
              <a:ahLst/>
              <a:cxnLst/>
              <a:rect r="r" b="b" t="t" l="l"/>
              <a:pathLst>
                <a:path h="3685794" w="5333111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4718812" y="0"/>
                  </a:lnTo>
                  <a:cubicBezTo>
                    <a:pt x="5058156" y="0"/>
                    <a:pt x="5333111" y="275082"/>
                    <a:pt x="5333111" y="614299"/>
                  </a:cubicBezTo>
                  <a:lnTo>
                    <a:pt x="5333111" y="3071495"/>
                  </a:lnTo>
                  <a:cubicBezTo>
                    <a:pt x="5333111" y="3410839"/>
                    <a:pt x="5058029" y="3685794"/>
                    <a:pt x="4718812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F59E0B"/>
              </a:solidFill>
              <a:prstDash val="solid"/>
              <a:miter/>
            </a:ln>
          </p:spPr>
        </p:sp>
      </p:grpSp>
      <p:sp>
        <p:nvSpPr>
          <p:cNvPr name="TextBox 35" id="35"/>
          <p:cNvSpPr txBox="true"/>
          <p:nvPr/>
        </p:nvSpPr>
        <p:spPr>
          <a:xfrm rot="0">
            <a:off x="14119889" y="5779618"/>
            <a:ext cx="3606213" cy="14755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6"/>
              </a:lnSpc>
            </a:pPr>
            <a:r>
              <a:rPr lang="en-US" sz="7205" b="true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$0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4119889" y="7394334"/>
            <a:ext cx="3606213" cy="8217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costo (Free Tier)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15/18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592036"/>
            <a:ext cx="16372065" cy="897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Plan de demostración (18 min)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60872" y="2333539"/>
            <a:ext cx="754971" cy="549069"/>
            <a:chOff x="0" y="0"/>
            <a:chExt cx="1006627" cy="73209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06602" cy="732155"/>
            </a:xfrm>
            <a:custGeom>
              <a:avLst/>
              <a:gdLst/>
              <a:ahLst/>
              <a:cxnLst/>
              <a:rect r="r" b="b" t="t" l="l"/>
              <a:pathLst>
                <a:path h="732155" w="1006602">
                  <a:moveTo>
                    <a:pt x="0" y="122047"/>
                  </a:moveTo>
                  <a:cubicBezTo>
                    <a:pt x="0" y="54610"/>
                    <a:pt x="54610" y="0"/>
                    <a:pt x="122047" y="0"/>
                  </a:cubicBezTo>
                  <a:lnTo>
                    <a:pt x="884555" y="0"/>
                  </a:lnTo>
                  <a:cubicBezTo>
                    <a:pt x="951992" y="0"/>
                    <a:pt x="1006602" y="54610"/>
                    <a:pt x="1006602" y="122047"/>
                  </a:cubicBezTo>
                  <a:lnTo>
                    <a:pt x="1006602" y="610108"/>
                  </a:lnTo>
                  <a:cubicBezTo>
                    <a:pt x="1006602" y="677545"/>
                    <a:pt x="951992" y="732155"/>
                    <a:pt x="884555" y="732155"/>
                  </a:cubicBezTo>
                  <a:lnTo>
                    <a:pt x="122047" y="732155"/>
                  </a:lnTo>
                  <a:cubicBezTo>
                    <a:pt x="54610" y="732155"/>
                    <a:pt x="0" y="677418"/>
                    <a:pt x="0" y="610108"/>
                  </a:cubicBezTo>
                  <a:close/>
                </a:path>
              </a:pathLst>
            </a:custGeom>
            <a:solidFill>
              <a:srgbClr val="3B82F6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1006627" cy="7606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01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040379" y="2374554"/>
            <a:ext cx="12940389" cy="48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Apertura del sitio en AWS · catálogo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149398" y="2384079"/>
            <a:ext cx="1959007" cy="478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1 min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60872" y="3033608"/>
            <a:ext cx="754971" cy="549069"/>
            <a:chOff x="0" y="0"/>
            <a:chExt cx="1006627" cy="73209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06602" cy="732155"/>
            </a:xfrm>
            <a:custGeom>
              <a:avLst/>
              <a:gdLst/>
              <a:ahLst/>
              <a:cxnLst/>
              <a:rect r="r" b="b" t="t" l="l"/>
              <a:pathLst>
                <a:path h="732155" w="1006602">
                  <a:moveTo>
                    <a:pt x="0" y="122047"/>
                  </a:moveTo>
                  <a:cubicBezTo>
                    <a:pt x="0" y="54610"/>
                    <a:pt x="54610" y="0"/>
                    <a:pt x="122047" y="0"/>
                  </a:cubicBezTo>
                  <a:lnTo>
                    <a:pt x="884555" y="0"/>
                  </a:lnTo>
                  <a:cubicBezTo>
                    <a:pt x="951992" y="0"/>
                    <a:pt x="1006602" y="54610"/>
                    <a:pt x="1006602" y="122047"/>
                  </a:cubicBezTo>
                  <a:lnTo>
                    <a:pt x="1006602" y="610108"/>
                  </a:lnTo>
                  <a:cubicBezTo>
                    <a:pt x="1006602" y="677545"/>
                    <a:pt x="951992" y="732155"/>
                    <a:pt x="884555" y="732155"/>
                  </a:cubicBezTo>
                  <a:lnTo>
                    <a:pt x="122047" y="732155"/>
                  </a:lnTo>
                  <a:cubicBezTo>
                    <a:pt x="54610" y="732155"/>
                    <a:pt x="0" y="677418"/>
                    <a:pt x="0" y="610108"/>
                  </a:cubicBezTo>
                  <a:close/>
                </a:path>
              </a:pathLst>
            </a:custGeom>
            <a:solidFill>
              <a:srgbClr val="8B5CF6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1006627" cy="7606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02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2040379" y="3074613"/>
            <a:ext cx="12940389" cy="48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Registro de usuario en vivo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5149398" y="3084138"/>
            <a:ext cx="1959007" cy="478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1 min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960872" y="3733667"/>
            <a:ext cx="754971" cy="549069"/>
            <a:chOff x="0" y="0"/>
            <a:chExt cx="1006627" cy="73209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06602" cy="732155"/>
            </a:xfrm>
            <a:custGeom>
              <a:avLst/>
              <a:gdLst/>
              <a:ahLst/>
              <a:cxnLst/>
              <a:rect r="r" b="b" t="t" l="l"/>
              <a:pathLst>
                <a:path h="732155" w="1006602">
                  <a:moveTo>
                    <a:pt x="0" y="122047"/>
                  </a:moveTo>
                  <a:cubicBezTo>
                    <a:pt x="0" y="54610"/>
                    <a:pt x="54610" y="0"/>
                    <a:pt x="122047" y="0"/>
                  </a:cubicBezTo>
                  <a:lnTo>
                    <a:pt x="884555" y="0"/>
                  </a:lnTo>
                  <a:cubicBezTo>
                    <a:pt x="951992" y="0"/>
                    <a:pt x="1006602" y="54610"/>
                    <a:pt x="1006602" y="122047"/>
                  </a:cubicBezTo>
                  <a:lnTo>
                    <a:pt x="1006602" y="610108"/>
                  </a:lnTo>
                  <a:cubicBezTo>
                    <a:pt x="1006602" y="677545"/>
                    <a:pt x="951992" y="732155"/>
                    <a:pt x="884555" y="732155"/>
                  </a:cubicBezTo>
                  <a:lnTo>
                    <a:pt x="122047" y="732155"/>
                  </a:lnTo>
                  <a:cubicBezTo>
                    <a:pt x="54610" y="732155"/>
                    <a:pt x="0" y="677418"/>
                    <a:pt x="0" y="610108"/>
                  </a:cubicBezTo>
                  <a:close/>
                </a:path>
              </a:pathLst>
            </a:custGeom>
            <a:solidFill>
              <a:srgbClr val="10B981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28575"/>
              <a:ext cx="1006627" cy="7606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03</a:t>
              </a: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2040379" y="3774672"/>
            <a:ext cx="12940389" cy="48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Carrito · checkout exitoso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5149398" y="3784197"/>
            <a:ext cx="1959007" cy="478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2 min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960872" y="4433735"/>
            <a:ext cx="754971" cy="549069"/>
            <a:chOff x="0" y="0"/>
            <a:chExt cx="1006627" cy="73209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06602" cy="732155"/>
            </a:xfrm>
            <a:custGeom>
              <a:avLst/>
              <a:gdLst/>
              <a:ahLst/>
              <a:cxnLst/>
              <a:rect r="r" b="b" t="t" l="l"/>
              <a:pathLst>
                <a:path h="732155" w="1006602">
                  <a:moveTo>
                    <a:pt x="0" y="122047"/>
                  </a:moveTo>
                  <a:cubicBezTo>
                    <a:pt x="0" y="54610"/>
                    <a:pt x="54610" y="0"/>
                    <a:pt x="122047" y="0"/>
                  </a:cubicBezTo>
                  <a:lnTo>
                    <a:pt x="884555" y="0"/>
                  </a:lnTo>
                  <a:cubicBezTo>
                    <a:pt x="951992" y="0"/>
                    <a:pt x="1006602" y="54610"/>
                    <a:pt x="1006602" y="122047"/>
                  </a:cubicBezTo>
                  <a:lnTo>
                    <a:pt x="1006602" y="610108"/>
                  </a:lnTo>
                  <a:cubicBezTo>
                    <a:pt x="1006602" y="677545"/>
                    <a:pt x="951992" y="732155"/>
                    <a:pt x="884555" y="732155"/>
                  </a:cubicBezTo>
                  <a:lnTo>
                    <a:pt x="122047" y="732155"/>
                  </a:lnTo>
                  <a:cubicBezTo>
                    <a:pt x="54610" y="732155"/>
                    <a:pt x="0" y="677418"/>
                    <a:pt x="0" y="610108"/>
                  </a:cubicBezTo>
                  <a:close/>
                </a:path>
              </a:pathLst>
            </a:custGeom>
            <a:solidFill>
              <a:srgbClr val="EC4899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1006627" cy="7606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04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2040379" y="4474740"/>
            <a:ext cx="12940389" cy="48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Like + reseña con estrellas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5149398" y="4484265"/>
            <a:ext cx="1959007" cy="478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2 min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60872" y="5133794"/>
            <a:ext cx="754971" cy="549069"/>
            <a:chOff x="0" y="0"/>
            <a:chExt cx="1006627" cy="732092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06602" cy="732155"/>
            </a:xfrm>
            <a:custGeom>
              <a:avLst/>
              <a:gdLst/>
              <a:ahLst/>
              <a:cxnLst/>
              <a:rect r="r" b="b" t="t" l="l"/>
              <a:pathLst>
                <a:path h="732155" w="1006602">
                  <a:moveTo>
                    <a:pt x="0" y="122047"/>
                  </a:moveTo>
                  <a:cubicBezTo>
                    <a:pt x="0" y="54610"/>
                    <a:pt x="54610" y="0"/>
                    <a:pt x="122047" y="0"/>
                  </a:cubicBezTo>
                  <a:lnTo>
                    <a:pt x="884555" y="0"/>
                  </a:lnTo>
                  <a:cubicBezTo>
                    <a:pt x="951992" y="0"/>
                    <a:pt x="1006602" y="54610"/>
                    <a:pt x="1006602" y="122047"/>
                  </a:cubicBezTo>
                  <a:lnTo>
                    <a:pt x="1006602" y="610108"/>
                  </a:lnTo>
                  <a:cubicBezTo>
                    <a:pt x="1006602" y="677545"/>
                    <a:pt x="951992" y="732155"/>
                    <a:pt x="884555" y="732155"/>
                  </a:cubicBezTo>
                  <a:lnTo>
                    <a:pt x="122047" y="732155"/>
                  </a:lnTo>
                  <a:cubicBezTo>
                    <a:pt x="54610" y="732155"/>
                    <a:pt x="0" y="677418"/>
                    <a:pt x="0" y="610108"/>
                  </a:cubicBezTo>
                  <a:close/>
                </a:path>
              </a:pathLst>
            </a:custGeom>
            <a:solidFill>
              <a:srgbClr val="F59E0B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28575"/>
              <a:ext cx="1006627" cy="7606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05</a:t>
              </a: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2040379" y="5174799"/>
            <a:ext cx="12940389" cy="48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Publicación con Shop the Post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5149398" y="5184324"/>
            <a:ext cx="1959007" cy="478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2 min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960872" y="5833853"/>
            <a:ext cx="754971" cy="549069"/>
            <a:chOff x="0" y="0"/>
            <a:chExt cx="1006627" cy="732092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06602" cy="732155"/>
            </a:xfrm>
            <a:custGeom>
              <a:avLst/>
              <a:gdLst/>
              <a:ahLst/>
              <a:cxnLst/>
              <a:rect r="r" b="b" t="t" l="l"/>
              <a:pathLst>
                <a:path h="732155" w="1006602">
                  <a:moveTo>
                    <a:pt x="0" y="122047"/>
                  </a:moveTo>
                  <a:cubicBezTo>
                    <a:pt x="0" y="54610"/>
                    <a:pt x="54610" y="0"/>
                    <a:pt x="122047" y="0"/>
                  </a:cubicBezTo>
                  <a:lnTo>
                    <a:pt x="884555" y="0"/>
                  </a:lnTo>
                  <a:cubicBezTo>
                    <a:pt x="951992" y="0"/>
                    <a:pt x="1006602" y="54610"/>
                    <a:pt x="1006602" y="122047"/>
                  </a:cubicBezTo>
                  <a:lnTo>
                    <a:pt x="1006602" y="610108"/>
                  </a:lnTo>
                  <a:cubicBezTo>
                    <a:pt x="1006602" y="677545"/>
                    <a:pt x="951992" y="732155"/>
                    <a:pt x="884555" y="732155"/>
                  </a:cubicBezTo>
                  <a:lnTo>
                    <a:pt x="122047" y="732155"/>
                  </a:lnTo>
                  <a:cubicBezTo>
                    <a:pt x="54610" y="732155"/>
                    <a:pt x="0" y="677418"/>
                    <a:pt x="0" y="610108"/>
                  </a:cubicBezTo>
                  <a:close/>
                </a:path>
              </a:pathLst>
            </a:custGeom>
            <a:solidFill>
              <a:srgbClr val="3B82F6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28575"/>
              <a:ext cx="1006627" cy="7606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06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2040379" y="5874868"/>
            <a:ext cx="12940389" cy="48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Panel admin · KPIs sociales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5149398" y="5884393"/>
            <a:ext cx="1959007" cy="478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1 min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960872" y="6533921"/>
            <a:ext cx="754971" cy="549069"/>
            <a:chOff x="0" y="0"/>
            <a:chExt cx="1006627" cy="732092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06602" cy="732155"/>
            </a:xfrm>
            <a:custGeom>
              <a:avLst/>
              <a:gdLst/>
              <a:ahLst/>
              <a:cxnLst/>
              <a:rect r="r" b="b" t="t" l="l"/>
              <a:pathLst>
                <a:path h="732155" w="1006602">
                  <a:moveTo>
                    <a:pt x="0" y="122047"/>
                  </a:moveTo>
                  <a:cubicBezTo>
                    <a:pt x="0" y="54610"/>
                    <a:pt x="54610" y="0"/>
                    <a:pt x="122047" y="0"/>
                  </a:cubicBezTo>
                  <a:lnTo>
                    <a:pt x="884555" y="0"/>
                  </a:lnTo>
                  <a:cubicBezTo>
                    <a:pt x="951992" y="0"/>
                    <a:pt x="1006602" y="54610"/>
                    <a:pt x="1006602" y="122047"/>
                  </a:cubicBezTo>
                  <a:lnTo>
                    <a:pt x="1006602" y="610108"/>
                  </a:lnTo>
                  <a:cubicBezTo>
                    <a:pt x="1006602" y="677545"/>
                    <a:pt x="951992" y="732155"/>
                    <a:pt x="884555" y="732155"/>
                  </a:cubicBezTo>
                  <a:lnTo>
                    <a:pt x="122047" y="732155"/>
                  </a:lnTo>
                  <a:cubicBezTo>
                    <a:pt x="54610" y="732155"/>
                    <a:pt x="0" y="677418"/>
                    <a:pt x="0" y="610108"/>
                  </a:cubicBezTo>
                  <a:close/>
                </a:path>
              </a:pathLst>
            </a:custGeom>
            <a:solidFill>
              <a:srgbClr val="10B981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28575"/>
              <a:ext cx="1006627" cy="7606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07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2040379" y="6574927"/>
            <a:ext cx="12940389" cy="48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Monitor SO · gráficas en tiempo real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5149398" y="6584452"/>
            <a:ext cx="1959007" cy="478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2 min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960872" y="7233980"/>
            <a:ext cx="754971" cy="549069"/>
            <a:chOff x="0" y="0"/>
            <a:chExt cx="1006627" cy="732092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006602" cy="732155"/>
            </a:xfrm>
            <a:custGeom>
              <a:avLst/>
              <a:gdLst/>
              <a:ahLst/>
              <a:cxnLst/>
              <a:rect r="r" b="b" t="t" l="l"/>
              <a:pathLst>
                <a:path h="732155" w="1006602">
                  <a:moveTo>
                    <a:pt x="0" y="122047"/>
                  </a:moveTo>
                  <a:cubicBezTo>
                    <a:pt x="0" y="54610"/>
                    <a:pt x="54610" y="0"/>
                    <a:pt x="122047" y="0"/>
                  </a:cubicBezTo>
                  <a:lnTo>
                    <a:pt x="884555" y="0"/>
                  </a:lnTo>
                  <a:cubicBezTo>
                    <a:pt x="951992" y="0"/>
                    <a:pt x="1006602" y="54610"/>
                    <a:pt x="1006602" y="122047"/>
                  </a:cubicBezTo>
                  <a:lnTo>
                    <a:pt x="1006602" y="610108"/>
                  </a:lnTo>
                  <a:cubicBezTo>
                    <a:pt x="1006602" y="677545"/>
                    <a:pt x="951992" y="732155"/>
                    <a:pt x="884555" y="732155"/>
                  </a:cubicBezTo>
                  <a:lnTo>
                    <a:pt x="122047" y="732155"/>
                  </a:lnTo>
                  <a:cubicBezTo>
                    <a:pt x="54610" y="732155"/>
                    <a:pt x="0" y="677418"/>
                    <a:pt x="0" y="610108"/>
                  </a:cubicBezTo>
                  <a:close/>
                </a:path>
              </a:pathLst>
            </a:custGeom>
            <a:solidFill>
              <a:srgbClr val="8B5CF6"/>
            </a:solid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28575"/>
              <a:ext cx="1006627" cy="7606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08</a:t>
              </a:r>
            </a:p>
          </p:txBody>
        </p:sp>
      </p:grpSp>
      <p:sp>
        <p:nvSpPr>
          <p:cNvPr name="TextBox 43" id="43"/>
          <p:cNvSpPr txBox="true"/>
          <p:nvPr/>
        </p:nvSpPr>
        <p:spPr>
          <a:xfrm rot="0">
            <a:off x="2040379" y="7274995"/>
            <a:ext cx="12940389" cy="48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SSH · docker ps · 5 hilos · /proc/stat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5149398" y="7284520"/>
            <a:ext cx="1959007" cy="478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3 min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960872" y="7934049"/>
            <a:ext cx="754971" cy="549069"/>
            <a:chOff x="0" y="0"/>
            <a:chExt cx="1006627" cy="732092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006602" cy="732155"/>
            </a:xfrm>
            <a:custGeom>
              <a:avLst/>
              <a:gdLst/>
              <a:ahLst/>
              <a:cxnLst/>
              <a:rect r="r" b="b" t="t" l="l"/>
              <a:pathLst>
                <a:path h="732155" w="1006602">
                  <a:moveTo>
                    <a:pt x="0" y="122047"/>
                  </a:moveTo>
                  <a:cubicBezTo>
                    <a:pt x="0" y="54610"/>
                    <a:pt x="54610" y="0"/>
                    <a:pt x="122047" y="0"/>
                  </a:cubicBezTo>
                  <a:lnTo>
                    <a:pt x="884555" y="0"/>
                  </a:lnTo>
                  <a:cubicBezTo>
                    <a:pt x="951992" y="0"/>
                    <a:pt x="1006602" y="54610"/>
                    <a:pt x="1006602" y="122047"/>
                  </a:cubicBezTo>
                  <a:lnTo>
                    <a:pt x="1006602" y="610108"/>
                  </a:lnTo>
                  <a:cubicBezTo>
                    <a:pt x="1006602" y="677545"/>
                    <a:pt x="951992" y="732155"/>
                    <a:pt x="884555" y="732155"/>
                  </a:cubicBezTo>
                  <a:lnTo>
                    <a:pt x="122047" y="732155"/>
                  </a:lnTo>
                  <a:cubicBezTo>
                    <a:pt x="54610" y="732155"/>
                    <a:pt x="0" y="677418"/>
                    <a:pt x="0" y="610108"/>
                  </a:cubicBezTo>
                  <a:close/>
                </a:path>
              </a:pathLst>
            </a:custGeom>
            <a:solidFill>
              <a:srgbClr val="F59E0B"/>
            </a:solid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28575"/>
              <a:ext cx="1006627" cy="7606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09</a:t>
              </a:r>
            </a:p>
          </p:txBody>
        </p:sp>
      </p:grpSp>
      <p:sp>
        <p:nvSpPr>
          <p:cNvPr name="TextBox 48" id="48"/>
          <p:cNvSpPr txBox="true"/>
          <p:nvPr/>
        </p:nvSpPr>
        <p:spPr>
          <a:xfrm rot="0">
            <a:off x="2040379" y="7975054"/>
            <a:ext cx="12940389" cy="48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Stress CPU · monitor reacciona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5149398" y="7984579"/>
            <a:ext cx="1959007" cy="478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2 min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960872" y="8634108"/>
            <a:ext cx="754971" cy="549069"/>
            <a:chOff x="0" y="0"/>
            <a:chExt cx="1006627" cy="732092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06602" cy="732155"/>
            </a:xfrm>
            <a:custGeom>
              <a:avLst/>
              <a:gdLst/>
              <a:ahLst/>
              <a:cxnLst/>
              <a:rect r="r" b="b" t="t" l="l"/>
              <a:pathLst>
                <a:path h="732155" w="1006602">
                  <a:moveTo>
                    <a:pt x="0" y="122047"/>
                  </a:moveTo>
                  <a:cubicBezTo>
                    <a:pt x="0" y="54610"/>
                    <a:pt x="54610" y="0"/>
                    <a:pt x="122047" y="0"/>
                  </a:cubicBezTo>
                  <a:lnTo>
                    <a:pt x="884555" y="0"/>
                  </a:lnTo>
                  <a:cubicBezTo>
                    <a:pt x="951992" y="0"/>
                    <a:pt x="1006602" y="54610"/>
                    <a:pt x="1006602" y="122047"/>
                  </a:cubicBezTo>
                  <a:lnTo>
                    <a:pt x="1006602" y="610108"/>
                  </a:lnTo>
                  <a:cubicBezTo>
                    <a:pt x="1006602" y="677545"/>
                    <a:pt x="951992" y="732155"/>
                    <a:pt x="884555" y="732155"/>
                  </a:cubicBezTo>
                  <a:lnTo>
                    <a:pt x="122047" y="732155"/>
                  </a:lnTo>
                  <a:cubicBezTo>
                    <a:pt x="54610" y="732155"/>
                    <a:pt x="0" y="677418"/>
                    <a:pt x="0" y="610108"/>
                  </a:cubicBezTo>
                  <a:close/>
                </a:path>
              </a:pathLst>
            </a:custGeom>
            <a:solidFill>
              <a:srgbClr val="EC4899"/>
            </a:solid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28575"/>
              <a:ext cx="1006627" cy="7606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10</a:t>
              </a:r>
            </a:p>
          </p:txBody>
        </p:sp>
      </p:grpSp>
      <p:sp>
        <p:nvSpPr>
          <p:cNvPr name="TextBox 53" id="53"/>
          <p:cNvSpPr txBox="true"/>
          <p:nvPr/>
        </p:nvSpPr>
        <p:spPr>
          <a:xfrm rot="0">
            <a:off x="2040379" y="8675122"/>
            <a:ext cx="12940389" cy="48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Recorrido del repo GitHub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15149398" y="8684647"/>
            <a:ext cx="1959007" cy="478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2 min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16/18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592036"/>
            <a:ext cx="16372065" cy="897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Conclusiones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51338" y="2324014"/>
            <a:ext cx="16491137" cy="1185834"/>
            <a:chOff x="0" y="0"/>
            <a:chExt cx="21988183" cy="158111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88145" cy="1581150"/>
            </a:xfrm>
            <a:custGeom>
              <a:avLst/>
              <a:gdLst/>
              <a:ahLst/>
              <a:cxnLst/>
              <a:rect r="r" b="b" t="t" l="l"/>
              <a:pathLst>
                <a:path h="1581150" w="21988145">
                  <a:moveTo>
                    <a:pt x="0" y="263525"/>
                  </a:moveTo>
                  <a:cubicBezTo>
                    <a:pt x="0" y="117983"/>
                    <a:pt x="117983" y="0"/>
                    <a:pt x="263525" y="0"/>
                  </a:cubicBezTo>
                  <a:lnTo>
                    <a:pt x="21724620" y="0"/>
                  </a:lnTo>
                  <a:cubicBezTo>
                    <a:pt x="21870161" y="0"/>
                    <a:pt x="21988145" y="117983"/>
                    <a:pt x="21988145" y="263525"/>
                  </a:cubicBezTo>
                  <a:lnTo>
                    <a:pt x="21988145" y="1317625"/>
                  </a:lnTo>
                  <a:cubicBezTo>
                    <a:pt x="21988145" y="1463167"/>
                    <a:pt x="21870161" y="1581150"/>
                    <a:pt x="21724620" y="1581150"/>
                  </a:cubicBezTo>
                  <a:lnTo>
                    <a:pt x="263525" y="1581150"/>
                  </a:lnTo>
                  <a:cubicBezTo>
                    <a:pt x="117983" y="1581150"/>
                    <a:pt x="0" y="1463167"/>
                    <a:pt x="0" y="131762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166774" y="2608078"/>
            <a:ext cx="686333" cy="617706"/>
            <a:chOff x="0" y="0"/>
            <a:chExt cx="915111" cy="82360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915162" cy="823595"/>
            </a:xfrm>
            <a:custGeom>
              <a:avLst/>
              <a:gdLst/>
              <a:ahLst/>
              <a:cxnLst/>
              <a:rect r="r" b="b" t="t" l="l"/>
              <a:pathLst>
                <a:path h="823595" w="915162">
                  <a:moveTo>
                    <a:pt x="0" y="137287"/>
                  </a:moveTo>
                  <a:cubicBezTo>
                    <a:pt x="0" y="61468"/>
                    <a:pt x="61468" y="0"/>
                    <a:pt x="137287" y="0"/>
                  </a:cubicBezTo>
                  <a:lnTo>
                    <a:pt x="777875" y="0"/>
                  </a:lnTo>
                  <a:cubicBezTo>
                    <a:pt x="853694" y="0"/>
                    <a:pt x="915162" y="61468"/>
                    <a:pt x="915162" y="137287"/>
                  </a:cubicBezTo>
                  <a:lnTo>
                    <a:pt x="915162" y="686308"/>
                  </a:lnTo>
                  <a:cubicBezTo>
                    <a:pt x="915162" y="762127"/>
                    <a:pt x="853694" y="823595"/>
                    <a:pt x="777875" y="823595"/>
                  </a:cubicBezTo>
                  <a:lnTo>
                    <a:pt x="137287" y="823595"/>
                  </a:lnTo>
                  <a:cubicBezTo>
                    <a:pt x="61468" y="823595"/>
                    <a:pt x="0" y="762127"/>
                    <a:pt x="0" y="686308"/>
                  </a:cubicBezTo>
                  <a:close/>
                </a:path>
              </a:pathLst>
            </a:custGeom>
            <a:solidFill>
              <a:srgbClr val="3B82F6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915111" cy="8521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2109006" y="2511819"/>
            <a:ext cx="14587595" cy="899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Conceptos del curso materializados en código verificable: 5 hilos POSIX, mutex, /proc, syscall statvfs().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951338" y="3765318"/>
            <a:ext cx="16491137" cy="1185834"/>
            <a:chOff x="0" y="0"/>
            <a:chExt cx="21988183" cy="158111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88145" cy="1581150"/>
            </a:xfrm>
            <a:custGeom>
              <a:avLst/>
              <a:gdLst/>
              <a:ahLst/>
              <a:cxnLst/>
              <a:rect r="r" b="b" t="t" l="l"/>
              <a:pathLst>
                <a:path h="1581150" w="21988145">
                  <a:moveTo>
                    <a:pt x="0" y="263525"/>
                  </a:moveTo>
                  <a:cubicBezTo>
                    <a:pt x="0" y="117983"/>
                    <a:pt x="117983" y="0"/>
                    <a:pt x="263525" y="0"/>
                  </a:cubicBezTo>
                  <a:lnTo>
                    <a:pt x="21724620" y="0"/>
                  </a:lnTo>
                  <a:cubicBezTo>
                    <a:pt x="21870161" y="0"/>
                    <a:pt x="21988145" y="117983"/>
                    <a:pt x="21988145" y="263525"/>
                  </a:cubicBezTo>
                  <a:lnTo>
                    <a:pt x="21988145" y="1317625"/>
                  </a:lnTo>
                  <a:cubicBezTo>
                    <a:pt x="21988145" y="1463167"/>
                    <a:pt x="21870161" y="1581150"/>
                    <a:pt x="21724620" y="1581150"/>
                  </a:cubicBezTo>
                  <a:lnTo>
                    <a:pt x="263525" y="1581150"/>
                  </a:lnTo>
                  <a:cubicBezTo>
                    <a:pt x="117983" y="1581150"/>
                    <a:pt x="0" y="1463167"/>
                    <a:pt x="0" y="131762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1166774" y="4049382"/>
            <a:ext cx="686333" cy="617706"/>
            <a:chOff x="0" y="0"/>
            <a:chExt cx="915111" cy="82360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915162" cy="823595"/>
            </a:xfrm>
            <a:custGeom>
              <a:avLst/>
              <a:gdLst/>
              <a:ahLst/>
              <a:cxnLst/>
              <a:rect r="r" b="b" t="t" l="l"/>
              <a:pathLst>
                <a:path h="823595" w="915162">
                  <a:moveTo>
                    <a:pt x="0" y="137287"/>
                  </a:moveTo>
                  <a:cubicBezTo>
                    <a:pt x="0" y="61468"/>
                    <a:pt x="61468" y="0"/>
                    <a:pt x="137287" y="0"/>
                  </a:cubicBezTo>
                  <a:lnTo>
                    <a:pt x="777875" y="0"/>
                  </a:lnTo>
                  <a:cubicBezTo>
                    <a:pt x="853694" y="0"/>
                    <a:pt x="915162" y="61468"/>
                    <a:pt x="915162" y="137287"/>
                  </a:cubicBezTo>
                  <a:lnTo>
                    <a:pt x="915162" y="686308"/>
                  </a:lnTo>
                  <a:cubicBezTo>
                    <a:pt x="915162" y="762127"/>
                    <a:pt x="853694" y="823595"/>
                    <a:pt x="777875" y="823595"/>
                  </a:cubicBezTo>
                  <a:lnTo>
                    <a:pt x="137287" y="823595"/>
                  </a:lnTo>
                  <a:cubicBezTo>
                    <a:pt x="61468" y="823595"/>
                    <a:pt x="0" y="762127"/>
                    <a:pt x="0" y="686308"/>
                  </a:cubicBezTo>
                  <a:close/>
                </a:path>
              </a:pathLst>
            </a:custGeom>
            <a:solidFill>
              <a:srgbClr val="3B82F6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28575"/>
              <a:ext cx="915111" cy="8521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2109006" y="3953123"/>
            <a:ext cx="14587595" cy="899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Arquitectura de 3 capas desplegable con un solo comando docker compose up — portable a cualquier servidor.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51338" y="5206622"/>
            <a:ext cx="16491137" cy="1185834"/>
            <a:chOff x="0" y="0"/>
            <a:chExt cx="21988183" cy="158111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88145" cy="1581150"/>
            </a:xfrm>
            <a:custGeom>
              <a:avLst/>
              <a:gdLst/>
              <a:ahLst/>
              <a:cxnLst/>
              <a:rect r="r" b="b" t="t" l="l"/>
              <a:pathLst>
                <a:path h="1581150" w="21988145">
                  <a:moveTo>
                    <a:pt x="0" y="263525"/>
                  </a:moveTo>
                  <a:cubicBezTo>
                    <a:pt x="0" y="117983"/>
                    <a:pt x="117983" y="0"/>
                    <a:pt x="263525" y="0"/>
                  </a:cubicBezTo>
                  <a:lnTo>
                    <a:pt x="21724620" y="0"/>
                  </a:lnTo>
                  <a:cubicBezTo>
                    <a:pt x="21870161" y="0"/>
                    <a:pt x="21988145" y="117983"/>
                    <a:pt x="21988145" y="263525"/>
                  </a:cubicBezTo>
                  <a:lnTo>
                    <a:pt x="21988145" y="1317625"/>
                  </a:lnTo>
                  <a:cubicBezTo>
                    <a:pt x="21988145" y="1463167"/>
                    <a:pt x="21870161" y="1581150"/>
                    <a:pt x="21724620" y="1581150"/>
                  </a:cubicBezTo>
                  <a:lnTo>
                    <a:pt x="263525" y="1581150"/>
                  </a:lnTo>
                  <a:cubicBezTo>
                    <a:pt x="117983" y="1581150"/>
                    <a:pt x="0" y="1463167"/>
                    <a:pt x="0" y="131762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1166774" y="5490686"/>
            <a:ext cx="686333" cy="617706"/>
            <a:chOff x="0" y="0"/>
            <a:chExt cx="915111" cy="823608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915162" cy="823595"/>
            </a:xfrm>
            <a:custGeom>
              <a:avLst/>
              <a:gdLst/>
              <a:ahLst/>
              <a:cxnLst/>
              <a:rect r="r" b="b" t="t" l="l"/>
              <a:pathLst>
                <a:path h="823595" w="915162">
                  <a:moveTo>
                    <a:pt x="0" y="137287"/>
                  </a:moveTo>
                  <a:cubicBezTo>
                    <a:pt x="0" y="61468"/>
                    <a:pt x="61468" y="0"/>
                    <a:pt x="137287" y="0"/>
                  </a:cubicBezTo>
                  <a:lnTo>
                    <a:pt x="777875" y="0"/>
                  </a:lnTo>
                  <a:cubicBezTo>
                    <a:pt x="853694" y="0"/>
                    <a:pt x="915162" y="61468"/>
                    <a:pt x="915162" y="137287"/>
                  </a:cubicBezTo>
                  <a:lnTo>
                    <a:pt x="915162" y="686308"/>
                  </a:lnTo>
                  <a:cubicBezTo>
                    <a:pt x="915162" y="762127"/>
                    <a:pt x="853694" y="823595"/>
                    <a:pt x="777875" y="823595"/>
                  </a:cubicBezTo>
                  <a:lnTo>
                    <a:pt x="137287" y="823595"/>
                  </a:lnTo>
                  <a:cubicBezTo>
                    <a:pt x="61468" y="823595"/>
                    <a:pt x="0" y="762127"/>
                    <a:pt x="0" y="686308"/>
                  </a:cubicBezTo>
                  <a:close/>
                </a:path>
              </a:pathLst>
            </a:custGeom>
            <a:solidFill>
              <a:srgbClr val="3B82F6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28575"/>
              <a:ext cx="915111" cy="8521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2109006" y="5394427"/>
            <a:ext cx="14587595" cy="899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Seguridad incorporada desde el diseño: bcrypt, PDO, sesiones HttpOnly, transacciones, UFW firewall.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951338" y="6647926"/>
            <a:ext cx="16491137" cy="1185834"/>
            <a:chOff x="0" y="0"/>
            <a:chExt cx="21988183" cy="158111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988145" cy="1581150"/>
            </a:xfrm>
            <a:custGeom>
              <a:avLst/>
              <a:gdLst/>
              <a:ahLst/>
              <a:cxnLst/>
              <a:rect r="r" b="b" t="t" l="l"/>
              <a:pathLst>
                <a:path h="1581150" w="21988145">
                  <a:moveTo>
                    <a:pt x="0" y="263525"/>
                  </a:moveTo>
                  <a:cubicBezTo>
                    <a:pt x="0" y="117983"/>
                    <a:pt x="117983" y="0"/>
                    <a:pt x="263525" y="0"/>
                  </a:cubicBezTo>
                  <a:lnTo>
                    <a:pt x="21724620" y="0"/>
                  </a:lnTo>
                  <a:cubicBezTo>
                    <a:pt x="21870161" y="0"/>
                    <a:pt x="21988145" y="117983"/>
                    <a:pt x="21988145" y="263525"/>
                  </a:cubicBezTo>
                  <a:lnTo>
                    <a:pt x="21988145" y="1317625"/>
                  </a:lnTo>
                  <a:cubicBezTo>
                    <a:pt x="21988145" y="1463167"/>
                    <a:pt x="21870161" y="1581150"/>
                    <a:pt x="21724620" y="1581150"/>
                  </a:cubicBezTo>
                  <a:lnTo>
                    <a:pt x="263525" y="1581150"/>
                  </a:lnTo>
                  <a:cubicBezTo>
                    <a:pt x="117983" y="1581150"/>
                    <a:pt x="0" y="1463167"/>
                    <a:pt x="0" y="131762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1166774" y="6932000"/>
            <a:ext cx="686333" cy="617706"/>
            <a:chOff x="0" y="0"/>
            <a:chExt cx="915111" cy="823608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915162" cy="823595"/>
            </a:xfrm>
            <a:custGeom>
              <a:avLst/>
              <a:gdLst/>
              <a:ahLst/>
              <a:cxnLst/>
              <a:rect r="r" b="b" t="t" l="l"/>
              <a:pathLst>
                <a:path h="823595" w="915162">
                  <a:moveTo>
                    <a:pt x="0" y="137287"/>
                  </a:moveTo>
                  <a:cubicBezTo>
                    <a:pt x="0" y="61468"/>
                    <a:pt x="61468" y="0"/>
                    <a:pt x="137287" y="0"/>
                  </a:cubicBezTo>
                  <a:lnTo>
                    <a:pt x="777875" y="0"/>
                  </a:lnTo>
                  <a:cubicBezTo>
                    <a:pt x="853694" y="0"/>
                    <a:pt x="915162" y="61468"/>
                    <a:pt x="915162" y="137287"/>
                  </a:cubicBezTo>
                  <a:lnTo>
                    <a:pt x="915162" y="686308"/>
                  </a:lnTo>
                  <a:cubicBezTo>
                    <a:pt x="915162" y="762127"/>
                    <a:pt x="853694" y="823595"/>
                    <a:pt x="777875" y="823595"/>
                  </a:cubicBezTo>
                  <a:lnTo>
                    <a:pt x="137287" y="823595"/>
                  </a:lnTo>
                  <a:cubicBezTo>
                    <a:pt x="61468" y="823595"/>
                    <a:pt x="0" y="762127"/>
                    <a:pt x="0" y="686308"/>
                  </a:cubicBezTo>
                  <a:close/>
                </a:path>
              </a:pathLst>
            </a:custGeom>
            <a:solidFill>
              <a:srgbClr val="3B82F6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28575"/>
              <a:ext cx="915111" cy="8521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2109006" y="6835740"/>
            <a:ext cx="14587595" cy="899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Social commerce completo agregado sin romper funcionalidades previas, cumpliendo la rúbrica actualizada.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951338" y="8089230"/>
            <a:ext cx="16491137" cy="1185834"/>
            <a:chOff x="0" y="0"/>
            <a:chExt cx="21988183" cy="1581112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1988145" cy="1581150"/>
            </a:xfrm>
            <a:custGeom>
              <a:avLst/>
              <a:gdLst/>
              <a:ahLst/>
              <a:cxnLst/>
              <a:rect r="r" b="b" t="t" l="l"/>
              <a:pathLst>
                <a:path h="1581150" w="21988145">
                  <a:moveTo>
                    <a:pt x="0" y="263525"/>
                  </a:moveTo>
                  <a:cubicBezTo>
                    <a:pt x="0" y="117983"/>
                    <a:pt x="117983" y="0"/>
                    <a:pt x="263525" y="0"/>
                  </a:cubicBezTo>
                  <a:lnTo>
                    <a:pt x="21724620" y="0"/>
                  </a:lnTo>
                  <a:cubicBezTo>
                    <a:pt x="21870161" y="0"/>
                    <a:pt x="21988145" y="117983"/>
                    <a:pt x="21988145" y="263525"/>
                  </a:cubicBezTo>
                  <a:lnTo>
                    <a:pt x="21988145" y="1317625"/>
                  </a:lnTo>
                  <a:cubicBezTo>
                    <a:pt x="21988145" y="1463167"/>
                    <a:pt x="21870161" y="1581150"/>
                    <a:pt x="21724620" y="1581150"/>
                  </a:cubicBezTo>
                  <a:lnTo>
                    <a:pt x="263525" y="1581150"/>
                  </a:lnTo>
                  <a:cubicBezTo>
                    <a:pt x="117983" y="1581150"/>
                    <a:pt x="0" y="1463167"/>
                    <a:pt x="0" y="131762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1166774" y="8373304"/>
            <a:ext cx="686333" cy="617706"/>
            <a:chOff x="0" y="0"/>
            <a:chExt cx="915111" cy="823608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915162" cy="823595"/>
            </a:xfrm>
            <a:custGeom>
              <a:avLst/>
              <a:gdLst/>
              <a:ahLst/>
              <a:cxnLst/>
              <a:rect r="r" b="b" t="t" l="l"/>
              <a:pathLst>
                <a:path h="823595" w="915162">
                  <a:moveTo>
                    <a:pt x="0" y="137287"/>
                  </a:moveTo>
                  <a:cubicBezTo>
                    <a:pt x="0" y="61468"/>
                    <a:pt x="61468" y="0"/>
                    <a:pt x="137287" y="0"/>
                  </a:cubicBezTo>
                  <a:lnTo>
                    <a:pt x="777875" y="0"/>
                  </a:lnTo>
                  <a:cubicBezTo>
                    <a:pt x="853694" y="0"/>
                    <a:pt x="915162" y="61468"/>
                    <a:pt x="915162" y="137287"/>
                  </a:cubicBezTo>
                  <a:lnTo>
                    <a:pt x="915162" y="686308"/>
                  </a:lnTo>
                  <a:cubicBezTo>
                    <a:pt x="915162" y="762127"/>
                    <a:pt x="853694" y="823595"/>
                    <a:pt x="777875" y="823595"/>
                  </a:cubicBezTo>
                  <a:lnTo>
                    <a:pt x="137287" y="823595"/>
                  </a:lnTo>
                  <a:cubicBezTo>
                    <a:pt x="61468" y="823595"/>
                    <a:pt x="0" y="762127"/>
                    <a:pt x="0" y="686308"/>
                  </a:cubicBezTo>
                  <a:close/>
                </a:path>
              </a:pathLst>
            </a:custGeom>
            <a:solidFill>
              <a:srgbClr val="3B82F6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28575"/>
              <a:ext cx="915111" cy="8521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sp>
        <p:nvSpPr>
          <p:cNvPr name="TextBox 34" id="34"/>
          <p:cNvSpPr txBox="true"/>
          <p:nvPr/>
        </p:nvSpPr>
        <p:spPr>
          <a:xfrm rot="0">
            <a:off x="2109006" y="8277044"/>
            <a:ext cx="14587595" cy="899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Sistema en producción en AWS EC2 con repositorio público GitHub: deploy real, no solo prototipo académico.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17/18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97725" cy="205902"/>
            <a:chOff x="0" y="0"/>
            <a:chExt cx="24396967" cy="2745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96954" cy="274574"/>
            </a:xfrm>
            <a:custGeom>
              <a:avLst/>
              <a:gdLst/>
              <a:ahLst/>
              <a:cxnLst/>
              <a:rect r="r" b="b" t="t" l="l"/>
              <a:pathLst>
                <a:path h="274574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274574"/>
                  </a:lnTo>
                  <a:lnTo>
                    <a:pt x="0" y="274574"/>
                  </a:lnTo>
                  <a:close/>
                </a:path>
              </a:pathLst>
            </a:custGeom>
            <a:solidFill>
              <a:srgbClr val="3B82F6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10869" y="2479596"/>
            <a:ext cx="16372065" cy="2304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293"/>
              </a:lnSpc>
            </a:pPr>
            <a:r>
              <a:rPr lang="en-US" sz="14411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Gracias.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10869" y="5032210"/>
            <a:ext cx="16372065" cy="850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3"/>
              </a:lnSpc>
            </a:pPr>
            <a:r>
              <a:rPr lang="en-US" sz="3602" i="true">
                <a:solidFill>
                  <a:srgbClr val="8B5CF6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Preguntas y respuestas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4794818" y="6853828"/>
            <a:ext cx="8666902" cy="2078069"/>
            <a:chOff x="0" y="0"/>
            <a:chExt cx="11555870" cy="277075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555857" cy="2770759"/>
            </a:xfrm>
            <a:custGeom>
              <a:avLst/>
              <a:gdLst/>
              <a:ahLst/>
              <a:cxnLst/>
              <a:rect r="r" b="b" t="t" l="l"/>
              <a:pathLst>
                <a:path h="2770759" w="11555857">
                  <a:moveTo>
                    <a:pt x="0" y="461772"/>
                  </a:moveTo>
                  <a:cubicBezTo>
                    <a:pt x="0" y="206756"/>
                    <a:pt x="206756" y="0"/>
                    <a:pt x="461772" y="0"/>
                  </a:cubicBezTo>
                  <a:lnTo>
                    <a:pt x="11094085" y="0"/>
                  </a:lnTo>
                  <a:cubicBezTo>
                    <a:pt x="11349101" y="0"/>
                    <a:pt x="11555857" y="206756"/>
                    <a:pt x="11555857" y="461772"/>
                  </a:cubicBezTo>
                  <a:lnTo>
                    <a:pt x="11555857" y="2308987"/>
                  </a:lnTo>
                  <a:cubicBezTo>
                    <a:pt x="11555857" y="2564003"/>
                    <a:pt x="11349101" y="2770759"/>
                    <a:pt x="11094085" y="2770759"/>
                  </a:cubicBezTo>
                  <a:lnTo>
                    <a:pt x="461772" y="2770759"/>
                  </a:lnTo>
                  <a:cubicBezTo>
                    <a:pt x="206756" y="2770759"/>
                    <a:pt x="0" y="2564003"/>
                    <a:pt x="0" y="2308987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10" id="10"/>
          <p:cNvSpPr txBox="true"/>
          <p:nvPr/>
        </p:nvSpPr>
        <p:spPr>
          <a:xfrm rot="0">
            <a:off x="5128889" y="7041642"/>
            <a:ext cx="8136036" cy="5566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1"/>
              </a:lnSpc>
            </a:pPr>
            <a:r>
              <a:rPr lang="en-US" sz="1951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Grupo 01 · Sistemas Operativos USIL 2026-I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128889" y="7600236"/>
            <a:ext cx="8136036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Fabian Roncal · Luz Rios 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128889" y="8158829"/>
            <a:ext cx="8136036" cy="537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github.com/Hreon/S.O-SYS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DAHNbGDATac</dc:identifier>
  <dcterms:modified xsi:type="dcterms:W3CDTF">2011-08-01T06:04:30Z</dcterms:modified>
  <cp:revision>1</cp:revision>
  <dc:title>Presentacion_SysMarket_Final.pptx</dc:title>
</cp:coreProperties>
</file>